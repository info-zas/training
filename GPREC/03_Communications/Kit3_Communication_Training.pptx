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</p:sldMasterIdLst>
  <p:notesMasterIdLst>
    <p:notesMasterId r:id="rId18"/>
  </p:notesMasterIdLst>
  <p:sldIdLst>
    <p:sldId id="256" r:id="rId3"/>
    <p:sldId id="274" r:id="rId4"/>
    <p:sldId id="258" r:id="rId5"/>
    <p:sldId id="259" r:id="rId6"/>
    <p:sldId id="260" r:id="rId7"/>
    <p:sldId id="261" r:id="rId8"/>
    <p:sldId id="266" r:id="rId9"/>
    <p:sldId id="267" r:id="rId10"/>
    <p:sldId id="264" r:id="rId11"/>
    <p:sldId id="270" r:id="rId12"/>
    <p:sldId id="265" r:id="rId13"/>
    <p:sldId id="272" r:id="rId14"/>
    <p:sldId id="273" r:id="rId15"/>
    <p:sldId id="275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39" autoAdjust="0"/>
    <p:restoredTop sz="94660"/>
  </p:normalViewPr>
  <p:slideViewPr>
    <p:cSldViewPr snapToGrid="0">
      <p:cViewPr varScale="1">
        <p:scale>
          <a:sx n="78" d="100"/>
          <a:sy n="78" d="100"/>
        </p:scale>
        <p:origin x="566" y="6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921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381376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169730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883708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422173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8634295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5162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68500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56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9962B-3B3C-CD16-CF97-8806D4E439CB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8A3-1B99-A909-128A-520840DB239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24573" name="Slide Image Placeholder 1">
            <a:extLst>
              <a:ext uri="{FF2B5EF4-FFF2-40B4-BE49-F238E27FC236}">
                <a16:creationId xmlns:a16="http://schemas.microsoft.com/office/drawing/2014/main" id="{8134BCAB-2292-C2C4-4092-EEDB81A7A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63766237" name="Notes Placeholder 2">
            <a:extLst>
              <a:ext uri="{FF2B5EF4-FFF2-40B4-BE49-F238E27FC236}">
                <a16:creationId xmlns:a16="http://schemas.microsoft.com/office/drawing/2014/main" id="{70596152-6CB0-BD56-3713-40DE6A56B3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549852" name="Slide Number Placeholder 3">
            <a:extLst>
              <a:ext uri="{FF2B5EF4-FFF2-40B4-BE49-F238E27FC236}">
                <a16:creationId xmlns:a16="http://schemas.microsoft.com/office/drawing/2014/main" id="{BB4EEF11-9484-2CFB-25DA-6E0C628E99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35F144-4477-3278-DD0A-BB5203ABE0DE}" type="slidenum">
              <a:rPr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0540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245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63766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549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35F144-4477-3278-DD0A-BB5203ABE0D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2625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2841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59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9FF2E9-488C-C2DD-99BD-96FB86CF33E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744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252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176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9EA87D-8652-58FE-0A40-1D9E139BF096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692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8377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723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43549-86FA-21F8-7545-CE95EB9FB88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420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4930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209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6CE3B-E040-A2AB-A655-6D2329D8DBEC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695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505111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899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949ECF-86E5-C7AB-DDE3-C0E50DBC9EB8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99130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306147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0237647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765390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74022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617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82655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289017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1090269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356398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1227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44779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23159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119712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74130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13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715083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221757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733771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437968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376039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96795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952125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69175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857039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95662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0601773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785624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133494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646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073343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7595210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5400708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1503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55561468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104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81564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301039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637068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84125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8464757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637165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5208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555716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8539654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441692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9831359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46039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90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16320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881562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9048886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6306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9433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036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11024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646070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618194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585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108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823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81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2867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6103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0029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43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47997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0248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911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59566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84670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71372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74913095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62376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06/12/2025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085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Training/tree/main/GPREC/03_Communications/01_Code/04_Comm_Kit_NRF24L01_Receiver_Encoder_Value" TargetMode="External"/><Relationship Id="rId4" Type="http://schemas.openxmlformats.org/officeDocument/2006/relationships/hyperlink" Target="https://github.com/info-zas/Training/tree/main/GPREC/03_Communications/01_Code/03_Comm_Kit_NRF24L01_Transmitter_Encoder_Valu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F1A944F-CAE8-9AF8-CAB1-383B796A87C2}"/>
              </a:ext>
            </a:extLst>
          </p:cNvPr>
          <p:cNvSpPr txBox="1">
            <a:spLocks/>
          </p:cNvSpPr>
          <p:nvPr/>
        </p:nvSpPr>
        <p:spPr bwMode="auto">
          <a:xfrm>
            <a:off x="1651820" y="1753420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rgbClr val="FF3300"/>
                </a:solidFill>
              </a:rPr>
              <a:t> Communication Kit (Kit 3)</a:t>
            </a:r>
            <a:br>
              <a:rPr lang="en-GB" b="1" dirty="0">
                <a:solidFill>
                  <a:srgbClr val="FF3300"/>
                </a:solidFill>
              </a:rPr>
            </a:br>
            <a:r>
              <a:rPr lang="en-GB" b="1" dirty="0">
                <a:solidFill>
                  <a:srgbClr val="0070C0"/>
                </a:solidFill>
              </a:rPr>
              <a:t>ZAS Robotics Training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96C254-F13C-3F88-4947-8838540A2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A6604-B7F8-BB38-24E9-A6E435F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ED307E-FFB1-1C3E-AB42-B526E18AB8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960718" y="226346"/>
            <a:ext cx="4042963" cy="10897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AE7E8A0-0A74-488D-D6EC-133D1507069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50354" name="Title 1">
            <a:extLst>
              <a:ext uri="{FF2B5EF4-FFF2-40B4-BE49-F238E27FC236}">
                <a16:creationId xmlns:a16="http://schemas.microsoft.com/office/drawing/2014/main" id="{8AADDC88-FCBD-757A-3440-2EEB8A54FEC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09882" y="95922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 Training - Objectives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6E0F68-D3B4-B1FD-7A5B-DAAA24FED366}"/>
              </a:ext>
            </a:extLst>
          </p:cNvPr>
          <p:cNvSpPr txBox="1"/>
          <p:nvPr/>
        </p:nvSpPr>
        <p:spPr>
          <a:xfrm>
            <a:off x="142875" y="1000535"/>
            <a:ext cx="119062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Communication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C1 - RFID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C2 – Wireless Communication between Tx and R</a:t>
            </a:r>
            <a:r>
              <a:rPr lang="en-GB" sz="2000" kern="1200" dirty="0">
                <a:solidFill>
                  <a:schemeClr val="accent3">
                    <a:lumMod val="50000"/>
                    <a:lumOff val="50000"/>
                  </a:schemeClr>
                </a:solidFill>
                <a:latin typeface="Aptos" panose="02110004020202020204"/>
              </a:rPr>
              <a:t>x Using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NRF24L01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SD Card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module usage and practice memory card insertion/removal/formatting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 of the Creative Board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9B5617-3226-4D0E-C22D-A19ABF263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3184F-7710-788E-51EB-5108DA549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540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50354" name="Title 1"/>
          <p:cNvSpPr>
            <a:spLocks noGrp="1"/>
          </p:cNvSpPr>
          <p:nvPr>
            <p:ph type="title"/>
          </p:nvPr>
        </p:nvSpPr>
        <p:spPr bwMode="auto"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Kit - Contents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5207472" name="TextBox 20"/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  <p:sp>
        <p:nvSpPr>
          <p:cNvPr id="1915249791" name="TextBox 45"/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pic>
        <p:nvPicPr>
          <p:cNvPr id="2032215715" name="Picture 203221571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845384-6C17-0B8F-F564-E3BBE0A332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04FC37-B944-4F46-23B1-E28AA7579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A58770-C97F-A1C6-EC74-3B621C87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273495" name="Title 1"/>
          <p:cNvSpPr>
            <a:spLocks noGrp="1"/>
          </p:cNvSpPr>
          <p:nvPr>
            <p:ph type="title"/>
          </p:nvPr>
        </p:nvSpPr>
        <p:spPr bwMode="auto">
          <a:xfrm>
            <a:off x="838200" y="54353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Creative Board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71918876" name="TextBox 2"/>
          <p:cNvSpPr txBox="1"/>
          <p:nvPr/>
        </p:nvSpPr>
        <p:spPr bwMode="auto">
          <a:xfrm>
            <a:off x="1445340" y="6140865"/>
            <a:ext cx="445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Bare Board</a:t>
            </a:r>
            <a:endParaRPr dirty="0"/>
          </a:p>
        </p:txBody>
      </p:sp>
      <p:sp>
        <p:nvSpPr>
          <p:cNvPr id="402039559" name="TextBox 3"/>
          <p:cNvSpPr txBox="1"/>
          <p:nvPr/>
        </p:nvSpPr>
        <p:spPr bwMode="auto">
          <a:xfrm>
            <a:off x="6925582" y="6123543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</a:t>
            </a:r>
            <a:r>
              <a:rPr lang="en-US" b="1" dirty="0"/>
              <a:t>ESP32</a:t>
            </a:r>
            <a:r>
              <a:rPr lang="en-GB" b="1" dirty="0"/>
              <a:t> Mounted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AAFC16-871D-6F93-7289-2E116C823C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86" y="1263312"/>
            <a:ext cx="4862629" cy="49398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C595C7-0460-6687-2A1B-04D906B45E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495" y="1263312"/>
            <a:ext cx="4948691" cy="4877553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16ADC1-A0EF-F0F0-A43F-A99E82FAF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F52740-F8E7-6F66-9FF8-158F79549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4</a:t>
            </a:fld>
            <a:endParaRPr lang="en-GB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5</a:t>
            </a:fld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60843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Health &amp; Safety Precautions</a:t>
            </a:r>
          </a:p>
        </p:txBody>
      </p:sp>
      <p:sp>
        <p:nvSpPr>
          <p:cNvPr id="148458921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70000" lnSpcReduction="20000"/>
          </a:bodyPr>
          <a:lstStyle/>
          <a:p>
            <a:pPr>
              <a:defRPr/>
            </a:pPr>
            <a:r>
              <a:rPr lang="en-US" b="1" dirty="0"/>
              <a:t>Double-check all power connections</a:t>
            </a:r>
            <a:br>
              <a:rPr lang="en-US" dirty="0"/>
            </a:br>
            <a:r>
              <a:rPr lang="en-US" dirty="0"/>
              <a:t>Ensure correct </a:t>
            </a:r>
            <a:r>
              <a:rPr lang="en-US" b="1" dirty="0"/>
              <a:t>GND</a:t>
            </a:r>
            <a:r>
              <a:rPr lang="en-US" dirty="0"/>
              <a:t> and </a:t>
            </a:r>
            <a:r>
              <a:rPr lang="en-US" b="1" dirty="0"/>
              <a:t>VCC</a:t>
            </a:r>
            <a:r>
              <a:rPr lang="en-US" dirty="0"/>
              <a:t> wiring for the power supply, OLED, motor drivers, GPS, sensors, and other modules.</a:t>
            </a:r>
            <a:endParaRPr dirty="0"/>
          </a:p>
          <a:p>
            <a:pPr>
              <a:defRPr/>
            </a:pPr>
            <a:r>
              <a:rPr lang="en-US" b="1" dirty="0"/>
              <a:t>Use the correct input voltage</a:t>
            </a:r>
            <a:br>
              <a:rPr lang="en-US" dirty="0"/>
            </a:br>
            <a:r>
              <a:rPr lang="en-US" dirty="0"/>
              <a:t>Battery input should be </a:t>
            </a:r>
            <a:r>
              <a:rPr lang="en-US" b="1" dirty="0"/>
              <a:t>between 5V and 12V</a:t>
            </a:r>
            <a:r>
              <a:rPr lang="en-US" dirty="0"/>
              <a:t> only.</a:t>
            </a:r>
            <a:endParaRPr dirty="0"/>
          </a:p>
          <a:p>
            <a:pPr>
              <a:defRPr/>
            </a:pPr>
            <a:r>
              <a:rPr lang="en-US" b="1" dirty="0"/>
              <a:t>Work on a safe surface</a:t>
            </a:r>
            <a:br>
              <a:rPr lang="en-US" dirty="0"/>
            </a:br>
            <a:r>
              <a:rPr lang="en-US" dirty="0"/>
              <a:t>Use the kit on an </a:t>
            </a:r>
            <a:r>
              <a:rPr lang="en-US" b="1" dirty="0"/>
              <a:t>insulated table</a:t>
            </a:r>
            <a:r>
              <a:rPr lang="en-US" dirty="0"/>
              <a:t> (e.g., wood) and ensure the surface is </a:t>
            </a:r>
            <a:r>
              <a:rPr lang="en-US" b="1" dirty="0"/>
              <a:t>dry and clean</a:t>
            </a:r>
            <a:r>
              <a:rPr lang="en-US" dirty="0"/>
              <a:t>.</a:t>
            </a:r>
            <a:endParaRPr dirty="0"/>
          </a:p>
          <a:p>
            <a:pPr>
              <a:defRPr/>
            </a:pPr>
            <a:r>
              <a:rPr lang="en-US" b="1" dirty="0"/>
              <a:t>Avoid leaving the kit unattended</a:t>
            </a:r>
            <a:br>
              <a:rPr lang="en-US" dirty="0"/>
            </a:b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keep the system powered on without supervision.</a:t>
            </a:r>
            <a:endParaRPr dirty="0"/>
          </a:p>
          <a:p>
            <a:pPr>
              <a:defRPr/>
            </a:pPr>
            <a:r>
              <a:rPr lang="en-GB" b="1" dirty="0"/>
              <a:t>Build and Test Incrementally</a:t>
            </a:r>
            <a:br>
              <a:rPr lang="en-US" dirty="0"/>
            </a:br>
            <a:r>
              <a:rPr lang="en-US" dirty="0"/>
              <a:t>Turn on the </a:t>
            </a:r>
            <a:r>
              <a:rPr lang="en-US" b="1" dirty="0"/>
              <a:t>microcontroller first</a:t>
            </a:r>
            <a:r>
              <a:rPr lang="en-US" dirty="0"/>
              <a:t>, then </a:t>
            </a:r>
            <a:r>
              <a:rPr lang="en-US" b="1" dirty="0"/>
              <a:t>build and test the circuit step-by-step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Avoid wiring the entire system at once and powering it without intermediate testing.</a:t>
            </a:r>
          </a:p>
          <a:p>
            <a:pPr>
              <a:defRPr/>
            </a:pPr>
            <a:r>
              <a:rPr lang="en-US" b="1" dirty="0"/>
              <a:t>18650 Battery</a:t>
            </a:r>
            <a:r>
              <a:rPr lang="en-US" dirty="0"/>
              <a:t> </a:t>
            </a:r>
            <a:r>
              <a:rPr lang="en-US" b="1" dirty="0"/>
              <a:t>Care</a:t>
            </a:r>
            <a:r>
              <a:rPr lang="en-US" dirty="0"/>
              <a:t>– For long battery life, charge it at regular intervals. Avoid battery complete draining (going down to 0%), Do not leave the battery unattended while charging or charge it overnight. If the battery appears swollen, leakage or bulging, do not use it. Use a proper Li-ion charger, Dispose of faulty batteries safely and responsibly. </a:t>
            </a:r>
          </a:p>
          <a:p>
            <a:pPr>
              <a:defRPr/>
            </a:pPr>
            <a:endParaRPr dirty="0"/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701DA9-FC22-F75E-0690-252AA51D8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77C7E3-BE86-D527-117E-11CBFA1D9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6</a:t>
            </a:fld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3219" name="Title 1"/>
          <p:cNvSpPr>
            <a:spLocks noGrp="1"/>
          </p:cNvSpPr>
          <p:nvPr>
            <p:ph type="title"/>
          </p:nvPr>
        </p:nvSpPr>
        <p:spPr bwMode="auto">
          <a:xfrm>
            <a:off x="695769" y="89166"/>
            <a:ext cx="10515600" cy="110368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C1 - </a:t>
            </a:r>
            <a:r>
              <a:rPr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RFID </a:t>
            </a:r>
            <a:b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Reading &amp; Access Control System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Using </a:t>
            </a:r>
            <a:r>
              <a:rPr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MFRC522</a:t>
            </a:r>
            <a:endParaRPr lang="en-GB"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004A1-5A80-4A34-F667-4E6CF6C50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0" y="1342069"/>
            <a:ext cx="4685427" cy="5426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66AC5-0AD2-B54A-5FF6-2FA7B8CC4E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69" y="1342068"/>
            <a:ext cx="5362322" cy="54267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CF34DD-A036-EEFA-33DD-67D615EED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9F14C-D05D-0307-0238-0A428512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7</a:t>
            </a:fld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514844" name="Title 1"/>
          <p:cNvSpPr>
            <a:spLocks noGrp="1"/>
          </p:cNvSpPr>
          <p:nvPr>
            <p:ph type="title"/>
          </p:nvPr>
        </p:nvSpPr>
        <p:spPr bwMode="auto">
          <a:xfrm>
            <a:off x="695768" y="17951"/>
            <a:ext cx="11156387" cy="110368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rtl="0">
              <a:spcBef>
                <a:spcPct val="0"/>
              </a:spcBef>
            </a:pP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C1 - RFID </a:t>
            </a:r>
            <a:b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Reading &amp; Access Control System Using RFID MFRC522</a:t>
            </a:r>
            <a:endParaRPr lang="en-GB"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35164756" name="Content Placeholder 2"/>
          <p:cNvSpPr>
            <a:spLocks noGrp="1"/>
          </p:cNvSpPr>
          <p:nvPr>
            <p:ph idx="1"/>
          </p:nvPr>
        </p:nvSpPr>
        <p:spPr bwMode="auto">
          <a:xfrm>
            <a:off x="739878" y="1121634"/>
            <a:ext cx="5095278" cy="5496474"/>
          </a:xfrm>
          <a:ln w="38100">
            <a:solidFill>
              <a:schemeClr val="accent1">
                <a:lumMod val="75000"/>
              </a:schemeClr>
            </a:solidFill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77500" lnSpcReduction="20000"/>
          </a:bodyPr>
          <a:lstStyle/>
          <a:p>
            <a:pPr>
              <a:defRPr/>
            </a:pPr>
            <a:endParaRPr lang="en-GB" sz="2400" b="1" i="0" u="none" dirty="0">
              <a:solidFill>
                <a:srgbClr val="000000"/>
              </a:solidFill>
              <a:ea typeface="Times New Roman"/>
              <a:cs typeface="Times New Roman"/>
            </a:endParaRPr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Program 1: RFID / NFC UID Reader</a:t>
            </a:r>
            <a:endParaRPr dirty="0"/>
          </a:p>
          <a:p>
            <a:pPr>
              <a:defRPr/>
            </a:pPr>
            <a:r>
              <a:rPr sz="1400" i="0" u="none" dirty="0">
                <a:solidFill>
                  <a:srgbClr val="000000"/>
                </a:solidFill>
                <a:ea typeface="Times New Roman"/>
                <a:cs typeface="Times New Roman"/>
              </a:rPr>
              <a:t>RFID/NFC – UID Reading &amp; Identification Display (MFRC522 + OLED)</a:t>
            </a:r>
            <a:endParaRPr dirty="0"/>
          </a:p>
          <a:p>
            <a:pPr>
              <a:defRPr/>
            </a:pPr>
            <a:r>
              <a:rPr sz="1400" i="0" u="none" dirty="0">
                <a:solidFill>
                  <a:srgbClr val="000000"/>
                </a:solidFill>
                <a:ea typeface="Times New Roman"/>
                <a:cs typeface="Times New Roman"/>
              </a:rPr>
              <a:t>Alternative headings:</a:t>
            </a:r>
            <a:endParaRPr dirty="0"/>
          </a:p>
          <a:p>
            <a:pPr>
              <a:defRPr/>
            </a:pPr>
            <a:r>
              <a:rPr sz="1200" i="0" u="none" dirty="0">
                <a:solidFill>
                  <a:srgbClr val="000000"/>
                </a:solidFill>
                <a:ea typeface="Times New Roman"/>
                <a:cs typeface="Times New Roman"/>
              </a:rPr>
              <a:t>RFID – Card UID Scanner with OLED Feedback</a:t>
            </a:r>
            <a:endParaRPr dirty="0"/>
          </a:p>
          <a:p>
            <a:pPr>
              <a:defRPr/>
            </a:pPr>
            <a:r>
              <a:rPr sz="1200" i="0" u="none" dirty="0">
                <a:solidFill>
                  <a:srgbClr val="000000"/>
                </a:solidFill>
                <a:ea typeface="Times New Roman"/>
                <a:cs typeface="Times New Roman"/>
              </a:rPr>
              <a:t>RFID Reader – UID Detection &amp; Display System</a:t>
            </a:r>
            <a:endParaRPr dirty="0"/>
          </a:p>
          <a:p>
            <a:pPr>
              <a:defRPr/>
            </a:pPr>
            <a:r>
              <a:rPr sz="1200" i="0" u="none" dirty="0">
                <a:solidFill>
                  <a:srgbClr val="000000"/>
                </a:solidFill>
                <a:ea typeface="Times New Roman"/>
                <a:cs typeface="Times New Roman"/>
              </a:rPr>
              <a:t>RFID/NFC – Simple Card Scanning &amp; UID Output</a:t>
            </a:r>
            <a:endParaRPr dirty="0"/>
          </a:p>
          <a:p>
            <a:pPr>
              <a:defRPr/>
            </a:pPr>
            <a:r>
              <a:rPr sz="240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Code Explanation (RFID </a:t>
            </a:r>
            <a:r>
              <a:rPr sz="2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UID Reader)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setup()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Start Serial monitor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, show “RFID Ready”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RFID reader (MFRC522)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Display “Scan card…” message in Serial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loop()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Check if a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new card is present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Read card’s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UID bytes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Convert UID to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HEX string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Print UID in Serial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Display UID on OLED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Title: “RFID UID”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UID printed below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Small delay before next scan</a:t>
            </a:r>
            <a:endParaRPr dirty="0"/>
          </a:p>
        </p:txBody>
      </p:sp>
      <p:pic>
        <p:nvPicPr>
          <p:cNvPr id="1198827620" name="Picture 11988276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368585" y="1080199"/>
            <a:ext cx="4112663" cy="41639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95BDD0-21D0-7A2F-09D2-48B81D1E2F94}"/>
              </a:ext>
            </a:extLst>
          </p:cNvPr>
          <p:cNvSpPr txBox="1"/>
          <p:nvPr/>
        </p:nvSpPr>
        <p:spPr>
          <a:xfrm>
            <a:off x="5953569" y="5291465"/>
            <a:ext cx="5898587" cy="1477328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Code Link:</a:t>
            </a:r>
          </a:p>
          <a:p>
            <a:r>
              <a:rPr lang="en-GB" sz="1200" b="1" dirty="0"/>
              <a:t>(1) https://github.com/info-zas/Training/tree/main/GPREC/03_Communications/01_Code/01_Comm_Kit_RFIDCardInfo</a:t>
            </a:r>
          </a:p>
          <a:p>
            <a:r>
              <a:rPr lang="en-GB" sz="1200" b="1" dirty="0"/>
              <a:t>(2) https://github.com/info-zas/Training/tree/main/GPREC/03_Communications/01_Code/02_Comm_Kit_RFIDCardReaderAccess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6D929E-7628-9AE0-4E3C-F9CD47C98D6D}"/>
              </a:ext>
            </a:extLst>
          </p:cNvPr>
          <p:cNvSpPr txBox="1"/>
          <p:nvPr/>
        </p:nvSpPr>
        <p:spPr>
          <a:xfrm>
            <a:off x="7956876" y="2751324"/>
            <a:ext cx="12683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2227F-E4E2-DCCB-2747-E430565EC2F7}"/>
              </a:ext>
            </a:extLst>
          </p:cNvPr>
          <p:cNvSpPr txBox="1"/>
          <p:nvPr/>
        </p:nvSpPr>
        <p:spPr bwMode="auto">
          <a:xfrm>
            <a:off x="9313247" y="3230598"/>
            <a:ext cx="680542" cy="5456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944E1-7818-1A2C-07EB-060A794A3827}"/>
              </a:ext>
            </a:extLst>
          </p:cNvPr>
          <p:cNvSpPr txBox="1"/>
          <p:nvPr/>
        </p:nvSpPr>
        <p:spPr bwMode="auto">
          <a:xfrm>
            <a:off x="10061056" y="2286559"/>
            <a:ext cx="420192" cy="16483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30650-4C93-DD9E-AC0E-C0A4F39A1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A73CD-6D2B-0DBA-9365-07A3A277F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164045" name="Title 1"/>
          <p:cNvSpPr>
            <a:spLocks noGrp="1"/>
          </p:cNvSpPr>
          <p:nvPr>
            <p:ph type="title"/>
          </p:nvPr>
        </p:nvSpPr>
        <p:spPr bwMode="auto">
          <a:xfrm>
            <a:off x="815853" y="163814"/>
            <a:ext cx="10515600" cy="1325563"/>
          </a:xfrm>
        </p:spPr>
        <p:txBody>
          <a:bodyPr vert="horz" lIns="91440" tIns="45720" rIns="91440" bIns="45720" rtlCol="0" anchor="ctr">
            <a:noAutofit/>
          </a:bodyPr>
          <a:lstStyle/>
          <a:p>
            <a:pPr lvl="1"/>
            <a:r>
              <a:rPr lang="en-GB" sz="4000" b="1" dirty="0">
                <a:solidFill>
                  <a:srgbClr val="FF3300"/>
                </a:solidFill>
                <a:latin typeface="+mj-lt"/>
              </a:rPr>
              <a:t>Lab C2 – Wireless Communication between Tx and Rx Using NRF24L01</a:t>
            </a:r>
          </a:p>
        </p:txBody>
      </p:sp>
      <p:sp>
        <p:nvSpPr>
          <p:cNvPr id="1742524601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477710"/>
            <a:ext cx="10515600" cy="4699252"/>
          </a:xfrm>
        </p:spPr>
        <p:txBody>
          <a:bodyPr/>
          <a:lstStyle/>
          <a:p>
            <a:pPr>
              <a:defRPr/>
            </a:pPr>
            <a:r>
              <a:rPr lang="en-GB" b="1" dirty="0"/>
              <a:t>Things Needed</a:t>
            </a:r>
            <a:endParaRPr dirty="0"/>
          </a:p>
        </p:txBody>
      </p:sp>
      <p:pic>
        <p:nvPicPr>
          <p:cNvPr id="1324253071" name="Picture 132425307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990937" y="1690688"/>
            <a:ext cx="2502335" cy="20029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63FF4-78F4-A461-90CF-6DC9E6F108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06" y="2082429"/>
            <a:ext cx="5389928" cy="46117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130EBD-3C02-4C9E-7907-082A69166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411A6-768C-F439-B450-9FDD9FA42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 algn="l">
              <a:lnSpc>
                <a:spcPct val="90000"/>
              </a:lnSpc>
              <a:defRPr/>
            </a:pPr>
            <a:r>
              <a:rPr lang="en-GB" sz="4000" b="1" dirty="0">
                <a:solidFill>
                  <a:srgbClr val="FF33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453060" y="1203736"/>
            <a:ext cx="4925186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NRF24L01 – Transmitter &amp; Receiver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1. Setup Transmitter &amp; Receiver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Configure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+ NRF24L01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on SPI pins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Connect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display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for feedback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Set matching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radio address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for TX/RX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2. NRF24 Communication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Transmitter Side (TX)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reads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potentiometer value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Formats message as: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"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PotValue:XXXX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"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Sends packet using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NRF24L01 @ 2.4 GHz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(32-byte payload)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shows: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“Sent: XXXX”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Uses SPI pins (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CE, CSN, SCK, MOSI, MISO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)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NRF24 Wireless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Short-range,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high-speed 2.4 GHz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radio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Ideal for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robot-to-robot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, remote sensors, wireless controllers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auto-acknowledge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Supports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multiple nodes</a:t>
            </a: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 via unique radio addresses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Receiver Side (RX)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ESP32 detects packets using 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radio.available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Reads data with 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radio.read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Extracts potentiometer value from received message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ea typeface="Times New Roman"/>
                <a:cs typeface="Times New Roman"/>
              </a:rPr>
              <a:t>OLED displays: 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“</a:t>
            </a:r>
            <a:r>
              <a:rPr sz="1200" b="1" i="0" u="none" dirty="0" err="1">
                <a:solidFill>
                  <a:srgbClr val="000000"/>
                </a:solidFill>
                <a:ea typeface="Times New Roman"/>
                <a:cs typeface="Times New Roman"/>
              </a:rPr>
              <a:t>Recv</a:t>
            </a:r>
            <a:r>
              <a:rPr sz="1200" b="1" i="0" u="none" dirty="0">
                <a:solidFill>
                  <a:srgbClr val="000000"/>
                </a:solidFill>
                <a:ea typeface="Times New Roman"/>
                <a:cs typeface="Times New Roman"/>
              </a:rPr>
              <a:t>: XXXX”</a:t>
            </a:r>
            <a:endParaRPr dirty="0"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690743" y="132556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4000" b="1" dirty="0">
                <a:solidFill>
                  <a:srgbClr val="FF33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5521423" y="4516774"/>
            <a:ext cx="6403877" cy="166199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 for Code:</a:t>
            </a:r>
          </a:p>
          <a:p>
            <a:r>
              <a:rPr lang="en-GB" sz="1400" b="1" dirty="0"/>
              <a:t>(1). </a:t>
            </a:r>
            <a:r>
              <a:rPr lang="en-GB" sz="1400" b="1" dirty="0">
                <a:hlinkClick r:id="rId4"/>
              </a:rPr>
              <a:t>https://github.com/info-zas/Training/tree/main/GPREC/03_Communications/01_Code/03_Comm_Kit_NRF24L01_Transmitter_Encoder_Value</a:t>
            </a:r>
            <a:endParaRPr lang="en-GB" sz="1400" b="1" dirty="0"/>
          </a:p>
          <a:p>
            <a:r>
              <a:rPr lang="en-GB" sz="1400" b="1" dirty="0"/>
              <a:t>(2). </a:t>
            </a:r>
            <a:r>
              <a:rPr lang="en-GB" sz="1400" b="1" dirty="0">
                <a:hlinkClick r:id="rId5"/>
              </a:rPr>
              <a:t>https://github.com/info-zas/Training/tree/main/GPREC/03_Communications/01_Code/04_Comm_Kit_NRF24L01_Receiver_Encoder_Value</a:t>
            </a:r>
            <a:endParaRPr lang="en-GB" sz="1400" b="1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AAE633-81FD-B449-3B42-BFF162010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D6500-2BF6-923D-10A9-D1056BB6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EE8F-53EF-B55D-3263-0F0010960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</a:rPr>
              <a:t>SD Card Module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A4216-8C4E-E060-B269-80CB26FDC7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8" y="1212574"/>
            <a:ext cx="4371028" cy="5645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24588A-02DD-CD91-6CDC-9CF6492772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384" y="1690688"/>
            <a:ext cx="4834218" cy="439309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E1C03-13B0-0EFD-2741-C0DFC64D6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B2BC5-68DA-8334-B0C7-244F992E6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0673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D924-5551-841F-0565-74D1BA0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</a:rPr>
              <a:t>SD Card Module </a:t>
            </a:r>
            <a:endParaRPr lang="en-GB" sz="4000" dirty="0">
              <a:solidFill>
                <a:srgbClr val="FF33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CC090-2544-7E3B-4948-A679FD2AA5B6}"/>
              </a:ext>
            </a:extLst>
          </p:cNvPr>
          <p:cNvSpPr txBox="1"/>
          <p:nvPr/>
        </p:nvSpPr>
        <p:spPr>
          <a:xfrm>
            <a:off x="838200" y="1839686"/>
            <a:ext cx="978344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SD Card formatting requirements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Practice the SD Card orientation for insertion &amp; removal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A good module remote data wireless capture &amp; IoT Simulations</a:t>
            </a:r>
          </a:p>
          <a:p>
            <a:endParaRPr lang="en-GB" sz="28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EDFEB7-514B-8D5C-4213-E49DC6A07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73E43-E25D-F5B5-FB04-34CD0652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7079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700B8-B040-1D88-673B-89E49D5F6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kern="1200" dirty="0">
                <a:solidFill>
                  <a:srgbClr val="FF3300"/>
                </a:solidFill>
              </a:rPr>
              <a:t>Communication Kit –Further Labs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4CDCF-22E7-3E1D-C5E7-BA5184B76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1CD97-A171-6D9D-DB7B-AB0F8852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14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E1079B-0D7F-09BE-5C01-C9387301D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809843" y="1298421"/>
            <a:ext cx="2821336" cy="2104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D2185C-F204-5EA7-ECA1-1B6090250C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32571" y="3685765"/>
            <a:ext cx="2763249" cy="28071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FA366D-058D-CA23-2D79-BCE2193E8916}"/>
              </a:ext>
            </a:extLst>
          </p:cNvPr>
          <p:cNvSpPr txBox="1"/>
          <p:nvPr/>
        </p:nvSpPr>
        <p:spPr bwMode="auto">
          <a:xfrm>
            <a:off x="838200" y="1458144"/>
            <a:ext cx="5257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So far using communication kit, we have demonstrated how to use RFID module, wireless communication using NRF24L01.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With the components in the communication kit, we can do: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1DB602C-2069-779D-24F5-62308D0C84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83" y="3766468"/>
            <a:ext cx="5294059" cy="142060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50B462A-7EFB-E8C6-79C8-E82309CB2661}"/>
              </a:ext>
            </a:extLst>
          </p:cNvPr>
          <p:cNvSpPr txBox="1"/>
          <p:nvPr/>
        </p:nvSpPr>
        <p:spPr bwMode="auto">
          <a:xfrm>
            <a:off x="813374" y="5187075"/>
            <a:ext cx="52039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All the details can be found at Git hub repository: </a:t>
            </a:r>
          </a:p>
          <a:p>
            <a:r>
              <a:rPr lang="en-GB" sz="2400" dirty="0">
                <a:solidFill>
                  <a:srgbClr val="0070C0"/>
                </a:solidFill>
              </a:rPr>
              <a:t>https://github.com/info-zas/zas-robotics-communications</a:t>
            </a:r>
          </a:p>
        </p:txBody>
      </p:sp>
    </p:spTree>
    <p:extLst>
      <p:ext uri="{BB962C8B-B14F-4D97-AF65-F5344CB8AC3E}">
        <p14:creationId xmlns:p14="http://schemas.microsoft.com/office/powerpoint/2010/main" val="20595388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7B1D-1C1A-AD47-87FA-76500DF68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</a:rPr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728C2A-E1A0-49E0-C7E0-CFC082B63F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63555"/>
            <a:ext cx="1016321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</a:t>
            </a:r>
            <a:r>
              <a:rPr lang="en-US" altLang="en-US" dirty="0">
                <a:latin typeface="Arial" panose="020B0604020202020204" pitchFamily="34" charset="0"/>
              </a:rPr>
              <a:t>final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kit in the ZAS Robotics Foundational Series.</a:t>
            </a:r>
            <a:endParaRPr lang="en-US" altLang="en-US" dirty="0">
              <a:latin typeface="Arial" panose="020B0604020202020204" pitchFamily="34" charset="0"/>
            </a:endParaRP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focused on </a:t>
            </a:r>
            <a:r>
              <a:rPr lang="en-US" altLang="en-US" dirty="0">
                <a:latin typeface="Arial" panose="020B0604020202020204" pitchFamily="34" charset="0"/>
              </a:rPr>
              <a:t>using various communication technologies such as RFID, NRF, LoRa, IT, Bluetooth.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Labs Covered: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C1 – RFID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C2 – Wireless Communication between Tx and Rx Using NRF24L01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dirty="0"/>
              <a:t>Lab C3 – SD Card Module </a:t>
            </a:r>
            <a:endParaRPr lang="en-US" altLang="en-US" sz="2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Sessions: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ZAS Robotics Navigational Series (Car 1, Car 2, Car 3).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652A0F-E3AA-6E92-92F8-BE0037AB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9AC9D5-3345-E6BF-DF3A-4ED13A743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243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1069</Words>
  <Application>Microsoft Office PowerPoint</Application>
  <PresentationFormat>Widescreen</PresentationFormat>
  <Paragraphs>164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2_Office Theme</vt:lpstr>
      <vt:lpstr>PowerPoint Presentation</vt:lpstr>
      <vt:lpstr>Communication Kit (Kit 3) Training - Objectives</vt:lpstr>
      <vt:lpstr>Communication Kit - Contents</vt:lpstr>
      <vt:lpstr>Communication Creative Board</vt:lpstr>
      <vt:lpstr>Kit 3 Communication Creative Board - Features</vt:lpstr>
      <vt:lpstr>Health &amp; Safety Precautions</vt:lpstr>
      <vt:lpstr>Lab C1 - RFID  Reading &amp; Access Control System Using MFRC522</vt:lpstr>
      <vt:lpstr>Lab C1 - RFID  Reading &amp; Access Control System Using RFID MFRC522</vt:lpstr>
      <vt:lpstr>Lab C2 – Wireless Communication between Tx and Rx Using NRF24L01</vt:lpstr>
      <vt:lpstr>PowerPoint Presentation</vt:lpstr>
      <vt:lpstr>Lab C2 – Wireless Communication between Tx and Rx Using NRF24L01</vt:lpstr>
      <vt:lpstr>SD Card Module </vt:lpstr>
      <vt:lpstr>SD Card Module </vt:lpstr>
      <vt:lpstr>Communication Kit –Further Labs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103</cp:revision>
  <dcterms:created xsi:type="dcterms:W3CDTF">2025-11-13T13:02:47Z</dcterms:created>
  <dcterms:modified xsi:type="dcterms:W3CDTF">2025-12-01T22:17:32Z</dcterms:modified>
</cp:coreProperties>
</file>