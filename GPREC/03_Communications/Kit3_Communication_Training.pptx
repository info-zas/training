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17"/>
  </p:notesMasterIdLst>
  <p:sldIdLst>
    <p:sldId id="256" r:id="rId3"/>
    <p:sldId id="269" r:id="rId4"/>
    <p:sldId id="258" r:id="rId5"/>
    <p:sldId id="259" r:id="rId6"/>
    <p:sldId id="260" r:id="rId7"/>
    <p:sldId id="261" r:id="rId8"/>
    <p:sldId id="266" r:id="rId9"/>
    <p:sldId id="267" r:id="rId10"/>
    <p:sldId id="264" r:id="rId11"/>
    <p:sldId id="270" r:id="rId12"/>
    <p:sldId id="265" r:id="rId13"/>
    <p:sldId id="272" r:id="rId14"/>
    <p:sldId id="273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921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8137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169730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883708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422173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634295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65162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68500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56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7245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63766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54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2625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2841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59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9FF2E9-488C-C2DD-99BD-96FB86CF33E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1744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252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176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9EA87D-8652-58FE-0A40-1D9E139BF09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66923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8377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72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B43549-86FA-21F8-7545-CE95EB9FB887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3420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4930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209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26CE3B-E040-A2AB-A655-6D2329D8DBEC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695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50511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899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949ECF-86E5-C7AB-DDE3-C0E50DBC9EB8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7331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69850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980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275F90-3167-AEBD-D502-299F21D0E3D1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99130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30614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237647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765390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374022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6178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882655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289017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1090269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356398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12275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244779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23159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3119712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774130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134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8715083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22175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733771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437968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376039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96795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952125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69175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8570396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95662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060177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785624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113349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6466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0733433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75952101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5400708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1503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5556146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1049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81564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3010396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637068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84125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8464757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637165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52083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5557160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8539654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41692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9831359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446039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900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16320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881562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904888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863067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94337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203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110244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646070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618194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585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10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823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881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286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6103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02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3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799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024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91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59566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384670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4371372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5593103-930B-4864-A0CC-E5CD95E9581E}" type="datetimeFigureOut">
              <a:rPr lang="en-GB"/>
              <a:t>24/11/2025</a:t>
            </a:fld>
            <a:endParaRPr lang="en-GB"/>
          </a:p>
        </p:txBody>
      </p:sp>
      <p:sp>
        <p:nvSpPr>
          <p:cNvPr id="17491309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62376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3A2A5D-5A42-4533-ACF4-15D55555B360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08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fo-zas/Training/tree/main/GPREC/03_Communications/01_Code/02_Comm_Kit_RFIDCardReaderAccess" TargetMode="External"/><Relationship Id="rId4" Type="http://schemas.openxmlformats.org/officeDocument/2006/relationships/hyperlink" Target="https://github.com/info-zas/Training/tree/main/GPREC/03_Communications/01_Code/01_Comm_Kit_RFIDCardInfo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fo-zas/Training/tree/main/GPREC/03_Communications/01_Code/04_Comm_Kit_NRF24L01_Receiver_Encoder_Value" TargetMode="External"/><Relationship Id="rId4" Type="http://schemas.openxmlformats.org/officeDocument/2006/relationships/hyperlink" Target="https://github.com/info-zas/Training/tree/main/GPREC/03_Communications/01_Code/03_Comm_Kit_NRF24L01_Transmitter_Encoder_Valu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846097" name="Title 1"/>
          <p:cNvSpPr>
            <a:spLocks noGrp="1"/>
          </p:cNvSpPr>
          <p:nvPr>
            <p:ph type="ctrTitle"/>
          </p:nvPr>
        </p:nvSpPr>
        <p:spPr bwMode="auto">
          <a:xfrm>
            <a:off x="1293743" y="2066235"/>
            <a:ext cx="9604513" cy="2387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b="1" dirty="0"/>
              <a:t>ZAS Robotics </a:t>
            </a:r>
            <a:r>
              <a:rPr lang="en-US" b="1" dirty="0"/>
              <a:t>(Communication</a:t>
            </a:r>
            <a:r>
              <a:rPr lang="en-GB" b="1" dirty="0"/>
              <a:t> Kit)</a:t>
            </a:r>
            <a:br>
              <a:rPr lang="en-GB" b="1" dirty="0"/>
            </a:br>
            <a:r>
              <a:rPr lang="en-GB" b="1" dirty="0"/>
              <a:t>Training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29D4-CF24-9712-0C15-07EA836B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24C2-4D49-091F-4E2E-E1259B60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Communications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A5D58-D7BD-496E-AA57-62A506799CA3}"/>
              </a:ext>
            </a:extLst>
          </p:cNvPr>
          <p:cNvSpPr txBox="1"/>
          <p:nvPr/>
        </p:nvSpPr>
        <p:spPr>
          <a:xfrm>
            <a:off x="142875" y="1000535"/>
            <a:ext cx="1190625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715B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the Contents in the Box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&amp; Discuss the Communication Creative Board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the Health &amp; Safety Precautions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Conduct the Following Labs 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Creative Board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 C1 - RFID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Conduct the Following Labs on the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Creative Board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 C2 – Wireless Communication between Tx and R</a:t>
            </a:r>
            <a:r>
              <a:rPr lang="en-GB" sz="2400" kern="1200" dirty="0">
                <a:solidFill>
                  <a:srgbClr val="F9CB40"/>
                </a:solidFill>
                <a:latin typeface="Aptos" panose="02110004020202020204"/>
              </a:rPr>
              <a:t>x Using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NRF24L01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the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 C3 - SD Card module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 practice memory card insertion/removal/formatting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the 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Bread Board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the 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Creative Board</a:t>
            </a:r>
          </a:p>
        </p:txBody>
      </p:sp>
    </p:spTree>
    <p:extLst>
      <p:ext uri="{BB962C8B-B14F-4D97-AF65-F5344CB8AC3E}">
        <p14:creationId xmlns:p14="http://schemas.microsoft.com/office/powerpoint/2010/main" val="369993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750354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b="1"/>
              <a:t>Communication</a:t>
            </a:r>
            <a:r>
              <a:rPr lang="en-GB" b="1"/>
              <a:t> Kit (Contents)</a:t>
            </a:r>
            <a:endParaRPr/>
          </a:p>
        </p:txBody>
      </p:sp>
      <p:sp>
        <p:nvSpPr>
          <p:cNvPr id="165207472" name="TextBox 20"/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  <p:sp>
        <p:nvSpPr>
          <p:cNvPr id="1915249791" name="TextBox 45"/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pic>
        <p:nvPicPr>
          <p:cNvPr id="2032215715" name="Picture 20322157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845384-6C17-0B8F-F564-E3BBE0A332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508" y="1477756"/>
            <a:ext cx="4197264" cy="42638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2734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Communication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971918876" name="TextBox 2"/>
          <p:cNvSpPr txBox="1"/>
          <p:nvPr/>
        </p:nvSpPr>
        <p:spPr bwMode="auto">
          <a:xfrm>
            <a:off x="1445340" y="6140865"/>
            <a:ext cx="445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Creative Board – Bare Board</a:t>
            </a:r>
            <a:endParaRPr dirty="0"/>
          </a:p>
        </p:txBody>
      </p:sp>
      <p:sp>
        <p:nvSpPr>
          <p:cNvPr id="402039559" name="TextBox 3"/>
          <p:cNvSpPr txBox="1"/>
          <p:nvPr/>
        </p:nvSpPr>
        <p:spPr bwMode="auto">
          <a:xfrm>
            <a:off x="6925582" y="6123543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Creative Board – </a:t>
            </a:r>
            <a:r>
              <a:rPr lang="en-US" b="1" dirty="0"/>
              <a:t>ESP32</a:t>
            </a:r>
            <a:r>
              <a:rPr lang="en-GB" b="1" dirty="0"/>
              <a:t> Mounted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AFC16-871D-6F93-7289-2E116C823C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86" y="1263312"/>
            <a:ext cx="4862629" cy="4939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595C7-0460-6687-2A1B-04D906B45E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5" y="1263312"/>
            <a:ext cx="4948691" cy="48775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b="1"/>
              <a:t>Kit </a:t>
            </a:r>
            <a:r>
              <a:rPr lang="en-US" b="1"/>
              <a:t>3</a:t>
            </a:r>
            <a:r>
              <a:rPr lang="en-GB" b="1"/>
              <a:t> </a:t>
            </a:r>
            <a:r>
              <a:rPr lang="en-US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Communication</a:t>
            </a:r>
            <a:r>
              <a:rPr lang="en-US" sz="44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 </a:t>
            </a:r>
            <a:r>
              <a:rPr lang="en-GB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Creative Board - Features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608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>
                <a:latin typeface="Aptos"/>
              </a:rPr>
              <a:t>Health &amp; Safety Precautions</a:t>
            </a:r>
            <a:endParaRPr lang="en-GB"/>
          </a:p>
        </p:txBody>
      </p:sp>
      <p:sp>
        <p:nvSpPr>
          <p:cNvPr id="14845892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b="1"/>
              <a:t>Double-check all power connections</a:t>
            </a:r>
            <a:br>
              <a:rPr lang="en-US"/>
            </a:br>
            <a:r>
              <a:rPr lang="en-US"/>
              <a:t>Ensure correct </a:t>
            </a:r>
            <a:r>
              <a:rPr lang="en-US" b="1"/>
              <a:t>GND</a:t>
            </a:r>
            <a:r>
              <a:rPr lang="en-US"/>
              <a:t> and </a:t>
            </a:r>
            <a:r>
              <a:rPr lang="en-US" b="1"/>
              <a:t>VCC</a:t>
            </a:r>
            <a:r>
              <a:rPr lang="en-US"/>
              <a:t> wiring for the power supply, OLED, motor drivers, GPS, sensors, and other modules.</a:t>
            </a:r>
            <a:endParaRPr/>
          </a:p>
          <a:p>
            <a:pPr>
              <a:defRPr/>
            </a:pPr>
            <a:r>
              <a:rPr lang="en-US" b="1"/>
              <a:t>Use the correct input voltage</a:t>
            </a:r>
            <a:br>
              <a:rPr lang="en-US"/>
            </a:br>
            <a:r>
              <a:rPr lang="en-US"/>
              <a:t>Battery input should be </a:t>
            </a:r>
            <a:r>
              <a:rPr lang="en-US" b="1"/>
              <a:t>between 5V and 12V</a:t>
            </a:r>
            <a:r>
              <a:rPr lang="en-US"/>
              <a:t> only.</a:t>
            </a:r>
            <a:endParaRPr/>
          </a:p>
          <a:p>
            <a:pPr>
              <a:defRPr/>
            </a:pPr>
            <a:r>
              <a:rPr lang="en-US" b="1"/>
              <a:t>Work on a safe surface</a:t>
            </a:r>
            <a:br>
              <a:rPr lang="en-US"/>
            </a:br>
            <a:r>
              <a:rPr lang="en-US"/>
              <a:t>Use the kit on an </a:t>
            </a:r>
            <a:r>
              <a:rPr lang="en-US" b="1"/>
              <a:t>insulated table</a:t>
            </a:r>
            <a:r>
              <a:rPr lang="en-US"/>
              <a:t> (e.g., wood) and ensure the surface is </a:t>
            </a:r>
            <a:r>
              <a:rPr lang="en-US" b="1"/>
              <a:t>dry and clean</a:t>
            </a:r>
            <a:r>
              <a:rPr lang="en-US"/>
              <a:t>.</a:t>
            </a:r>
            <a:endParaRPr/>
          </a:p>
          <a:p>
            <a:pPr>
              <a:defRPr/>
            </a:pPr>
            <a:r>
              <a:rPr lang="en-US" b="1"/>
              <a:t>Avoid leaving the kit unattended</a:t>
            </a:r>
            <a:br>
              <a:rPr lang="en-US"/>
            </a:br>
            <a:r>
              <a:rPr lang="en-US"/>
              <a:t>Do </a:t>
            </a:r>
            <a:r>
              <a:rPr lang="en-US" b="1"/>
              <a:t>not</a:t>
            </a:r>
            <a:r>
              <a:rPr lang="en-US"/>
              <a:t> keep the system powered on without supervision.</a:t>
            </a:r>
            <a:endParaRPr/>
          </a:p>
          <a:p>
            <a:pPr>
              <a:defRPr/>
            </a:pPr>
            <a:r>
              <a:rPr lang="en-GB" b="1"/>
              <a:t>Build and Test Incrementally</a:t>
            </a:r>
            <a:br>
              <a:rPr lang="en-US"/>
            </a:br>
            <a:r>
              <a:rPr lang="en-US"/>
              <a:t>Turn on the </a:t>
            </a:r>
            <a:r>
              <a:rPr lang="en-US" b="1"/>
              <a:t>microcontroller first</a:t>
            </a:r>
            <a:r>
              <a:rPr lang="en-US"/>
              <a:t>, then </a:t>
            </a:r>
            <a:r>
              <a:rPr lang="en-US" b="1"/>
              <a:t>build and test the circuit step-by-step</a:t>
            </a:r>
            <a:r>
              <a:rPr lang="en-US"/>
              <a:t>.</a:t>
            </a:r>
            <a:br>
              <a:rPr lang="en-US"/>
            </a:br>
            <a:r>
              <a:rPr lang="en-US"/>
              <a:t>Avoid wiring the entire system at once and powering it without intermediate testing.</a:t>
            </a:r>
            <a:endParaRPr/>
          </a:p>
          <a:p>
            <a:pPr marL="0" indent="0">
              <a:buNone/>
              <a:defRPr/>
            </a:pP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173219" name="Title 1"/>
          <p:cNvSpPr>
            <a:spLocks noGrp="1"/>
          </p:cNvSpPr>
          <p:nvPr>
            <p:ph type="title"/>
          </p:nvPr>
        </p:nvSpPr>
        <p:spPr bwMode="auto">
          <a:xfrm>
            <a:off x="695769" y="89166"/>
            <a:ext cx="10515600" cy="1103683"/>
          </a:xfrm>
        </p:spPr>
        <p:txBody>
          <a:bodyPr/>
          <a:lstStyle/>
          <a:p>
            <a:pPr>
              <a:defRPr/>
            </a:pPr>
            <a:r>
              <a:rPr lang="en-GB" sz="3600" b="1" i="0" u="none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Lab C1 - </a:t>
            </a:r>
            <a:r>
              <a:rPr sz="3600" b="1" i="0" u="none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RFID Reading &amp; Access Control System (MFRC522 + OLED)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004A1-5A80-4A34-F667-4E6CF6C50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90" y="1342069"/>
            <a:ext cx="4685427" cy="54267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066AC5-0AD2-B54A-5FF6-2FA7B8CC4E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69" y="1342068"/>
            <a:ext cx="5362322" cy="5426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514844" name="Title 1"/>
          <p:cNvSpPr>
            <a:spLocks noGrp="1"/>
          </p:cNvSpPr>
          <p:nvPr>
            <p:ph type="title"/>
          </p:nvPr>
        </p:nvSpPr>
        <p:spPr bwMode="auto">
          <a:xfrm>
            <a:off x="695769" y="17951"/>
            <a:ext cx="10515600" cy="1103683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rgbClr val="000000"/>
                </a:solidFill>
                <a:ea typeface="Calibri Light"/>
                <a:cs typeface="Calibri Light"/>
              </a:rPr>
              <a:t>Lab C1 - RFID Reading &amp; Access Control System (MFRC522 + OLED)</a:t>
            </a:r>
            <a:endParaRPr lang="en-GB" dirty="0"/>
          </a:p>
        </p:txBody>
      </p:sp>
      <p:sp>
        <p:nvSpPr>
          <p:cNvPr id="1035164756" name="Content Placeholder 2"/>
          <p:cNvSpPr>
            <a:spLocks noGrp="1"/>
          </p:cNvSpPr>
          <p:nvPr>
            <p:ph idx="1"/>
          </p:nvPr>
        </p:nvSpPr>
        <p:spPr bwMode="auto">
          <a:xfrm>
            <a:off x="739878" y="1121634"/>
            <a:ext cx="5095278" cy="5496474"/>
          </a:xfrm>
          <a:ln w="38100">
            <a:solidFill>
              <a:schemeClr val="accent1">
                <a:lumMod val="75000"/>
              </a:schemeClr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70000" lnSpcReduction="20000"/>
          </a:bodyPr>
          <a:lstStyle/>
          <a:p>
            <a:pPr>
              <a:defRPr/>
            </a:pPr>
            <a:endParaRPr lang="en-GB" sz="2400" b="1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Program 1: RFID / NFC UID Reader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✅ Recommended Heading</a:t>
            </a:r>
            <a:endParaRPr dirty="0"/>
          </a:p>
          <a:p>
            <a:pPr>
              <a:defRPr/>
            </a:pPr>
            <a:r>
              <a:rPr sz="1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RFID/NFC – UID Reading &amp; Identification Display (MFRC522 + OLED)</a:t>
            </a:r>
            <a:endParaRPr dirty="0"/>
          </a:p>
          <a:p>
            <a:pPr>
              <a:defRPr/>
            </a:pPr>
            <a:r>
              <a:rPr sz="1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Alternative headings:</a:t>
            </a:r>
            <a:endParaRPr dirty="0"/>
          </a:p>
          <a:p>
            <a:pPr>
              <a:defRPr/>
            </a:pP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RFID – Card UID Scanner with OLED Feedback</a:t>
            </a:r>
            <a:endParaRPr dirty="0"/>
          </a:p>
          <a:p>
            <a:pPr>
              <a:defRPr/>
            </a:pP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RFID Reader – UID Detection &amp; Display System</a:t>
            </a:r>
            <a:endParaRPr dirty="0"/>
          </a:p>
          <a:p>
            <a:pPr>
              <a:defRPr/>
            </a:pP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RFID/NFC – Simple Card Scanning &amp; UID Output</a:t>
            </a:r>
            <a:endParaRPr dirty="0"/>
          </a:p>
          <a:p>
            <a:pPr>
              <a:defRPr/>
            </a:pPr>
            <a:r>
              <a:rPr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⭐ Simple Code Explanation (RFID UID Reader)</a:t>
            </a:r>
            <a:endParaRPr dirty="0"/>
          </a:p>
          <a:p>
            <a:pPr>
              <a:defRPr/>
            </a:pPr>
            <a:r>
              <a:rPr sz="1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setup()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Start Serial monitor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Initialize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OLED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show “RFID Ready”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Initialize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RFID reader (MFRC522)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Display “Scan card…” message in Serial</a:t>
            </a:r>
            <a:endParaRPr dirty="0"/>
          </a:p>
          <a:p>
            <a:pPr>
              <a:defRPr/>
            </a:pPr>
            <a:r>
              <a:rPr sz="1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loop()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Check if a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new card is present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 card’s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UID bytes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Convert UID to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HEX string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Print UID in Serial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Display UID on OLED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Title: “RFID UID”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UID printed below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Small delay before next scan</a:t>
            </a:r>
            <a:endParaRPr dirty="0"/>
          </a:p>
        </p:txBody>
      </p:sp>
      <p:pic>
        <p:nvPicPr>
          <p:cNvPr id="1198827620" name="Picture 119882761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56846" y="1121634"/>
            <a:ext cx="4112663" cy="41639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95BDD0-21D0-7A2F-09D2-48B81D1E2F94}"/>
              </a:ext>
            </a:extLst>
          </p:cNvPr>
          <p:cNvSpPr txBox="1"/>
          <p:nvPr/>
        </p:nvSpPr>
        <p:spPr>
          <a:xfrm>
            <a:off x="5953569" y="5291465"/>
            <a:ext cx="5898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Github</a:t>
            </a:r>
            <a:r>
              <a:rPr lang="en-GB" b="1" dirty="0"/>
              <a:t> Link:</a:t>
            </a:r>
          </a:p>
          <a:p>
            <a:r>
              <a:rPr lang="en-GB" sz="1200" b="1" dirty="0"/>
              <a:t>(1). </a:t>
            </a:r>
            <a:r>
              <a:rPr lang="en-GB" sz="1200" b="1" dirty="0">
                <a:hlinkClick r:id="rId4"/>
              </a:rPr>
              <a:t>https://github.com/info-zas/Training/tree/main/GPREC/03_Communications/01_Code/01_Comm_Kit_RFIDCardInfo</a:t>
            </a:r>
            <a:endParaRPr lang="en-GB" sz="1200" b="1" dirty="0"/>
          </a:p>
          <a:p>
            <a:r>
              <a:rPr lang="en-GB" sz="1200" b="1" dirty="0"/>
              <a:t>(2). </a:t>
            </a:r>
            <a:r>
              <a:rPr lang="en-GB" sz="1200" b="1" dirty="0">
                <a:hlinkClick r:id="rId5"/>
              </a:rPr>
              <a:t>https://github.com/info-zas/Training/tree/main/GPREC/03_Communications/01_Code/02_Comm_Kit_RFIDCardReaderAccess</a:t>
            </a:r>
            <a:endParaRPr lang="en-GB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D929E-7628-9AE0-4E3C-F9CD47C98D6D}"/>
              </a:ext>
            </a:extLst>
          </p:cNvPr>
          <p:cNvSpPr txBox="1"/>
          <p:nvPr/>
        </p:nvSpPr>
        <p:spPr>
          <a:xfrm>
            <a:off x="7944465" y="3038168"/>
            <a:ext cx="12683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2227F-E4E2-DCCB-2747-E430565EC2F7}"/>
              </a:ext>
            </a:extLst>
          </p:cNvPr>
          <p:cNvSpPr txBox="1"/>
          <p:nvPr/>
        </p:nvSpPr>
        <p:spPr bwMode="auto">
          <a:xfrm>
            <a:off x="9311150" y="3509063"/>
            <a:ext cx="680542" cy="5456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944E1-7818-1A2C-07EB-060A794A3827}"/>
              </a:ext>
            </a:extLst>
          </p:cNvPr>
          <p:cNvSpPr txBox="1"/>
          <p:nvPr/>
        </p:nvSpPr>
        <p:spPr bwMode="auto">
          <a:xfrm>
            <a:off x="10112748" y="2604845"/>
            <a:ext cx="420192" cy="1648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164045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lvl="1" algn="l">
              <a:lnSpc>
                <a:spcPct val="90000"/>
              </a:lnSpc>
              <a:defRPr/>
            </a:pPr>
            <a:r>
              <a:rPr lang="en-GB" sz="3600" b="1" dirty="0">
                <a:solidFill>
                  <a:srgbClr val="000000"/>
                </a:solidFill>
                <a:latin typeface="+mj-lt"/>
                <a:ea typeface="Calibri Light"/>
                <a:cs typeface="Calibri Light"/>
              </a:rPr>
              <a:t>Lab C2 – Wireless Communication between Tx and Rx Using NRF24L01</a:t>
            </a:r>
          </a:p>
        </p:txBody>
      </p:sp>
      <p:sp>
        <p:nvSpPr>
          <p:cNvPr id="1742524601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477710"/>
            <a:ext cx="10515600" cy="4699252"/>
          </a:xfrm>
        </p:spPr>
        <p:txBody>
          <a:bodyPr/>
          <a:lstStyle/>
          <a:p>
            <a:pPr>
              <a:defRPr/>
            </a:pPr>
            <a:r>
              <a:rPr lang="en-GB" b="1" dirty="0"/>
              <a:t>Things Needed</a:t>
            </a:r>
            <a:endParaRPr dirty="0"/>
          </a:p>
        </p:txBody>
      </p:sp>
      <p:pic>
        <p:nvPicPr>
          <p:cNvPr id="1324253071" name="Picture 132425307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90937" y="1690688"/>
            <a:ext cx="2502335" cy="20029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63FF4-78F4-A461-90CF-6DC9E6F108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06" y="2082429"/>
            <a:ext cx="5389928" cy="4611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8E4B09-3E4F-D61E-FD8B-571347CE8B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96" y="2002554"/>
            <a:ext cx="4815979" cy="4120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37195-3F4E-B9CC-41D4-57320F44A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602" y="1899096"/>
            <a:ext cx="4936894" cy="42241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 algn="l">
              <a:lnSpc>
                <a:spcPct val="90000"/>
              </a:lnSpc>
              <a:defRPr/>
            </a:pPr>
            <a:r>
              <a:rPr lang="en-GB" sz="3600" b="1">
                <a:solidFill>
                  <a:srgbClr val="000000"/>
                </a:solidFill>
                <a:latin typeface="+mj-lt"/>
                <a:ea typeface="Calibri Light"/>
                <a:cs typeface="Calibri Light"/>
              </a:rPr>
              <a:t>Lab C2 – Wireless Communication between Tx and Rx Using NRF24L01</a:t>
            </a:r>
            <a:endParaRPr lang="en-GB" sz="3600" b="1" dirty="0">
              <a:solidFill>
                <a:srgbClr val="0000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DC7AB-BAC9-603B-ECAF-442224EDF8F9}"/>
              </a:ext>
            </a:extLst>
          </p:cNvPr>
          <p:cNvSpPr txBox="1"/>
          <p:nvPr/>
        </p:nvSpPr>
        <p:spPr bwMode="auto">
          <a:xfrm>
            <a:off x="1147916" y="2723536"/>
            <a:ext cx="21065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90774-822B-388A-7D67-A2D9D719D7DE}"/>
              </a:ext>
            </a:extLst>
          </p:cNvPr>
          <p:cNvSpPr txBox="1"/>
          <p:nvPr/>
        </p:nvSpPr>
        <p:spPr bwMode="auto">
          <a:xfrm>
            <a:off x="7022690" y="2524433"/>
            <a:ext cx="2106561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00DA0-45E6-9A27-42FA-8E4E29B509D8}"/>
              </a:ext>
            </a:extLst>
          </p:cNvPr>
          <p:cNvSpPr txBox="1"/>
          <p:nvPr/>
        </p:nvSpPr>
        <p:spPr bwMode="auto">
          <a:xfrm>
            <a:off x="3463995" y="3158323"/>
            <a:ext cx="1019515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25305-B8B8-15CE-421D-C77808736577}"/>
              </a:ext>
            </a:extLst>
          </p:cNvPr>
          <p:cNvSpPr txBox="1"/>
          <p:nvPr/>
        </p:nvSpPr>
        <p:spPr bwMode="auto">
          <a:xfrm>
            <a:off x="9437358" y="3106594"/>
            <a:ext cx="1019515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2D14A-7C4E-CF6B-9D27-F9409A8B1752}"/>
              </a:ext>
            </a:extLst>
          </p:cNvPr>
          <p:cNvSpPr txBox="1"/>
          <p:nvPr/>
        </p:nvSpPr>
        <p:spPr bwMode="auto">
          <a:xfrm>
            <a:off x="4483510" y="2586955"/>
            <a:ext cx="1149202" cy="5196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6791F-3691-C635-FD9E-5145F6DE2E4E}"/>
              </a:ext>
            </a:extLst>
          </p:cNvPr>
          <p:cNvSpPr txBox="1"/>
          <p:nvPr/>
        </p:nvSpPr>
        <p:spPr bwMode="auto">
          <a:xfrm>
            <a:off x="10456873" y="2457077"/>
            <a:ext cx="1149202" cy="5196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BDBF4-30DE-4B62-0C5A-73F8D545BD11}"/>
              </a:ext>
            </a:extLst>
          </p:cNvPr>
          <p:cNvSpPr txBox="1"/>
          <p:nvPr/>
        </p:nvSpPr>
        <p:spPr>
          <a:xfrm>
            <a:off x="2611512" y="6174955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 Transmitter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BA230-E3F7-FA30-0966-56E280A45FC7}"/>
              </a:ext>
            </a:extLst>
          </p:cNvPr>
          <p:cNvSpPr txBox="1"/>
          <p:nvPr/>
        </p:nvSpPr>
        <p:spPr>
          <a:xfrm>
            <a:off x="8348635" y="6141041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 Receiver</a:t>
            </a:r>
          </a:p>
        </p:txBody>
      </p:sp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691452" name="Content Placeholder 2"/>
          <p:cNvSpPr>
            <a:spLocks noGrp="1"/>
          </p:cNvSpPr>
          <p:nvPr>
            <p:ph idx="1"/>
          </p:nvPr>
        </p:nvSpPr>
        <p:spPr bwMode="auto">
          <a:xfrm>
            <a:off x="453059" y="1203736"/>
            <a:ext cx="11087099" cy="554586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20000"/>
          </a:bodyPr>
          <a:lstStyle/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NRF24L01 – Transmitter &amp; Receiver Workflow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Setup Transmitter &amp; Receiver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Configure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+ NRF24L01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SPI pins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OLED display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feedback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 matching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radio address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TX/RX</a:t>
            </a:r>
            <a:endParaRPr dirty="0"/>
          </a:p>
          <a:p>
            <a:pPr>
              <a:defRPr/>
            </a:pPr>
            <a:r>
              <a:rPr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NRF24 Communication Workflow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🔵 Transmitter Side (TX)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reads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potentiometer value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Formats message as: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PotValue:XXXX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Sends packet using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NRF24L01 @ 2.4 GHz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(32-byte payload)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OLED shows: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“Sent: XXXX”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Uses SPI pins (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CE, CSN, SCK, MOSI, MISO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NRF24 Wireless Link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Short-range,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high-speed 2.4 GHz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radio link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Ideal for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robot-to-robot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remote sensors, wireless controllers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power, reliable packet system with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auto-acknowledge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nodes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via unique radio addresses</a:t>
            </a:r>
            <a:endParaRPr dirty="0"/>
          </a:p>
          <a:p>
            <a:pPr>
              <a:defRPr/>
            </a:pPr>
            <a:r>
              <a:rPr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Receiver Side (RX)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detects packets using </a:t>
            </a:r>
            <a:r>
              <a:rPr sz="12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radio.available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Reads data with </a:t>
            </a:r>
            <a:r>
              <a:rPr sz="12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radio.read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Extracts potentiometer value from received message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OLED displays: 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12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Recv</a:t>
            </a:r>
            <a:r>
              <a:rPr sz="1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XXXX”</a:t>
            </a:r>
            <a:endParaRPr dirty="0"/>
          </a:p>
        </p:txBody>
      </p:sp>
      <p:pic>
        <p:nvPicPr>
          <p:cNvPr id="2087965436" name="Picture 208796543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90743" y="1325563"/>
            <a:ext cx="5563666" cy="312728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5C6990A-7164-3D64-714A-E7AF2803A1F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38809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 algn="l">
              <a:lnSpc>
                <a:spcPct val="90000"/>
              </a:lnSpc>
              <a:defRPr/>
            </a:pPr>
            <a:r>
              <a:rPr lang="en-GB" sz="3600" b="1" dirty="0">
                <a:solidFill>
                  <a:srgbClr val="000000"/>
                </a:solidFill>
                <a:latin typeface="+mj-lt"/>
                <a:ea typeface="Calibri Light"/>
                <a:cs typeface="Calibri Light"/>
              </a:rPr>
              <a:t>Lab C2 – Wireless Communication between Tx and Rx Using NRF24L01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D35FD-BBD4-8B8E-1D9F-D44B0FD06A46}"/>
              </a:ext>
            </a:extLst>
          </p:cNvPr>
          <p:cNvSpPr txBox="1"/>
          <p:nvPr/>
        </p:nvSpPr>
        <p:spPr bwMode="auto">
          <a:xfrm>
            <a:off x="5521423" y="4516774"/>
            <a:ext cx="640387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Github</a:t>
            </a:r>
            <a:r>
              <a:rPr lang="en-GB" b="1" dirty="0"/>
              <a:t> Link:</a:t>
            </a:r>
          </a:p>
          <a:p>
            <a:r>
              <a:rPr lang="en-GB" sz="1400" b="1" dirty="0"/>
              <a:t>(1). </a:t>
            </a:r>
            <a:r>
              <a:rPr lang="en-GB" sz="1400" b="1" dirty="0">
                <a:hlinkClick r:id="rId4"/>
              </a:rPr>
              <a:t>https://github.com/info-zas/Training/tree/main/GPREC/03_Communications/01_Code/03_Comm_Kit_NRF24L01_Transmitter_Encoder_Value</a:t>
            </a:r>
            <a:endParaRPr lang="en-GB" sz="1400" b="1" dirty="0"/>
          </a:p>
          <a:p>
            <a:r>
              <a:rPr lang="en-GB" sz="1400" b="1" dirty="0"/>
              <a:t>(2). </a:t>
            </a:r>
            <a:r>
              <a:rPr lang="en-GB" sz="1400" b="1" dirty="0">
                <a:hlinkClick r:id="rId5"/>
              </a:rPr>
              <a:t>https://github.com/info-zas/Training/tree/main/GPREC/03_Communications/01_Code/04_Comm_Kit_NRF24L01_Receiver_Encoder_Value</a:t>
            </a:r>
            <a:endParaRPr lang="en-GB" sz="1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EE8F-53EF-B55D-3263-0F001096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Lab C3 – SD Card Module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A4216-8C4E-E060-B269-80CB26FDC7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58" y="1212574"/>
            <a:ext cx="4371028" cy="5645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24588A-02DD-CD91-6CDC-9CF6492772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384" y="1690688"/>
            <a:ext cx="4834218" cy="43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73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D924-5551-841F-0565-74D1BA0D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Lab C3 – SD Card Module 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DD41A-A69D-3C3D-96AF-910BB4C0B421}"/>
              </a:ext>
            </a:extLst>
          </p:cNvPr>
          <p:cNvSpPr txBox="1"/>
          <p:nvPr/>
        </p:nvSpPr>
        <p:spPr bwMode="auto">
          <a:xfrm>
            <a:off x="9412356" y="5943600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Github</a:t>
            </a:r>
            <a:r>
              <a:rPr lang="en-GB" b="1" dirty="0"/>
              <a:t> Link: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CC090-2544-7E3B-4948-A679FD2AA5B6}"/>
              </a:ext>
            </a:extLst>
          </p:cNvPr>
          <p:cNvSpPr txBox="1"/>
          <p:nvPr/>
        </p:nvSpPr>
        <p:spPr>
          <a:xfrm>
            <a:off x="838200" y="1839686"/>
            <a:ext cx="57887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Discuss the SD Card Module –</a:t>
            </a:r>
          </a:p>
          <a:p>
            <a:pPr marL="342900" indent="-342900">
              <a:buAutoNum type="alphaLcParenBoth"/>
            </a:pPr>
            <a:r>
              <a:rPr lang="en-GB" dirty="0"/>
              <a:t>The SD Card Pin Layout</a:t>
            </a:r>
          </a:p>
          <a:p>
            <a:pPr marL="342900" indent="-342900">
              <a:buAutoNum type="alphaLcParenBoth"/>
            </a:pPr>
            <a:r>
              <a:rPr lang="en-GB" dirty="0"/>
              <a:t>SD Card formatting requirements</a:t>
            </a:r>
          </a:p>
          <a:p>
            <a:pPr marL="342900" indent="-342900">
              <a:buAutoNum type="alphaLcParenBoth"/>
            </a:pPr>
            <a:r>
              <a:rPr lang="en-GB" dirty="0"/>
              <a:t>Practice the SD Card orientation for insertion &amp; removal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079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7B1D-1C1A-AD47-87FA-76500DF6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728C2A-E1A0-49E0-C7E0-CFC082B63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63555"/>
            <a:ext cx="1016321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explored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Kit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lang="en-US" altLang="en-US" dirty="0">
                <a:latin typeface="Arial" panose="020B0604020202020204" pitchFamily="34" charset="0"/>
              </a:rPr>
              <a:t>final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kit in the ZAS Robotics Foundational Series.</a:t>
            </a:r>
            <a:endParaRPr lang="en-US" altLang="en-US" dirty="0">
              <a:latin typeface="Arial" panose="020B0604020202020204" pitchFamily="34" charset="0"/>
            </a:endParaRPr>
          </a:p>
          <a:p>
            <a:pPr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focused on </a:t>
            </a:r>
            <a:r>
              <a:rPr lang="en-US" altLang="en-US" dirty="0">
                <a:latin typeface="Arial" panose="020B0604020202020204" pitchFamily="34" charset="0"/>
              </a:rPr>
              <a:t>using various communication technologies such as RFID, NRF, LoRa, IT, Bluetooth.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Labs Covered:</a:t>
            </a:r>
          </a:p>
          <a:p>
            <a:pPr lvl="1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800" b="1" kern="1200" dirty="0">
                <a:latin typeface="Aptos" panose="02110004020202020204"/>
              </a:rPr>
              <a:t>Lab C1 – RFID</a:t>
            </a:r>
          </a:p>
          <a:p>
            <a:pPr lvl="1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800" b="1" kern="1200" dirty="0">
                <a:latin typeface="Aptos" panose="02110004020202020204"/>
              </a:rPr>
              <a:t>Lab C2 – Wireless Communication between Tx and Rx Using NRF24L01</a:t>
            </a:r>
          </a:p>
          <a:p>
            <a:pPr lvl="1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800" b="1" dirty="0"/>
              <a:t>Lab C3 – SD Card Module 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Sessions: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will explore the ZAS Robotics Navigational Series (Car 1, Car 2, Car 3).</a:t>
            </a:r>
          </a:p>
        </p:txBody>
      </p:sp>
    </p:spTree>
    <p:extLst>
      <p:ext uri="{BB962C8B-B14F-4D97-AF65-F5344CB8AC3E}">
        <p14:creationId xmlns:p14="http://schemas.microsoft.com/office/powerpoint/2010/main" val="2553243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Widescreen</PresentationFormat>
  <Paragraphs>113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2_Office Theme</vt:lpstr>
      <vt:lpstr>ZAS Robotics (Communication Kit) Training</vt:lpstr>
      <vt:lpstr>Communications</vt:lpstr>
      <vt:lpstr>Communication Kit (Contents)</vt:lpstr>
      <vt:lpstr>Communication Creative Board</vt:lpstr>
      <vt:lpstr>Kit 3 Communication Creative Board - Features</vt:lpstr>
      <vt:lpstr>Health &amp; Safety Precautions</vt:lpstr>
      <vt:lpstr>Lab C1 - RFID Reading &amp; Access Control System (MFRC522 + OLED)</vt:lpstr>
      <vt:lpstr>Lab C1 - RFID Reading &amp; Access Control System (MFRC522 + OLED)</vt:lpstr>
      <vt:lpstr>Lab C2 – Wireless Communication between Tx and Rx Using NRF24L01</vt:lpstr>
      <vt:lpstr>PowerPoint Presentation</vt:lpstr>
      <vt:lpstr>Lab C2 – Wireless Communication between Tx and Rx Using NRF24L01</vt:lpstr>
      <vt:lpstr>Lab C3 – SD Card Module </vt:lpstr>
      <vt:lpstr>Lab C3 – SD Card Module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88</cp:revision>
  <dcterms:created xsi:type="dcterms:W3CDTF">2025-11-13T13:02:47Z</dcterms:created>
  <dcterms:modified xsi:type="dcterms:W3CDTF">2025-11-24T22:40:08Z</dcterms:modified>
</cp:coreProperties>
</file>