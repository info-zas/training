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7"/>
  </p:notesMasterIdLst>
  <p:sldIdLst>
    <p:sldId id="256" r:id="rId3"/>
    <p:sldId id="269" r:id="rId4"/>
    <p:sldId id="258" r:id="rId5"/>
    <p:sldId id="259" r:id="rId6"/>
    <p:sldId id="260" r:id="rId7"/>
    <p:sldId id="261" r:id="rId8"/>
    <p:sldId id="266" r:id="rId9"/>
    <p:sldId id="267" r:id="rId10"/>
    <p:sldId id="264" r:id="rId11"/>
    <p:sldId id="270" r:id="rId12"/>
    <p:sldId id="265" r:id="rId13"/>
    <p:sldId id="272" r:id="rId14"/>
    <p:sldId id="27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921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381376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16973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883708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217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63429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16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85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56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9962B-3B3C-CD16-CF97-8806D4E439C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2625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2841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59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FF2E9-488C-C2DD-99BD-96FB86CF33E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44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252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17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9EA87D-8652-58FE-0A40-1D9E139BF09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695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5051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899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949ECF-86E5-C7AB-DDE3-C0E50DBC9EB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9913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306147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0237647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6539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7402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61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8265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289017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109026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56398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1227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4477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2315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311971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74130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3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71508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22175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3771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43796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37603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9679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52125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6917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57039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5662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060177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785624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13349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646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733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59521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540070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150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55561468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0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1564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01039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63706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84125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8464757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716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208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55716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539654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4169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831359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46039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90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6320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81562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0488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6306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9433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03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11024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646070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618194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585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108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823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81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286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6103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029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43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799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0248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911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9566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84670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7137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4913095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62376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085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Training/tree/main/GPREC/03_Communications/01_Code/02_Comm_Kit_RFIDCardReaderAccess" TargetMode="External"/><Relationship Id="rId4" Type="http://schemas.openxmlformats.org/officeDocument/2006/relationships/hyperlink" Target="https://github.com/info-zas/Training/tree/main/GPREC/03_Communications/01_Code/01_Comm_Kit_RFIDCardInfo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Training/tree/main/GPREC/03_Communications/01_Code/04_Comm_Kit_NRF24L01_Receiver_Encoder_Value" TargetMode="External"/><Relationship Id="rId4" Type="http://schemas.openxmlformats.org/officeDocument/2006/relationships/hyperlink" Target="https://github.com/info-zas/Training/tree/main/GPREC/03_Communications/01_Code/03_Comm_Kit_NRF24L01_Transmitter_Encoder_Valu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846097" name="Title 1"/>
          <p:cNvSpPr>
            <a:spLocks noGrp="1"/>
          </p:cNvSpPr>
          <p:nvPr>
            <p:ph type="ctrTitle"/>
          </p:nvPr>
        </p:nvSpPr>
        <p:spPr bwMode="auto">
          <a:xfrm>
            <a:off x="1293743" y="2066235"/>
            <a:ext cx="9604513" cy="2387600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GB" b="1" dirty="0"/>
              <a:t>ZAS Robotics </a:t>
            </a:r>
            <a:r>
              <a:rPr lang="en-US" b="1" dirty="0"/>
              <a:t>(Communication</a:t>
            </a:r>
            <a:r>
              <a:rPr lang="en-GB" b="1" dirty="0"/>
              <a:t>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Communication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C1 - RFID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C2 – Wireless Communication between Tx and R</a:t>
            </a:r>
            <a:r>
              <a:rPr lang="en-GB" sz="2400" kern="1200" dirty="0">
                <a:solidFill>
                  <a:srgbClr val="F9CB40"/>
                </a:solidFill>
                <a:latin typeface="Aptos" panose="02110004020202020204"/>
              </a:rPr>
              <a:t>x Using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C3 - SD Card module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 practice memory card insertion/removal/formatting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699934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/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 b="1"/>
              <a:t>Communication</a:t>
            </a:r>
            <a:r>
              <a:rPr lang="en-GB" b="1"/>
              <a:t> Kit (Contents)</a:t>
            </a:r>
            <a:endParaRPr/>
          </a:p>
        </p:txBody>
      </p:sp>
      <p:sp>
        <p:nvSpPr>
          <p:cNvPr id="165207472" name="TextBox 20"/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  <p:sp>
        <p:nvSpPr>
          <p:cNvPr id="1915249791" name="TextBox 45"/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pic>
        <p:nvPicPr>
          <p:cNvPr id="2032215715" name="Picture 203221571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845384-6C17-0B8F-F564-E3BBE0A332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508" y="1477756"/>
            <a:ext cx="4197264" cy="4263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73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GB" b="1"/>
              <a:t> Creative Board</a:t>
            </a:r>
            <a:endParaRPr/>
          </a:p>
        </p:txBody>
      </p:sp>
      <p:sp>
        <p:nvSpPr>
          <p:cNvPr id="971918876" name="TextBox 2"/>
          <p:cNvSpPr txBox="1"/>
          <p:nvPr/>
        </p:nvSpPr>
        <p:spPr bwMode="auto">
          <a:xfrm>
            <a:off x="1445340" y="6140865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Bare Board</a:t>
            </a:r>
            <a:endParaRPr dirty="0"/>
          </a:p>
        </p:txBody>
      </p:sp>
      <p:sp>
        <p:nvSpPr>
          <p:cNvPr id="402039559" name="TextBox 3"/>
          <p:cNvSpPr txBox="1"/>
          <p:nvPr/>
        </p:nvSpPr>
        <p:spPr bwMode="auto">
          <a:xfrm>
            <a:off x="6925582" y="6123543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</a:t>
            </a:r>
            <a:r>
              <a:rPr lang="en-US" b="1" dirty="0"/>
              <a:t>ESP32</a:t>
            </a:r>
            <a:r>
              <a:rPr lang="en-GB" b="1" dirty="0"/>
              <a:t> Mounted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AAFC16-871D-6F93-7289-2E116C823C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86" y="1263312"/>
            <a:ext cx="4862629" cy="4939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595C7-0460-6687-2A1B-04D906B45E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495" y="1263312"/>
            <a:ext cx="4948691" cy="48775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b="1"/>
              <a:t>Kit </a:t>
            </a:r>
            <a:r>
              <a:rPr lang="en-US" b="1"/>
              <a:t>3</a:t>
            </a:r>
            <a:r>
              <a:rPr lang="en-GB" b="1"/>
              <a:t> 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Calibri Light"/>
                <a:ea typeface="Arial"/>
                <a:cs typeface="Arial"/>
              </a:rPr>
              <a:t> </a:t>
            </a:r>
            <a:r>
              <a:rPr lang="en-GB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Creative Board - Features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0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ptos"/>
              </a:rPr>
              <a:t>Health &amp; Safety Precautions</a:t>
            </a:r>
            <a:endParaRPr lang="en-GB"/>
          </a:p>
        </p:txBody>
      </p:sp>
      <p:sp>
        <p:nvSpPr>
          <p:cNvPr id="14845892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b="1"/>
              <a:t>Double-check all power connections</a:t>
            </a:r>
            <a:br>
              <a:rPr lang="en-US"/>
            </a:br>
            <a:r>
              <a:rPr lang="en-US"/>
              <a:t>Ensure correct </a:t>
            </a:r>
            <a:r>
              <a:rPr lang="en-US" b="1"/>
              <a:t>GND</a:t>
            </a:r>
            <a:r>
              <a:rPr lang="en-US"/>
              <a:t> and </a:t>
            </a:r>
            <a:r>
              <a:rPr lang="en-US" b="1"/>
              <a:t>VCC</a:t>
            </a:r>
            <a:r>
              <a:rPr lang="en-US"/>
              <a:t> wiring for the power supply, OLED, motor drivers, GPS, sensors, and other modules.</a:t>
            </a:r>
            <a:endParaRPr/>
          </a:p>
          <a:p>
            <a:pPr>
              <a:defRPr/>
            </a:pPr>
            <a:r>
              <a:rPr lang="en-US" b="1"/>
              <a:t>Use the correct input voltage</a:t>
            </a:r>
            <a:br>
              <a:rPr lang="en-US"/>
            </a:br>
            <a:r>
              <a:rPr lang="en-US"/>
              <a:t>Battery input should be </a:t>
            </a:r>
            <a:r>
              <a:rPr lang="en-US" b="1"/>
              <a:t>between 5V and 12V</a:t>
            </a:r>
            <a:r>
              <a:rPr lang="en-US"/>
              <a:t> only.</a:t>
            </a:r>
            <a:endParaRPr/>
          </a:p>
          <a:p>
            <a:pPr>
              <a:defRPr/>
            </a:pPr>
            <a:r>
              <a:rPr lang="en-US" b="1"/>
              <a:t>Work on a safe surface</a:t>
            </a:r>
            <a:br>
              <a:rPr lang="en-US"/>
            </a:br>
            <a:r>
              <a:rPr lang="en-US"/>
              <a:t>Use the kit on an </a:t>
            </a:r>
            <a:r>
              <a:rPr lang="en-US" b="1"/>
              <a:t>insulated table</a:t>
            </a:r>
            <a:r>
              <a:rPr lang="en-US"/>
              <a:t> (e.g., wood) and ensure the surface is </a:t>
            </a:r>
            <a:r>
              <a:rPr lang="en-US" b="1"/>
              <a:t>dry and clean</a:t>
            </a:r>
            <a:r>
              <a:rPr lang="en-US"/>
              <a:t>.</a:t>
            </a:r>
            <a:endParaRPr/>
          </a:p>
          <a:p>
            <a:pPr>
              <a:defRPr/>
            </a:pPr>
            <a:r>
              <a:rPr lang="en-US" b="1"/>
              <a:t>Avoid leaving the kit unattended</a:t>
            </a:r>
            <a:br>
              <a:rPr lang="en-US"/>
            </a:br>
            <a:r>
              <a:rPr lang="en-US"/>
              <a:t>Do </a:t>
            </a:r>
            <a:r>
              <a:rPr lang="en-US" b="1"/>
              <a:t>not</a:t>
            </a:r>
            <a:r>
              <a:rPr lang="en-US"/>
              <a:t> keep the system powered on without supervision.</a:t>
            </a:r>
            <a:endParaRPr/>
          </a:p>
          <a:p>
            <a:pPr>
              <a:defRPr/>
            </a:pPr>
            <a:r>
              <a:rPr lang="en-GB" b="1"/>
              <a:t>Build and Test Incrementally</a:t>
            </a:r>
            <a:br>
              <a:rPr lang="en-US"/>
            </a:br>
            <a:r>
              <a:rPr lang="en-US"/>
              <a:t>Turn on the </a:t>
            </a:r>
            <a:r>
              <a:rPr lang="en-US" b="1"/>
              <a:t>microcontroller first</a:t>
            </a:r>
            <a:r>
              <a:rPr lang="en-US"/>
              <a:t>, then </a:t>
            </a:r>
            <a:r>
              <a:rPr lang="en-US" b="1"/>
              <a:t>build and test the circuit step-by-step</a:t>
            </a:r>
            <a:r>
              <a:rPr lang="en-US"/>
              <a:t>.</a:t>
            </a:r>
            <a:br>
              <a:rPr lang="en-US"/>
            </a:br>
            <a:r>
              <a:rPr lang="en-US"/>
              <a:t>Avoid wiring the entire system at once and powering it without intermediate testing.</a:t>
            </a:r>
            <a:endParaRPr/>
          </a:p>
          <a:p>
            <a:pPr marL="0" indent="0">
              <a:buNone/>
              <a:defRPr/>
            </a:pPr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Lab C1 - </a:t>
            </a:r>
            <a:r>
              <a:rPr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RFID Reading &amp; Access Control System (MFRC522 + OLED)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9" y="17951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US" sz="3600" b="1" dirty="0">
                <a:solidFill>
                  <a:srgbClr val="000000"/>
                </a:solidFill>
                <a:ea typeface="Calibri Light"/>
                <a:cs typeface="Calibri Light"/>
              </a:rPr>
              <a:t>Lab C1 - RFID Reading &amp; Access Control System (MFRC522 + OLED)</a:t>
            </a:r>
            <a:endParaRPr lang="en-GB" dirty="0"/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0000" lnSpcReduction="20000"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Program 1: RFID / NFC UID Reader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✅ Recommended Heading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UID Reading &amp; Identification Display (MFRC522 + OLED)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Alternative headings: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– Card UID Scanner with OLED Feedback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– UID Detection &amp; Display System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Simple Card Scanning &amp; UID Output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⭐ Simple Code Explanation (RFID 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pic>
        <p:nvPicPr>
          <p:cNvPr id="1198827620" name="Picture 11988276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356846" y="1121634"/>
            <a:ext cx="4112663" cy="41639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5953569" y="5291465"/>
            <a:ext cx="58985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  <a:p>
            <a:r>
              <a:rPr lang="en-GB" sz="1200" b="1" dirty="0"/>
              <a:t>(1). </a:t>
            </a:r>
            <a:r>
              <a:rPr lang="en-GB" sz="1200" b="1" dirty="0">
                <a:hlinkClick r:id="rId4"/>
              </a:rPr>
              <a:t>https://github.com/info-zas/Training/tree/main/GPREC/03_Communications/01_Code/01_Comm_Kit_RFIDCardInfo</a:t>
            </a:r>
            <a:endParaRPr lang="en-GB" sz="1200" b="1" dirty="0"/>
          </a:p>
          <a:p>
            <a:r>
              <a:rPr lang="en-GB" sz="1200" b="1" dirty="0"/>
              <a:t>(2). </a:t>
            </a:r>
            <a:r>
              <a:rPr lang="en-GB" sz="1200" b="1" dirty="0">
                <a:hlinkClick r:id="rId5"/>
              </a:rPr>
              <a:t>https://github.com/info-zas/Training/tree/main/GPREC/03_Communications/01_Code/02_Comm_Kit_RFIDCardReaderAccess</a:t>
            </a:r>
            <a:endParaRPr lang="en-GB" sz="1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6D929E-7628-9AE0-4E3C-F9CD47C98D6D}"/>
              </a:ext>
            </a:extLst>
          </p:cNvPr>
          <p:cNvSpPr txBox="1"/>
          <p:nvPr/>
        </p:nvSpPr>
        <p:spPr>
          <a:xfrm>
            <a:off x="7944465" y="3038168"/>
            <a:ext cx="12683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2227F-E4E2-DCCB-2747-E430565EC2F7}"/>
              </a:ext>
            </a:extLst>
          </p:cNvPr>
          <p:cNvSpPr txBox="1"/>
          <p:nvPr/>
        </p:nvSpPr>
        <p:spPr bwMode="auto">
          <a:xfrm>
            <a:off x="9311150" y="3509063"/>
            <a:ext cx="680542" cy="5456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944E1-7818-1A2C-07EB-060A794A3827}"/>
              </a:ext>
            </a:extLst>
          </p:cNvPr>
          <p:cNvSpPr txBox="1"/>
          <p:nvPr/>
        </p:nvSpPr>
        <p:spPr bwMode="auto">
          <a:xfrm>
            <a:off x="10112748" y="2604845"/>
            <a:ext cx="420192" cy="16483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164045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1742524601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477710"/>
            <a:ext cx="10515600" cy="4699252"/>
          </a:xfrm>
        </p:spPr>
        <p:txBody>
          <a:bodyPr/>
          <a:lstStyle/>
          <a:p>
            <a:pPr>
              <a:defRPr/>
            </a:pPr>
            <a:r>
              <a:rPr lang="en-GB" b="1" dirty="0"/>
              <a:t>Things Needed</a:t>
            </a:r>
            <a:endParaRPr dirty="0"/>
          </a:p>
        </p:txBody>
      </p:sp>
      <p:pic>
        <p:nvPicPr>
          <p:cNvPr id="1324253071" name="Picture 132425307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990937" y="1690688"/>
            <a:ext cx="2502335" cy="20029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63FF4-78F4-A461-90CF-6DC9E6F108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06" y="2082429"/>
            <a:ext cx="5389928" cy="46117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 algn="l">
              <a:lnSpc>
                <a:spcPct val="90000"/>
              </a:lnSpc>
              <a:defRPr/>
            </a:pPr>
            <a:r>
              <a:rPr lang="en-GB" sz="3600" b="1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  <a:endParaRPr lang="en-GB" sz="3600" b="1" dirty="0">
              <a:solidFill>
                <a:srgbClr val="0000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453059" y="1203736"/>
            <a:ext cx="11087099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– Transmitter &amp; Receiver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Setup Transmitter &amp; Receiver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Configure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+ NRF24L01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on SPI pins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feedback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 matching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 address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TX/RX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NRF24 Communication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🔵 Transmitter Side (TX)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reads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potentiometer value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Formats message as: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PotValue:XXXX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Sends packet using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@ 2.4 GHz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(32-byte payload)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shows: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“Sent: XXXX”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Uses SPI pins (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CE, CSN, SCK, MOSI, MISO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 Wireless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Short-range,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high-speed 2.4 GHz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radio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Ideal for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robot-to-robot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remote sensors, wireless controllers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auto-acknowledge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nodes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via unique radio addresses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Receiver Side (RX)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detects packets using 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radio.available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Reads data with 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radio.read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potentiometer value from received message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Recv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XXXX”</a:t>
            </a:r>
            <a:endParaRPr dirty="0"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90743" y="132556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5521423" y="4516774"/>
            <a:ext cx="640387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  <a:p>
            <a:r>
              <a:rPr lang="en-GB" sz="1400" b="1" dirty="0"/>
              <a:t>(1). </a:t>
            </a:r>
            <a:r>
              <a:rPr lang="en-GB" sz="1400" b="1" dirty="0">
                <a:hlinkClick r:id="rId4"/>
              </a:rPr>
              <a:t>https://github.com/info-zas/Training/tree/main/GPREC/03_Communications/01_Code/03_Comm_Kit_NRF24L01_Transmitter_Encoder_Value</a:t>
            </a:r>
            <a:endParaRPr lang="en-GB" sz="1400" b="1" dirty="0"/>
          </a:p>
          <a:p>
            <a:r>
              <a:rPr lang="en-GB" sz="1400" b="1" dirty="0"/>
              <a:t>(2). </a:t>
            </a:r>
            <a:r>
              <a:rPr lang="en-GB" sz="1400" b="1" dirty="0">
                <a:hlinkClick r:id="rId5"/>
              </a:rPr>
              <a:t>https://github.com/info-zas/Training/tree/main/GPREC/03_Communications/01_Code/04_Comm_Kit_NRF24L01_Receiver_Encoder_Value</a:t>
            </a:r>
            <a:endParaRPr lang="en-GB" sz="1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EE8F-53EF-B55D-3263-0F001096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A4216-8C4E-E060-B269-80CB26FDC7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8" y="1212574"/>
            <a:ext cx="4371028" cy="564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24588A-02DD-CD91-6CDC-9CF6492772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384" y="1690688"/>
            <a:ext cx="4834218" cy="439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7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D924-5551-841F-0565-74D1BA0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DD41A-A69D-3C3D-96AF-910BB4C0B421}"/>
              </a:ext>
            </a:extLst>
          </p:cNvPr>
          <p:cNvSpPr txBox="1"/>
          <p:nvPr/>
        </p:nvSpPr>
        <p:spPr bwMode="auto">
          <a:xfrm>
            <a:off x="9412356" y="5943600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CC090-2544-7E3B-4948-A679FD2AA5B6}"/>
              </a:ext>
            </a:extLst>
          </p:cNvPr>
          <p:cNvSpPr txBox="1"/>
          <p:nvPr/>
        </p:nvSpPr>
        <p:spPr>
          <a:xfrm>
            <a:off x="838200" y="1839686"/>
            <a:ext cx="57887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Discuss the SD Card Module –</a:t>
            </a:r>
          </a:p>
          <a:p>
            <a:pPr marL="342900" indent="-342900">
              <a:buAutoNum type="alphaLcParenBoth"/>
            </a:pPr>
            <a:r>
              <a:rPr lang="en-GB" dirty="0"/>
              <a:t>The SD Card Pin Layout</a:t>
            </a:r>
          </a:p>
          <a:p>
            <a:pPr marL="342900" indent="-342900">
              <a:buAutoNum type="alphaLcParenBoth"/>
            </a:pPr>
            <a:r>
              <a:rPr lang="en-GB" dirty="0"/>
              <a:t>SD Card formatting requirements</a:t>
            </a:r>
          </a:p>
          <a:p>
            <a:pPr marL="342900" indent="-342900">
              <a:buAutoNum type="alphaLcParenBoth"/>
            </a:pPr>
            <a:r>
              <a:rPr lang="en-GB" dirty="0"/>
              <a:t>Practice the SD Card orientation for insertion &amp; removal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7079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7B1D-1C1A-AD47-87FA-76500DF68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728C2A-E1A0-49E0-C7E0-CFC082B63F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63555"/>
            <a:ext cx="1016321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</a:t>
            </a:r>
            <a:r>
              <a:rPr lang="en-US" altLang="en-US" dirty="0">
                <a:latin typeface="Arial" panose="020B0604020202020204" pitchFamily="34" charset="0"/>
              </a:rPr>
              <a:t>final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kit in the ZAS Robotics Foundational Series.</a:t>
            </a:r>
            <a:endParaRPr lang="en-US" altLang="en-US" dirty="0">
              <a:latin typeface="Arial" panose="020B0604020202020204" pitchFamily="34" charset="0"/>
            </a:endParaRP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focused on </a:t>
            </a:r>
            <a:r>
              <a:rPr lang="en-US" altLang="en-US" dirty="0">
                <a:latin typeface="Arial" panose="020B0604020202020204" pitchFamily="34" charset="0"/>
              </a:rPr>
              <a:t>using various communication technologies such as RFID, NRF, LoRa, IT, Bluetooth.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Labs Covered: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C1 – RFID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C2 – Wireless Communication between Tx and Rx Using NRF24L01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dirty="0"/>
              <a:t>Lab C3 – SD Card Module </a:t>
            </a:r>
            <a:endParaRPr lang="en-US" altLang="en-US" sz="2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ZAS Robotics Navigational Series (Car 1, Car 2, Car 3).</a:t>
            </a:r>
          </a:p>
        </p:txBody>
      </p:sp>
    </p:spTree>
    <p:extLst>
      <p:ext uri="{BB962C8B-B14F-4D97-AF65-F5344CB8AC3E}">
        <p14:creationId xmlns:p14="http://schemas.microsoft.com/office/powerpoint/2010/main" val="255324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922</Words>
  <Application>Microsoft Office PowerPoint</Application>
  <PresentationFormat>Widescreen</PresentationFormat>
  <Paragraphs>129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2_Office Theme</vt:lpstr>
      <vt:lpstr>ZAS Robotics (Communication Kit) Training</vt:lpstr>
      <vt:lpstr>Communications</vt:lpstr>
      <vt:lpstr>Communication Kit (Contents)</vt:lpstr>
      <vt:lpstr>Communication Creative Board</vt:lpstr>
      <vt:lpstr>Kit 3 Communication Creative Board - Features</vt:lpstr>
      <vt:lpstr>Health &amp; Safety Precautions</vt:lpstr>
      <vt:lpstr>Lab C1 - RFID Reading &amp; Access Control System (MFRC522 + OLED)</vt:lpstr>
      <vt:lpstr>Lab C1 - RFID Reading &amp; Access Control System (MFRC522 + OLED)</vt:lpstr>
      <vt:lpstr>Lab C2 – Wireless Communication between Tx and Rx Using NRF24L01</vt:lpstr>
      <vt:lpstr>PowerPoint Presentation</vt:lpstr>
      <vt:lpstr>Lab C2 – Wireless Communication between Tx and Rx Using NRF24L01</vt:lpstr>
      <vt:lpstr>Lab C3 – SD Card Module </vt:lpstr>
      <vt:lpstr>Lab C3 – SD Card Module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89</cp:revision>
  <dcterms:created xsi:type="dcterms:W3CDTF">2025-11-13T13:02:47Z</dcterms:created>
  <dcterms:modified xsi:type="dcterms:W3CDTF">2025-11-24T22:56:25Z</dcterms:modified>
</cp:coreProperties>
</file>