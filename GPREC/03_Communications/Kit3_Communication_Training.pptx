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72" r:id="rId2"/>
  </p:sldMasterIdLst>
  <p:notesMasterIdLst>
    <p:notesMasterId r:id="rId17"/>
  </p:notesMasterIdLst>
  <p:sldIdLst>
    <p:sldId id="256" r:id="rId3"/>
    <p:sldId id="269" r:id="rId4"/>
    <p:sldId id="258" r:id="rId5"/>
    <p:sldId id="259" r:id="rId6"/>
    <p:sldId id="260" r:id="rId7"/>
    <p:sldId id="261" r:id="rId8"/>
    <p:sldId id="266" r:id="rId9"/>
    <p:sldId id="267" r:id="rId10"/>
    <p:sldId id="264" r:id="rId11"/>
    <p:sldId id="270" r:id="rId12"/>
    <p:sldId id="265" r:id="rId13"/>
    <p:sldId id="272" r:id="rId14"/>
    <p:sldId id="273" r:id="rId15"/>
    <p:sldId id="271" r:id="rId16"/>
  </p:sldIdLst>
  <p:sldSz cx="12192000" cy="6858000"/>
  <p:notesSz cx="6858000" cy="9144000"/>
  <p:defaultTextStyle>
    <a:defPPr>
      <a:defRPr lang="en-US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>
          <p15:clr>
            <a:srgbClr val="A4A3A4"/>
          </p15:clr>
        </p15:guide>
        <p15:guide id="2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>
              <a:solidFill>
                <a:schemeClr val="lt1"/>
              </a:solidFill>
            </a:ln>
          </a:left>
          <a:right>
            <a:ln w="12700">
              <a:solidFill>
                <a:schemeClr val="lt1"/>
              </a:solidFill>
            </a:ln>
          </a:right>
          <a:top>
            <a:ln w="12700">
              <a:solidFill>
                <a:schemeClr val="lt1"/>
              </a:solidFill>
            </a:ln>
          </a:top>
          <a:bottom>
            <a:ln w="12700">
              <a:solidFill>
                <a:schemeClr val="lt1"/>
              </a:solidFill>
            </a:ln>
          </a:bottom>
          <a:insideH>
            <a:ln w="12700">
              <a:solidFill>
                <a:schemeClr val="lt1"/>
              </a:solidFill>
            </a:ln>
          </a:insideH>
          <a:insideV>
            <a:ln w="12700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  <a:fill>
          <a:solidFill>
            <a:schemeClr val="accent1">
              <a:tint val="40000"/>
            </a:schemeClr>
          </a:solidFill>
        </a:fill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black"/>
        </a:fontRef>
        <a:schemeClr val="lt1"/>
      </a:tcTxStyle>
      <a:tcStyle>
        <a:tcBdr>
          <a:bottom>
            <a:ln w="38100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1138" y="278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presProps" Target="presProps.xml"/><Relationship Id="rId3" Type="http://schemas.openxmlformats.org/officeDocument/2006/relationships/slide" Target="slides/slide1.xml"/><Relationship Id="rId21" Type="http://schemas.openxmlformats.org/officeDocument/2006/relationships/tableStyles" Target="tableStyle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10" Type="http://schemas.openxmlformats.org/officeDocument/2006/relationships/slide" Target="slides/slide8.xml"/><Relationship Id="rId19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8792160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33813762" name="Date Placeholder 2"/>
          <p:cNvSpPr>
            <a:spLocks noGrp="1"/>
          </p:cNvSpPr>
          <p:nvPr>
            <p:ph type="dt" idx="2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501697300" name="Date Placeholder 2"/>
          <p:cNvSpPr>
            <a:spLocks noGrp="1"/>
          </p:cNvSpPr>
          <p:nvPr>
            <p:ph type="dt" idx="3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828837084" name="Notes Placeholder 4"/>
          <p:cNvSpPr>
            <a:spLocks noGrp="1"/>
          </p:cNvSpPr>
          <p:nvPr>
            <p:ph type="body" sz="quarter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1842217305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486342955" name="Slide Number Placeholder 6"/>
          <p:cNvSpPr>
            <a:spLocks noGrp="1"/>
          </p:cNvSpPr>
          <p:nvPr>
            <p:ph type="sldNum" sz="quarter" idx="10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0651621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20685004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85615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09962B-3B3C-CD16-CF97-8806D4E439CB}" type="slidenum">
              <a:rPr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3724573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637662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554985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735F144-4477-3278-DD0A-BB5203ABE0DE}" type="slidenum">
              <a:rPr/>
              <a:t>3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8262536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70284106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15911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F9FF2E9-488C-C2DD-99BD-96FB86CF33E3}" type="slidenum">
              <a:rPr/>
              <a:t>4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7293181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3497090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37228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8464B0B-3CDA-8AFD-A136-AA80755CE963}" type="slidenum">
              <a:rPr/>
              <a:t>5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1174406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025296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81768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A9EA87D-8652-58FE-0A40-1D9E139BF096}" type="slidenum">
              <a:rPr/>
              <a:t>6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2669230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2683779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072346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7B43549-86FA-21F8-7545-CE95EB9FB887}" type="slidenum">
              <a:rPr/>
              <a:t>7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9342069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6349308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92096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326CE3B-E040-A2AB-A655-6D2329D8DBEC}" type="slidenum">
              <a:rPr/>
              <a:t>8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169541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05051110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58997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5949ECF-86E5-C7AB-DDE3-C0E50DBC9EB8}" type="slidenum">
              <a:rPr/>
              <a:t>9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9733113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76985036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898014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3275F90-3167-AEBD-D502-299F21D0E3D1}" type="slidenum">
              <a:rPr/>
              <a:t>11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preserve="1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3991303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3061473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1023764702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5593103-930B-4864-A0CC-E5CD95E9581E}" type="datetimeFigureOut">
              <a:rPr lang="en-GB"/>
              <a:t>24/11/2025</a:t>
            </a:fld>
            <a:endParaRPr lang="en-GB"/>
          </a:p>
        </p:txBody>
      </p:sp>
      <p:sp>
        <p:nvSpPr>
          <p:cNvPr id="17653907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03740222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33A2A5D-5A42-4533-ACF4-15D55555B360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preserve="1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7617869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888265505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42890171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5593103-930B-4864-A0CC-E5CD95E9581E}" type="datetimeFigureOut">
              <a:rPr lang="en-GB"/>
              <a:t>24/11/2025</a:t>
            </a:fld>
            <a:endParaRPr lang="en-GB"/>
          </a:p>
        </p:txBody>
      </p:sp>
      <p:sp>
        <p:nvSpPr>
          <p:cNvPr id="110902698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735639815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33A2A5D-5A42-4533-ACF4-15D55555B360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secHead" preserve="1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5122750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42447797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692315902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5593103-930B-4864-A0CC-E5CD95E9581E}" type="datetimeFigureOut">
              <a:rPr lang="en-GB"/>
              <a:t>24/11/2025</a:t>
            </a:fld>
            <a:endParaRPr lang="en-GB"/>
          </a:p>
        </p:txBody>
      </p:sp>
      <p:sp>
        <p:nvSpPr>
          <p:cNvPr id="31197127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27741301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33A2A5D-5A42-4533-ACF4-15D55555B360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Obj" preserve="1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11343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587150839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622175731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573377139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5593103-930B-4864-A0CC-E5CD95E9581E}" type="datetimeFigureOut">
              <a:rPr lang="en-GB"/>
              <a:t>24/11/2025</a:t>
            </a:fld>
            <a:endParaRPr lang="en-GB"/>
          </a:p>
        </p:txBody>
      </p:sp>
      <p:sp>
        <p:nvSpPr>
          <p:cNvPr id="43796888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437603922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33A2A5D-5A42-4533-ACF4-15D55555B360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TxTwoObj" preserve="1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2967959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49521257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556917559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985703965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949566281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906017737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5593103-930B-4864-A0CC-E5CD95E9581E}" type="datetimeFigureOut">
              <a:rPr lang="en-GB"/>
              <a:t>24/11/2025</a:t>
            </a:fld>
            <a:endParaRPr lang="en-GB"/>
          </a:p>
        </p:txBody>
      </p:sp>
      <p:sp>
        <p:nvSpPr>
          <p:cNvPr id="78562459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711334947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33A2A5D-5A42-4533-ACF4-15D55555B360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Only" preserve="1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964660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907334339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5593103-930B-4864-A0CC-E5CD95E9581E}" type="datetimeFigureOut">
              <a:rPr lang="en-GB"/>
              <a:t>24/11/2025</a:t>
            </a:fld>
            <a:endParaRPr lang="en-GB"/>
          </a:p>
        </p:txBody>
      </p:sp>
      <p:sp>
        <p:nvSpPr>
          <p:cNvPr id="1759521011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154007085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33A2A5D-5A42-4533-ACF4-15D55555B360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6915037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5593103-930B-4864-A0CC-E5CD95E9581E}" type="datetimeFigureOut">
              <a:rPr lang="en-GB"/>
              <a:t>24/11/2025</a:t>
            </a:fld>
            <a:endParaRPr lang="en-GB"/>
          </a:p>
        </p:txBody>
      </p:sp>
      <p:sp>
        <p:nvSpPr>
          <p:cNvPr id="555614683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20104957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33A2A5D-5A42-4533-ACF4-15D55555B360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4815648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430103965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663706878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3841250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5593103-930B-4864-A0CC-E5CD95E9581E}" type="datetimeFigureOut">
              <a:rPr lang="en-GB"/>
              <a:t>24/11/2025</a:t>
            </a:fld>
            <a:endParaRPr lang="en-GB"/>
          </a:p>
        </p:txBody>
      </p:sp>
      <p:sp>
        <p:nvSpPr>
          <p:cNvPr id="846475754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363716543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33A2A5D-5A42-4533-ACF4-15D55555B360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picTx" preserve="1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3520834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355571609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en-GB"/>
          </a:p>
        </p:txBody>
      </p:sp>
      <p:sp>
        <p:nvSpPr>
          <p:cNvPr id="853965404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84416920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5593103-930B-4864-A0CC-E5CD95E9581E}" type="datetimeFigureOut">
              <a:rPr lang="en-GB"/>
              <a:t>24/11/2025</a:t>
            </a:fld>
            <a:endParaRPr lang="en-GB"/>
          </a:p>
        </p:txBody>
      </p:sp>
      <p:sp>
        <p:nvSpPr>
          <p:cNvPr id="1983135924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744603943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33A2A5D-5A42-4533-ACF4-15D55555B360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x" preserve="1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29009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6163206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188156235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5593103-930B-4864-A0CC-E5CD95E9581E}" type="datetimeFigureOut">
              <a:rPr lang="en-GB"/>
              <a:t>24/11/2025</a:t>
            </a:fld>
            <a:endParaRPr lang="en-GB"/>
          </a:p>
        </p:txBody>
      </p:sp>
      <p:sp>
        <p:nvSpPr>
          <p:cNvPr id="190488864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68630675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33A2A5D-5A42-4533-ACF4-15D55555B360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itleAndTx" preserve="1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3943371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2520361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31102444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5593103-930B-4864-A0CC-E5CD95E9581E}" type="datetimeFigureOut">
              <a:rPr lang="en-GB"/>
              <a:t>24/11/2025</a:t>
            </a:fld>
            <a:endParaRPr lang="en-GB"/>
          </a:p>
        </p:txBody>
      </p:sp>
      <p:sp>
        <p:nvSpPr>
          <p:cNvPr id="16460700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661819477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33A2A5D-5A42-4533-ACF4-15D55555B360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1F3BE-512F-A9CE-900D-B6E0068F4D4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711E759-8398-1C8B-4F38-3B5F5F38201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9DDE8A-E854-1D1C-8B81-59D304580C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74DB82-9D26-A4A7-DD71-B140CE7BAA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CD4B25-EB67-28E5-5C5F-D5789BB885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458519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058F54-B80F-E040-0537-D4AB53684C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05052E-FBAF-9764-17B4-44EEDA19C0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428461-73E6-DA43-A804-1BED2DEDC1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8C90D2-FEC4-8B98-89A9-8B863F908F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2767BA-0170-E4AA-D831-BE5F2B30C3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761083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5643F4-DF9D-3089-607F-F630042D2C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EC6B38-3C8D-E9B6-AE09-3D4FB3A9E7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D396E3-1754-8F20-FFD6-495F35BE40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DFECFE-EDD5-4401-2AE2-5CF0BEE561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E226EF-4679-CF6F-CF81-24B227602B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282319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9617A-463C-B0FA-843B-05D55BB41E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C0016E-78F1-F75B-BC93-791E4537663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54ACE3-6B57-CC2B-E335-02B52C0EB5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DDBD783-A52E-0064-668C-D393154B0C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6EDF47-CE09-3FD5-8ADD-0A6CFFA9AC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EBE330-F483-EA66-3FEC-34BA5B610C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9888145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289D43-5E5B-48DD-A60B-FDDAC693BB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66F32E-5382-7984-7E93-85C8074430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D618230-A817-7965-EFCB-0720B4ABC64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4E3800D-524D-E9FD-E4E6-8A0324046CE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6E48E2B-8B3B-4A12-8C05-6222B14B48D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E083518-B8B2-5C7F-CD0A-125EFA788F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B30EBAF-1066-8FE2-60BF-0AD28A94FA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D6C8C0-F362-9C7F-C203-EC0BF19BFC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028670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8A044E-9B9D-6532-38C5-2548C08E35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1C5C59B-7D5D-D630-8E28-4022FF7667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296964E-2C9E-7926-8B63-80F95308DA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630FA47-9D75-E0FF-8FB3-0F9EF1813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361038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4268972-0D81-CE22-EDE6-5BD70E2B47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CF470F-F056-E314-B018-2C9E07E7F0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F2BD58-FE18-5B4B-0126-E111600D58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900292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3E1CF6-20E5-C8D0-55EF-0044CFF3BF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B13B3F-0A8A-88D7-368C-2C0D15C33E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D8D0F0-7D28-2713-49F8-A122409C5E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15D5A1-AB6A-3313-6D15-BF77B31ECA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2A49E29-6085-AC32-B97C-BE6FFEDD47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397273-FC10-830B-4EE1-EF7CBFF7E7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494333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C618FA-A510-D593-C2E8-A943D32C01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CC86480-7067-230A-B3CE-415EF472B5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1C3E5E3-C685-17BB-99D4-CCE0E3B57F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D7FCBDC-72D1-DA03-EEBB-12C473CA75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0BEEE8-F749-3928-8336-8F0490C7F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D2A82A-58B8-B13C-BD66-5D340CA18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479977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8F1B81-8671-ED96-E3F5-C681FFE3E9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9EFCA56-3F75-07CB-9FB7-F0F7B78EA9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9CC168-4ABB-D666-29C9-347EFF502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D4C89C-E42B-0302-ED96-48D8638BE9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BBADE0-9275-B9E0-72CF-A481D81CB9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7702484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FACC2B5-AAB4-6939-855D-759D3FB8B1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E0E091-D309-3C53-FAA0-94D42F52B9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5CD9BE-9D56-0A3B-FC8E-767BBF1A30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2BC3CD-7309-6765-72C1-5982459D64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7D70F7-1F47-1B7A-7B20-44E99C13A8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79116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5595668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213846702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2043713722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A5593103-930B-4864-A0CC-E5CD95E9581E}" type="datetimeFigureOut">
              <a:rPr lang="en-GB"/>
              <a:t>24/11/2025</a:t>
            </a:fld>
            <a:endParaRPr lang="en-GB"/>
          </a:p>
        </p:txBody>
      </p:sp>
      <p:sp>
        <p:nvSpPr>
          <p:cNvPr id="1749130958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156237667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C33A2A5D-5A42-4533-ACF4-15D55555B360}" type="slidenum">
              <a:rPr lang="en-GB"/>
              <a:t>‹#›</a:t>
            </a:fld>
            <a:endParaRPr lang="en-GB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80E771D-197D-29E2-0B81-12A4FAE2B5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9599D2-8F60-BB7F-534F-CDB425A41B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4CE3F2-2023-C212-377A-F9A16C0525D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1D51BA1-F58B-40DF-9C13-73BC69DE2A80}" type="datetimeFigureOut">
              <a:rPr lang="en-GB" smtClean="0"/>
              <a:t>24/11/2025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59B2B7-BC4C-BF5C-4319-2E83B888FD6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2C4DCB-AAB0-5D1A-3349-E5C5C3E40D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140855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github.com/info-zas/Training/tree/main/GPREC/03_Communications/01_Code/02_Comm_Kit_RFIDCardReaderAccess" TargetMode="External"/><Relationship Id="rId4" Type="http://schemas.openxmlformats.org/officeDocument/2006/relationships/hyperlink" Target="https://github.com/info-zas/Training/tree/main/GPREC/03_Communications/01_Code/01_Comm_Kit_RFIDCardInfo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jp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github.com/info-zas/Training/tree/main/GPREC/03_Communications/01_Code/04_Comm_Kit_NRF24L01_Receiver_Encoder_Value" TargetMode="External"/><Relationship Id="rId4" Type="http://schemas.openxmlformats.org/officeDocument/2006/relationships/hyperlink" Target="https://github.com/info-zas/Training/tree/main/GPREC/03_Communications/01_Code/03_Comm_Kit_NRF24L01_Transmitter_Encoder_Value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2846097" name="Title 1"/>
          <p:cNvSpPr>
            <a:spLocks noGrp="1"/>
          </p:cNvSpPr>
          <p:nvPr>
            <p:ph type="ctrTitle"/>
          </p:nvPr>
        </p:nvSpPr>
        <p:spPr bwMode="auto">
          <a:xfrm>
            <a:off x="1293743" y="2066235"/>
            <a:ext cx="9604513" cy="2387600"/>
          </a:xfrm>
        </p:spPr>
        <p:txBody>
          <a:bodyPr>
            <a:normAutofit fontScale="90000"/>
          </a:bodyPr>
          <a:lstStyle/>
          <a:p>
            <a:pPr>
              <a:defRPr/>
            </a:pPr>
            <a:r>
              <a:rPr lang="en-GB" b="1" dirty="0"/>
              <a:t>ZAS Robotics </a:t>
            </a:r>
            <a:r>
              <a:rPr lang="en-US" b="1" dirty="0"/>
              <a:t>(Communication</a:t>
            </a:r>
            <a:r>
              <a:rPr lang="en-GB" b="1" dirty="0"/>
              <a:t> Kit)</a:t>
            </a:r>
            <a:br>
              <a:rPr lang="en-GB" b="1" dirty="0"/>
            </a:br>
            <a:r>
              <a:rPr lang="en-GB" b="1" dirty="0"/>
              <a:t>Training</a:t>
            </a:r>
            <a:endParaRPr lang="en-GB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9BE29D4-CF24-9712-0C15-07EA836BA2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4F24C2-4D49-091F-4E2E-E1259B6046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4" y="-4988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Communications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CBA5D58-D7BD-496E-AA57-62A506799CA3}"/>
              </a:ext>
            </a:extLst>
          </p:cNvPr>
          <p:cNvSpPr txBox="1"/>
          <p:nvPr/>
        </p:nvSpPr>
        <p:spPr>
          <a:xfrm>
            <a:off x="142875" y="1000535"/>
            <a:ext cx="11906250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2400" b="1" i="0" u="none" strike="noStrike" kern="1200" cap="none" spc="0" normalizeH="0" baseline="0" noProof="0" dirty="0">
                <a:ln>
                  <a:noFill/>
                </a:ln>
                <a:solidFill>
                  <a:srgbClr val="FF715B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Review the Contents in the Box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srgbClr val="F9CB4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srgbClr val="F9CB4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Review &amp; Discuss the Communication Creative Board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srgbClr val="F9CB4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srgbClr val="F9CB4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Discuss the Health &amp; Safety Precautions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Conduct the Following Labs on </a:t>
            </a: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srgbClr val="F9CB4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Creative Board</a:t>
            </a:r>
          </a:p>
          <a:p>
            <a:pPr marL="800100" marR="0" lvl="1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srgbClr val="F9CB4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Lab C1 - RFID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Conduct the Following Labs on the </a:t>
            </a: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srgbClr val="F9CB4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Creative Board</a:t>
            </a:r>
          </a:p>
          <a:p>
            <a:pPr marL="800100" marR="0" lvl="1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srgbClr val="F9CB4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Lab C2 – Wireless Communication between Tx and R</a:t>
            </a:r>
            <a:r>
              <a:rPr lang="en-GB" sz="2400" kern="1200" dirty="0">
                <a:solidFill>
                  <a:srgbClr val="F9CB40"/>
                </a:solidFill>
                <a:latin typeface="Aptos" panose="02110004020202020204"/>
              </a:rPr>
              <a:t>x Using </a:t>
            </a: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srgbClr val="F9CB4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NRF24L01</a:t>
            </a:r>
          </a:p>
          <a:p>
            <a:pPr marL="800100" marR="0" lvl="1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srgbClr val="F9CB4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Discuss the </a:t>
            </a: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Lab C3 - SD Card module </a:t>
            </a: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and practice memory card insertion/removal/formatting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Discuss the </a:t>
            </a:r>
            <a:r>
              <a:rPr kumimoji="0" lang="en-GB" sz="2400" b="0" i="0" u="sng" strike="noStrike" kern="1200" cap="none" spc="0" normalizeH="0" baseline="0" noProof="0" dirty="0">
                <a:ln>
                  <a:noFill/>
                </a:ln>
                <a:solidFill>
                  <a:srgbClr val="219EBC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Bread Board</a:t>
            </a:r>
            <a:r>
              <a:rPr kumimoji="0" lang="en-GB" sz="2400" b="0" i="0" u="sng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of the </a:t>
            </a:r>
            <a:r>
              <a:rPr kumimoji="0" lang="en-GB" sz="2400" b="0" i="0" u="sng" strike="noStrike" kern="1200" cap="none" spc="0" normalizeH="0" baseline="0" noProof="0" dirty="0">
                <a:ln>
                  <a:noFill/>
                </a:ln>
                <a:solidFill>
                  <a:srgbClr val="F9CB4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Creative Board</a:t>
            </a:r>
          </a:p>
        </p:txBody>
      </p:sp>
    </p:spTree>
    <p:extLst>
      <p:ext uri="{BB962C8B-B14F-4D97-AF65-F5344CB8AC3E}">
        <p14:creationId xmlns:p14="http://schemas.microsoft.com/office/powerpoint/2010/main" val="36999347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5750354" name="Title 1"/>
          <p:cNvSpPr>
            <a:spLocks noGrp="1"/>
          </p:cNvSpPr>
          <p:nvPr>
            <p:ph type="title"/>
          </p:nvPr>
        </p:nvSpPr>
        <p:spPr bwMode="auto">
          <a:xfrm>
            <a:off x="409882" y="95922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US" b="1"/>
              <a:t>Communication</a:t>
            </a:r>
            <a:r>
              <a:rPr lang="en-GB" b="1"/>
              <a:t> Kit (Contents)</a:t>
            </a:r>
            <a:endParaRPr/>
          </a:p>
        </p:txBody>
      </p:sp>
      <p:sp>
        <p:nvSpPr>
          <p:cNvPr id="165207472" name="TextBox 20"/>
          <p:cNvSpPr txBox="1"/>
          <p:nvPr/>
        </p:nvSpPr>
        <p:spPr bwMode="auto">
          <a:xfrm>
            <a:off x="7589967" y="5933741"/>
            <a:ext cx="3150347" cy="3661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sz="1800" b="1" i="0" u="none" strike="noStrike" cap="none" spc="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Communication</a:t>
            </a:r>
            <a:r>
              <a:rPr lang="en-GB" b="1" dirty="0"/>
              <a:t> Creative Board</a:t>
            </a:r>
            <a:endParaRPr dirty="0"/>
          </a:p>
        </p:txBody>
      </p:sp>
      <p:sp>
        <p:nvSpPr>
          <p:cNvPr id="1915249791" name="TextBox 45"/>
          <p:cNvSpPr txBox="1"/>
          <p:nvPr/>
        </p:nvSpPr>
        <p:spPr bwMode="auto">
          <a:xfrm>
            <a:off x="1530469" y="5933742"/>
            <a:ext cx="3260408" cy="3661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b="1" dirty="0"/>
              <a:t>Communication</a:t>
            </a:r>
            <a:r>
              <a:rPr lang="en-GB" b="1" dirty="0"/>
              <a:t> Kit Components</a:t>
            </a:r>
            <a:endParaRPr dirty="0"/>
          </a:p>
        </p:txBody>
      </p:sp>
      <p:pic>
        <p:nvPicPr>
          <p:cNvPr id="2032215715" name="Picture 2032215714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248479" y="1380661"/>
            <a:ext cx="5847522" cy="436098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4845384-6C17-0B8F-F564-E3BBE0A3328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66508" y="1477756"/>
            <a:ext cx="4197264" cy="426388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927349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 sz="4400" b="1" i="0" u="none" strike="noStrike" cap="none" spc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Communication</a:t>
            </a:r>
            <a:r>
              <a:rPr lang="en-GB" b="1"/>
              <a:t> Creative Board</a:t>
            </a:r>
            <a:endParaRPr/>
          </a:p>
        </p:txBody>
      </p:sp>
      <p:sp>
        <p:nvSpPr>
          <p:cNvPr id="971918876" name="TextBox 2"/>
          <p:cNvSpPr txBox="1"/>
          <p:nvPr/>
        </p:nvSpPr>
        <p:spPr bwMode="auto">
          <a:xfrm>
            <a:off x="1445340" y="6140865"/>
            <a:ext cx="44598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b="1" dirty="0"/>
              <a:t>Communication</a:t>
            </a:r>
            <a:r>
              <a:rPr lang="en-GB" b="1" dirty="0"/>
              <a:t> Creative Board – Bare Board</a:t>
            </a:r>
            <a:endParaRPr dirty="0"/>
          </a:p>
        </p:txBody>
      </p:sp>
      <p:sp>
        <p:nvSpPr>
          <p:cNvPr id="402039559" name="TextBox 3"/>
          <p:cNvSpPr txBox="1"/>
          <p:nvPr/>
        </p:nvSpPr>
        <p:spPr bwMode="auto">
          <a:xfrm>
            <a:off x="6925582" y="6123543"/>
            <a:ext cx="4916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b="1" dirty="0"/>
              <a:t>Communication</a:t>
            </a:r>
            <a:r>
              <a:rPr lang="en-GB" b="1" dirty="0"/>
              <a:t> Creative Board – </a:t>
            </a:r>
            <a:r>
              <a:rPr lang="en-US" b="1" dirty="0"/>
              <a:t>ESP32</a:t>
            </a:r>
            <a:r>
              <a:rPr lang="en-GB" b="1" dirty="0"/>
              <a:t> Mounted</a:t>
            </a:r>
            <a:endParaRPr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2AAFC16-871D-6F93-7289-2E116C823CC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2586" y="1263312"/>
            <a:ext cx="4862629" cy="493981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0C595C7-0460-6687-2A1B-04D906B45EE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9495" y="1263312"/>
            <a:ext cx="4948691" cy="487755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704769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GB" b="1"/>
              <a:t>Kit </a:t>
            </a:r>
            <a:r>
              <a:rPr lang="en-US" b="1"/>
              <a:t>3</a:t>
            </a:r>
            <a:r>
              <a:rPr lang="en-GB" b="1"/>
              <a:t> </a:t>
            </a:r>
            <a:r>
              <a:rPr lang="en-US" sz="4400" b="1" i="0" u="none" strike="noStrike" cap="none" spc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Communication</a:t>
            </a:r>
            <a:r>
              <a:rPr lang="en-US" sz="4400" b="1" i="0" u="none" strike="noStrike" cap="none" spc="0">
                <a:solidFill>
                  <a:schemeClr val="tx1"/>
                </a:solidFill>
                <a:latin typeface="Calibri Light"/>
                <a:ea typeface="Arial"/>
                <a:cs typeface="Arial"/>
              </a:rPr>
              <a:t> </a:t>
            </a:r>
            <a:r>
              <a:rPr lang="en-GB" sz="4400" b="1" i="0" u="none" strike="noStrike" cap="none" spc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Creative Board - Features</a:t>
            </a:r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BDF7B30-4988-34F3-4821-794FB38B04C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348464" y="1770208"/>
            <a:ext cx="4862629" cy="493981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756084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GB">
                <a:latin typeface="Aptos"/>
              </a:rPr>
              <a:t>Health &amp; Safety Precautions</a:t>
            </a:r>
            <a:endParaRPr lang="en-GB"/>
          </a:p>
        </p:txBody>
      </p:sp>
      <p:sp>
        <p:nvSpPr>
          <p:cNvPr id="148458921" name="Content Placeholder 2"/>
          <p:cNvSpPr>
            <a:spLocks noGrp="1"/>
          </p:cNvSpPr>
          <p:nvPr>
            <p:ph idx="1"/>
          </p:nvPr>
        </p:nvSpPr>
        <p:spPr bwMode="auto"/>
        <p:txBody>
          <a:bodyPr>
            <a:normAutofit fontScale="85000" lnSpcReduction="20000"/>
          </a:bodyPr>
          <a:lstStyle/>
          <a:p>
            <a:pPr>
              <a:defRPr/>
            </a:pPr>
            <a:r>
              <a:rPr lang="en-US" b="1"/>
              <a:t>Double-check all power connections</a:t>
            </a:r>
            <a:br>
              <a:rPr lang="en-US"/>
            </a:br>
            <a:r>
              <a:rPr lang="en-US"/>
              <a:t>Ensure correct </a:t>
            </a:r>
            <a:r>
              <a:rPr lang="en-US" b="1"/>
              <a:t>GND</a:t>
            </a:r>
            <a:r>
              <a:rPr lang="en-US"/>
              <a:t> and </a:t>
            </a:r>
            <a:r>
              <a:rPr lang="en-US" b="1"/>
              <a:t>VCC</a:t>
            </a:r>
            <a:r>
              <a:rPr lang="en-US"/>
              <a:t> wiring for the power supply, OLED, motor drivers, GPS, sensors, and other modules.</a:t>
            </a:r>
            <a:endParaRPr/>
          </a:p>
          <a:p>
            <a:pPr>
              <a:defRPr/>
            </a:pPr>
            <a:r>
              <a:rPr lang="en-US" b="1"/>
              <a:t>Use the correct input voltage</a:t>
            </a:r>
            <a:br>
              <a:rPr lang="en-US"/>
            </a:br>
            <a:r>
              <a:rPr lang="en-US"/>
              <a:t>Battery input should be </a:t>
            </a:r>
            <a:r>
              <a:rPr lang="en-US" b="1"/>
              <a:t>between 5V and 12V</a:t>
            </a:r>
            <a:r>
              <a:rPr lang="en-US"/>
              <a:t> only.</a:t>
            </a:r>
            <a:endParaRPr/>
          </a:p>
          <a:p>
            <a:pPr>
              <a:defRPr/>
            </a:pPr>
            <a:r>
              <a:rPr lang="en-US" b="1"/>
              <a:t>Work on a safe surface</a:t>
            </a:r>
            <a:br>
              <a:rPr lang="en-US"/>
            </a:br>
            <a:r>
              <a:rPr lang="en-US"/>
              <a:t>Use the kit on an </a:t>
            </a:r>
            <a:r>
              <a:rPr lang="en-US" b="1"/>
              <a:t>insulated table</a:t>
            </a:r>
            <a:r>
              <a:rPr lang="en-US"/>
              <a:t> (e.g., wood) and ensure the surface is </a:t>
            </a:r>
            <a:r>
              <a:rPr lang="en-US" b="1"/>
              <a:t>dry and clean</a:t>
            </a:r>
            <a:r>
              <a:rPr lang="en-US"/>
              <a:t>.</a:t>
            </a:r>
            <a:endParaRPr/>
          </a:p>
          <a:p>
            <a:pPr>
              <a:defRPr/>
            </a:pPr>
            <a:r>
              <a:rPr lang="en-US" b="1"/>
              <a:t>Avoid leaving the kit unattended</a:t>
            </a:r>
            <a:br>
              <a:rPr lang="en-US"/>
            </a:br>
            <a:r>
              <a:rPr lang="en-US"/>
              <a:t>Do </a:t>
            </a:r>
            <a:r>
              <a:rPr lang="en-US" b="1"/>
              <a:t>not</a:t>
            </a:r>
            <a:r>
              <a:rPr lang="en-US"/>
              <a:t> keep the system powered on without supervision.</a:t>
            </a:r>
            <a:endParaRPr/>
          </a:p>
          <a:p>
            <a:pPr>
              <a:defRPr/>
            </a:pPr>
            <a:r>
              <a:rPr lang="en-GB" b="1"/>
              <a:t>Build and Test Incrementally</a:t>
            </a:r>
            <a:br>
              <a:rPr lang="en-US"/>
            </a:br>
            <a:r>
              <a:rPr lang="en-US"/>
              <a:t>Turn on the </a:t>
            </a:r>
            <a:r>
              <a:rPr lang="en-US" b="1"/>
              <a:t>microcontroller first</a:t>
            </a:r>
            <a:r>
              <a:rPr lang="en-US"/>
              <a:t>, then </a:t>
            </a:r>
            <a:r>
              <a:rPr lang="en-US" b="1"/>
              <a:t>build and test the circuit step-by-step</a:t>
            </a:r>
            <a:r>
              <a:rPr lang="en-US"/>
              <a:t>.</a:t>
            </a:r>
            <a:br>
              <a:rPr lang="en-US"/>
            </a:br>
            <a:r>
              <a:rPr lang="en-US"/>
              <a:t>Avoid wiring the entire system at once and powering it without intermediate testing.</a:t>
            </a:r>
            <a:endParaRPr/>
          </a:p>
          <a:p>
            <a:pPr marL="0" indent="0">
              <a:buNone/>
              <a:defRPr/>
            </a:pPr>
            <a:endParaRPr lang="en-GB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5173219" name="Title 1"/>
          <p:cNvSpPr>
            <a:spLocks noGrp="1"/>
          </p:cNvSpPr>
          <p:nvPr>
            <p:ph type="title"/>
          </p:nvPr>
        </p:nvSpPr>
        <p:spPr bwMode="auto">
          <a:xfrm>
            <a:off x="695769" y="89166"/>
            <a:ext cx="10515600" cy="1103683"/>
          </a:xfrm>
        </p:spPr>
        <p:txBody>
          <a:bodyPr/>
          <a:lstStyle/>
          <a:p>
            <a:pPr>
              <a:defRPr/>
            </a:pPr>
            <a:r>
              <a:rPr lang="en-GB" sz="3600" b="1" i="0" u="none" dirty="0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Lab C1 - </a:t>
            </a:r>
            <a:r>
              <a:rPr sz="3600" b="1" i="0" u="none" dirty="0">
                <a:solidFill>
                  <a:srgbClr val="000000"/>
                </a:solidFill>
                <a:latin typeface="Calibri Light"/>
                <a:ea typeface="Calibri Light"/>
                <a:cs typeface="Calibri Light"/>
              </a:rPr>
              <a:t>RFID Reading &amp; Access Control System (MFRC522 + OLED)</a:t>
            </a:r>
            <a:endParaRPr lang="en-GB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F8004A1-5A80-4A34-F667-4E6CF6C50BF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090" y="1342069"/>
            <a:ext cx="4685427" cy="542676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B066AC5-0AD2-B54A-5FF6-2FA7B8CC4E5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53569" y="1342068"/>
            <a:ext cx="5362322" cy="542676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8514844" name="Title 1"/>
          <p:cNvSpPr>
            <a:spLocks noGrp="1"/>
          </p:cNvSpPr>
          <p:nvPr>
            <p:ph type="title"/>
          </p:nvPr>
        </p:nvSpPr>
        <p:spPr bwMode="auto">
          <a:xfrm>
            <a:off x="695769" y="17951"/>
            <a:ext cx="10515600" cy="1103683"/>
          </a:xfrm>
        </p:spPr>
        <p:txBody>
          <a:bodyPr/>
          <a:lstStyle/>
          <a:p>
            <a:pPr>
              <a:defRPr/>
            </a:pPr>
            <a:r>
              <a:rPr lang="en-US" sz="3600" b="1" dirty="0">
                <a:solidFill>
                  <a:srgbClr val="000000"/>
                </a:solidFill>
                <a:ea typeface="Calibri Light"/>
                <a:cs typeface="Calibri Light"/>
              </a:rPr>
              <a:t>Lab C1 - RFID Reading &amp; Access Control System (MFRC522 + OLED)</a:t>
            </a:r>
            <a:endParaRPr lang="en-GB" dirty="0"/>
          </a:p>
        </p:txBody>
      </p:sp>
      <p:sp>
        <p:nvSpPr>
          <p:cNvPr id="1035164756" name="Content Placeholder 2"/>
          <p:cNvSpPr>
            <a:spLocks noGrp="1"/>
          </p:cNvSpPr>
          <p:nvPr>
            <p:ph idx="1"/>
          </p:nvPr>
        </p:nvSpPr>
        <p:spPr bwMode="auto">
          <a:xfrm>
            <a:off x="739878" y="1121634"/>
            <a:ext cx="5095278" cy="5496474"/>
          </a:xfrm>
          <a:ln w="38100">
            <a:solidFill>
              <a:schemeClr val="accent1">
                <a:lumMod val="75000"/>
              </a:schemeClr>
            </a:solidFill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normAutofit fontScale="70000" lnSpcReduction="20000"/>
          </a:bodyPr>
          <a:lstStyle/>
          <a:p>
            <a:pPr>
              <a:defRPr/>
            </a:pPr>
            <a:endParaRPr lang="en-GB" sz="2400" b="1" i="0" u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  <a:p>
            <a:pPr>
              <a:defRPr/>
            </a:pPr>
            <a:r>
              <a:rPr sz="2400" b="1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Program 1: RFID / NFC UID Reader</a:t>
            </a:r>
            <a:endParaRPr dirty="0"/>
          </a:p>
          <a:p>
            <a:pPr>
              <a:defRPr/>
            </a:pPr>
            <a:r>
              <a:rPr sz="1800" b="1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✅ Recommended Heading</a:t>
            </a:r>
            <a:endParaRPr dirty="0"/>
          </a:p>
          <a:p>
            <a:pPr>
              <a:defRPr/>
            </a:pPr>
            <a:r>
              <a:rPr sz="1400" b="1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RFID/NFC – UID Reading &amp; Identification Display (MFRC522 + OLED)</a:t>
            </a:r>
            <a:endParaRPr dirty="0"/>
          </a:p>
          <a:p>
            <a:pPr>
              <a:defRPr/>
            </a:pPr>
            <a:r>
              <a:rPr sz="1400" b="1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Alternative headings:</a:t>
            </a:r>
            <a:endParaRPr dirty="0"/>
          </a:p>
          <a:p>
            <a:pPr>
              <a:defRPr/>
            </a:pPr>
            <a:r>
              <a:rPr sz="1200" b="1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RFID – Card UID Scanner with OLED Feedback</a:t>
            </a:r>
            <a:endParaRPr dirty="0"/>
          </a:p>
          <a:p>
            <a:pPr>
              <a:defRPr/>
            </a:pPr>
            <a:r>
              <a:rPr sz="1200" b="1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RFID Reader – UID Detection &amp; Display System</a:t>
            </a:r>
            <a:endParaRPr dirty="0"/>
          </a:p>
          <a:p>
            <a:pPr>
              <a:defRPr/>
            </a:pPr>
            <a:r>
              <a:rPr sz="1200" b="1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RFID/NFC – Simple Card Scanning &amp; UID Output</a:t>
            </a:r>
            <a:endParaRPr dirty="0"/>
          </a:p>
          <a:p>
            <a:pPr>
              <a:defRPr/>
            </a:pPr>
            <a:r>
              <a:rPr sz="2400" b="1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⭐ Simple Code Explanation (RFID UID Reader)</a:t>
            </a:r>
            <a:endParaRPr dirty="0"/>
          </a:p>
          <a:p>
            <a:pPr>
              <a:defRPr/>
            </a:pPr>
            <a:r>
              <a:rPr sz="1400" b="1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setup()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Start Serial monitor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Initialize </a:t>
            </a:r>
            <a:r>
              <a:rPr sz="1200" b="1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OLED</a:t>
            </a:r>
            <a:r>
              <a:rPr sz="12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, show “RFID Ready”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Initialize </a:t>
            </a:r>
            <a:r>
              <a:rPr sz="1200" b="1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RFID reader (MFRC522)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Display “Scan card…” message in Serial</a:t>
            </a:r>
            <a:endParaRPr dirty="0"/>
          </a:p>
          <a:p>
            <a:pPr>
              <a:defRPr/>
            </a:pPr>
            <a:r>
              <a:rPr sz="1400" b="1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loop()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Check if a </a:t>
            </a:r>
            <a:r>
              <a:rPr sz="1200" b="1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new card is present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Read card’s </a:t>
            </a:r>
            <a:r>
              <a:rPr sz="1200" b="1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UID bytes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Convert UID to </a:t>
            </a:r>
            <a:r>
              <a:rPr sz="1200" b="1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HEX string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Print UID in Serial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Display UID on OLED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Title: “RFID UID”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UID printed below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Small delay before next scan</a:t>
            </a:r>
            <a:endParaRPr dirty="0"/>
          </a:p>
        </p:txBody>
      </p:sp>
      <p:pic>
        <p:nvPicPr>
          <p:cNvPr id="1198827620" name="Picture 1198827619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6356846" y="1121634"/>
            <a:ext cx="4112663" cy="416394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C95BDD0-21D0-7A2F-09D2-48B81D1E2F94}"/>
              </a:ext>
            </a:extLst>
          </p:cNvPr>
          <p:cNvSpPr txBox="1"/>
          <p:nvPr/>
        </p:nvSpPr>
        <p:spPr>
          <a:xfrm>
            <a:off x="5953569" y="5291465"/>
            <a:ext cx="589858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 err="1"/>
              <a:t>Github</a:t>
            </a:r>
            <a:r>
              <a:rPr lang="en-GB" b="1" dirty="0"/>
              <a:t> Link:</a:t>
            </a:r>
          </a:p>
          <a:p>
            <a:r>
              <a:rPr lang="en-GB" sz="1200" b="1" dirty="0"/>
              <a:t>(1). </a:t>
            </a:r>
            <a:r>
              <a:rPr lang="en-GB" sz="1200" b="1" dirty="0">
                <a:hlinkClick r:id="rId4"/>
              </a:rPr>
              <a:t>https://github.com/info-zas/Training/tree/main/GPREC/03_Communications/01_Code/01_Comm_Kit_RFIDCardInfo</a:t>
            </a:r>
            <a:endParaRPr lang="en-GB" sz="1200" b="1" dirty="0"/>
          </a:p>
          <a:p>
            <a:r>
              <a:rPr lang="en-GB" sz="1200" b="1" dirty="0"/>
              <a:t>(2). </a:t>
            </a:r>
            <a:r>
              <a:rPr lang="en-GB" sz="1200" b="1" dirty="0">
                <a:hlinkClick r:id="rId5"/>
              </a:rPr>
              <a:t>https://github.com/info-zas/Training/tree/main/GPREC/03_Communications/01_Code/02_Comm_Kit_RFIDCardReaderAccess</a:t>
            </a:r>
            <a:endParaRPr lang="en-GB" sz="12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A6D929E-7628-9AE0-4E3C-F9CD47C98D6D}"/>
              </a:ext>
            </a:extLst>
          </p:cNvPr>
          <p:cNvSpPr txBox="1"/>
          <p:nvPr/>
        </p:nvSpPr>
        <p:spPr>
          <a:xfrm>
            <a:off x="7944465" y="3038168"/>
            <a:ext cx="1268361" cy="90456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592227F-E4E2-DCCB-2747-E430565EC2F7}"/>
              </a:ext>
            </a:extLst>
          </p:cNvPr>
          <p:cNvSpPr txBox="1"/>
          <p:nvPr/>
        </p:nvSpPr>
        <p:spPr bwMode="auto">
          <a:xfrm>
            <a:off x="9311150" y="3509063"/>
            <a:ext cx="680542" cy="54569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E944E1-7818-1A2C-07EB-060A794A3827}"/>
              </a:ext>
            </a:extLst>
          </p:cNvPr>
          <p:cNvSpPr txBox="1"/>
          <p:nvPr/>
        </p:nvSpPr>
        <p:spPr bwMode="auto">
          <a:xfrm>
            <a:off x="10112748" y="2604845"/>
            <a:ext cx="420192" cy="164830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66164045" name="Title 1"/>
          <p:cNvSpPr>
            <a:spLocks noGrp="1"/>
          </p:cNvSpPr>
          <p:nvPr>
            <p:ph type="title"/>
          </p:nvPr>
        </p:nvSpPr>
        <p:spPr bwMode="auto"/>
        <p:txBody>
          <a:bodyPr vert="horz" lIns="91440" tIns="45720" rIns="91440" bIns="45720" rtlCol="0" anchor="ctr">
            <a:normAutofit/>
          </a:bodyPr>
          <a:lstStyle/>
          <a:p>
            <a:pPr lvl="1" algn="l">
              <a:lnSpc>
                <a:spcPct val="90000"/>
              </a:lnSpc>
              <a:defRPr/>
            </a:pPr>
            <a:r>
              <a:rPr lang="en-GB" sz="3600" b="1" dirty="0">
                <a:solidFill>
                  <a:srgbClr val="000000"/>
                </a:solidFill>
                <a:latin typeface="+mj-lt"/>
                <a:ea typeface="Calibri Light"/>
                <a:cs typeface="Calibri Light"/>
              </a:rPr>
              <a:t>Lab C2 – Wireless Communication between Tx and Rx Using NRF24L01</a:t>
            </a:r>
          </a:p>
        </p:txBody>
      </p:sp>
      <p:sp>
        <p:nvSpPr>
          <p:cNvPr id="1742524601" name="Content Placeholder 2"/>
          <p:cNvSpPr>
            <a:spLocks noGrp="1"/>
          </p:cNvSpPr>
          <p:nvPr>
            <p:ph idx="1"/>
          </p:nvPr>
        </p:nvSpPr>
        <p:spPr bwMode="auto">
          <a:xfrm>
            <a:off x="838199" y="1477710"/>
            <a:ext cx="10515600" cy="4699252"/>
          </a:xfrm>
        </p:spPr>
        <p:txBody>
          <a:bodyPr/>
          <a:lstStyle/>
          <a:p>
            <a:pPr>
              <a:defRPr/>
            </a:pPr>
            <a:r>
              <a:rPr lang="en-GB" b="1" dirty="0"/>
              <a:t>Things Needed</a:t>
            </a:r>
            <a:endParaRPr dirty="0"/>
          </a:p>
        </p:txBody>
      </p:sp>
      <p:pic>
        <p:nvPicPr>
          <p:cNvPr id="1324253071" name="Picture 1324253070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6990937" y="1690688"/>
            <a:ext cx="2502335" cy="200291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EC63FF4-78F4-A461-90CF-6DC9E6F108C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9706" y="2082429"/>
            <a:ext cx="5389928" cy="461175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08E4B09-3E4F-D61E-FD8B-571347CE8B3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4096" y="2002554"/>
            <a:ext cx="4815979" cy="412067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0137195-3F4E-B9CC-41D4-57320F44A56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47602" y="1899096"/>
            <a:ext cx="4936894" cy="4224130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D745F10B-3A87-FBBB-EC62-8D1B74307863}"/>
              </a:ext>
            </a:extLst>
          </p:cNvPr>
          <p:cNvSpPr txBox="1">
            <a:spLocks/>
          </p:cNvSpPr>
          <p:nvPr/>
        </p:nvSpPr>
        <p:spPr bwMode="auto">
          <a:xfrm>
            <a:off x="990600" y="5175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>
              <a:lnSpc>
                <a:spcPct val="90000"/>
              </a:lnSpc>
              <a:spcBef>
                <a:spcPts val="0"/>
              </a:spcBef>
              <a:buNone/>
              <a:defRPr sz="44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lvl="1" algn="l">
              <a:lnSpc>
                <a:spcPct val="90000"/>
              </a:lnSpc>
              <a:defRPr/>
            </a:pPr>
            <a:r>
              <a:rPr lang="en-GB" sz="3600" b="1">
                <a:solidFill>
                  <a:srgbClr val="000000"/>
                </a:solidFill>
                <a:latin typeface="+mj-lt"/>
                <a:ea typeface="Calibri Light"/>
                <a:cs typeface="Calibri Light"/>
              </a:rPr>
              <a:t>Lab C2 – Wireless Communication between Tx and Rx Using NRF24L01</a:t>
            </a:r>
            <a:endParaRPr lang="en-GB" sz="3600" b="1" dirty="0">
              <a:solidFill>
                <a:srgbClr val="000000"/>
              </a:solidFill>
              <a:latin typeface="+mj-lt"/>
              <a:ea typeface="Calibri Light"/>
              <a:cs typeface="Calibri Light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51DC7AB-BAC9-603B-ECAF-442224EDF8F9}"/>
              </a:ext>
            </a:extLst>
          </p:cNvPr>
          <p:cNvSpPr txBox="1"/>
          <p:nvPr/>
        </p:nvSpPr>
        <p:spPr bwMode="auto">
          <a:xfrm>
            <a:off x="1147916" y="2723536"/>
            <a:ext cx="2106561" cy="90456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4490774-822B-388A-7D67-A2D9D719D7DE}"/>
              </a:ext>
            </a:extLst>
          </p:cNvPr>
          <p:cNvSpPr txBox="1"/>
          <p:nvPr/>
        </p:nvSpPr>
        <p:spPr bwMode="auto">
          <a:xfrm>
            <a:off x="7022690" y="2524433"/>
            <a:ext cx="2106561" cy="90456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3600DA0-45E6-9A27-42FA-8E4E29B509D8}"/>
              </a:ext>
            </a:extLst>
          </p:cNvPr>
          <p:cNvSpPr txBox="1"/>
          <p:nvPr/>
        </p:nvSpPr>
        <p:spPr bwMode="auto">
          <a:xfrm>
            <a:off x="3463995" y="3158323"/>
            <a:ext cx="1019515" cy="90456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125305-B8B8-15CE-421D-C77808736577}"/>
              </a:ext>
            </a:extLst>
          </p:cNvPr>
          <p:cNvSpPr txBox="1"/>
          <p:nvPr/>
        </p:nvSpPr>
        <p:spPr bwMode="auto">
          <a:xfrm>
            <a:off x="9437358" y="3106594"/>
            <a:ext cx="1019515" cy="90456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172D14A-7C4E-CF6B-9D27-F9409A8B1752}"/>
              </a:ext>
            </a:extLst>
          </p:cNvPr>
          <p:cNvSpPr txBox="1"/>
          <p:nvPr/>
        </p:nvSpPr>
        <p:spPr bwMode="auto">
          <a:xfrm>
            <a:off x="4483510" y="2586955"/>
            <a:ext cx="1149202" cy="51963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A36791F-3691-C635-FD9E-5145F6DE2E4E}"/>
              </a:ext>
            </a:extLst>
          </p:cNvPr>
          <p:cNvSpPr txBox="1"/>
          <p:nvPr/>
        </p:nvSpPr>
        <p:spPr bwMode="auto">
          <a:xfrm>
            <a:off x="10456873" y="2457077"/>
            <a:ext cx="1149202" cy="51963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DABDBF4-30DE-4B62-0C5A-73F8D545BD11}"/>
              </a:ext>
            </a:extLst>
          </p:cNvPr>
          <p:cNvSpPr txBox="1"/>
          <p:nvPr/>
        </p:nvSpPr>
        <p:spPr>
          <a:xfrm>
            <a:off x="2611512" y="6174955"/>
            <a:ext cx="17508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NRF Transmitter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0CBA230-E3F7-FA30-0966-56E280A45FC7}"/>
              </a:ext>
            </a:extLst>
          </p:cNvPr>
          <p:cNvSpPr txBox="1"/>
          <p:nvPr/>
        </p:nvSpPr>
        <p:spPr>
          <a:xfrm>
            <a:off x="8348635" y="6141041"/>
            <a:ext cx="14446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NRF Receiver</a:t>
            </a:r>
          </a:p>
        </p:txBody>
      </p:sp>
    </p:spTree>
    <p:extLst>
      <p:ext uri="{BB962C8B-B14F-4D97-AF65-F5344CB8AC3E}">
        <p14:creationId xmlns:p14="http://schemas.microsoft.com/office/powerpoint/2010/main" val="15555333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2691452" name="Content Placeholder 2"/>
          <p:cNvSpPr>
            <a:spLocks noGrp="1"/>
          </p:cNvSpPr>
          <p:nvPr>
            <p:ph idx="1"/>
          </p:nvPr>
        </p:nvSpPr>
        <p:spPr bwMode="auto">
          <a:xfrm>
            <a:off x="453059" y="1203736"/>
            <a:ext cx="11087099" cy="5545864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normAutofit fontScale="85000" lnSpcReduction="20000"/>
          </a:bodyPr>
          <a:lstStyle/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NRF24L01 – Transmitter &amp; Receiver Workflow</a:t>
            </a:r>
            <a:endParaRPr dirty="0"/>
          </a:p>
          <a:p>
            <a:pPr>
              <a:defRPr/>
            </a:pPr>
            <a:r>
              <a:rPr sz="1800" b="1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1. Setup Transmitter &amp; Receiver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Configure </a:t>
            </a:r>
            <a:r>
              <a:rPr sz="1200" b="1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ESP32 + NRF24L01</a:t>
            </a:r>
            <a:r>
              <a:rPr sz="12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on SPI pins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Connect </a:t>
            </a:r>
            <a:r>
              <a:rPr sz="1200" b="1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OLED display</a:t>
            </a:r>
            <a:r>
              <a:rPr sz="12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for feedback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Set matching </a:t>
            </a:r>
            <a:r>
              <a:rPr sz="1200" b="1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radio address</a:t>
            </a:r>
            <a:r>
              <a:rPr sz="12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for TX/RX</a:t>
            </a:r>
            <a:endParaRPr dirty="0"/>
          </a:p>
          <a:p>
            <a:pPr>
              <a:defRPr/>
            </a:pPr>
            <a:r>
              <a:rPr sz="2400" b="1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 NRF24 Communication Workflow</a:t>
            </a:r>
            <a:endParaRPr dirty="0"/>
          </a:p>
          <a:p>
            <a:pPr>
              <a:defRPr/>
            </a:pPr>
            <a:r>
              <a:rPr sz="1800" b="1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🔵 Transmitter Side (TX)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ESP32 reads </a:t>
            </a:r>
            <a:r>
              <a:rPr sz="1200" b="1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potentiometer value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Formats message as: </a:t>
            </a:r>
            <a:r>
              <a:rPr sz="1200" b="1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"</a:t>
            </a:r>
            <a:r>
              <a:rPr sz="1200" b="1" i="0" u="none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PotValue:XXXX</a:t>
            </a:r>
            <a:r>
              <a:rPr sz="1200" b="1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"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Sends packet using </a:t>
            </a:r>
            <a:r>
              <a:rPr sz="1200" b="1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NRF24L01 @ 2.4 GHz</a:t>
            </a:r>
            <a:r>
              <a:rPr sz="12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(32-byte payload)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OLED shows: </a:t>
            </a:r>
            <a:r>
              <a:rPr sz="1200" b="1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“Sent: XXXX”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Uses SPI pins (</a:t>
            </a:r>
            <a:r>
              <a:rPr sz="1200" b="1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CE, CSN, SCK, MOSI, MISO</a:t>
            </a:r>
            <a:r>
              <a:rPr sz="12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)</a:t>
            </a:r>
            <a:endParaRPr dirty="0"/>
          </a:p>
          <a:p>
            <a:pPr>
              <a:defRPr/>
            </a:pPr>
            <a:r>
              <a:rPr sz="1800" b="1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NRF24 Wireless Link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Short-range, </a:t>
            </a:r>
            <a:r>
              <a:rPr sz="1200" b="1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high-speed 2.4 GHz</a:t>
            </a:r>
            <a:r>
              <a:rPr sz="12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radio link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Ideal for </a:t>
            </a:r>
            <a:r>
              <a:rPr sz="1200" b="1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robot-to-robot</a:t>
            </a:r>
            <a:r>
              <a:rPr sz="12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, remote sensors, wireless controllers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Low power, reliable packet system with </a:t>
            </a:r>
            <a:r>
              <a:rPr sz="1200" b="1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auto-acknowledge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Supports </a:t>
            </a:r>
            <a:r>
              <a:rPr sz="1200" b="1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multiple nodes</a:t>
            </a:r>
            <a:r>
              <a:rPr sz="12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via unique radio addresses</a:t>
            </a:r>
            <a:endParaRPr dirty="0"/>
          </a:p>
          <a:p>
            <a:pPr>
              <a:defRPr/>
            </a:pPr>
            <a:r>
              <a:rPr sz="1800" b="1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Receiver Side (RX)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ESP32 detects packets using </a:t>
            </a:r>
            <a:r>
              <a:rPr sz="1200" b="1" i="0" u="none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radio.available</a:t>
            </a:r>
            <a:r>
              <a:rPr sz="1200" b="1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()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Reads data with </a:t>
            </a:r>
            <a:r>
              <a:rPr sz="1200" b="1" i="0" u="none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radio.read</a:t>
            </a:r>
            <a:r>
              <a:rPr sz="1200" b="1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()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Extracts potentiometer value from received message</a:t>
            </a:r>
            <a:endParaRPr dirty="0"/>
          </a:p>
          <a:p>
            <a:pPr>
              <a:defRPr/>
            </a:pPr>
            <a:r>
              <a:rPr sz="1200" b="0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OLED displays: </a:t>
            </a:r>
            <a:r>
              <a:rPr sz="1200" b="1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“</a:t>
            </a:r>
            <a:r>
              <a:rPr sz="1200" b="1" i="0" u="none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Recv</a:t>
            </a:r>
            <a:r>
              <a:rPr sz="1200" b="1" i="0" u="none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: XXXX”</a:t>
            </a:r>
            <a:endParaRPr dirty="0"/>
          </a:p>
        </p:txBody>
      </p:sp>
      <p:pic>
        <p:nvPicPr>
          <p:cNvPr id="2087965436" name="Picture 2087965435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5690743" y="1325563"/>
            <a:ext cx="5563666" cy="3127283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A5C6990A-7164-3D64-714A-E7AF2803A1F4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738809" y="0"/>
            <a:ext cx="10515600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lvl="1" algn="l">
              <a:lnSpc>
                <a:spcPct val="90000"/>
              </a:lnSpc>
              <a:defRPr/>
            </a:pPr>
            <a:r>
              <a:rPr lang="en-GB" sz="3600" b="1" dirty="0">
                <a:solidFill>
                  <a:srgbClr val="000000"/>
                </a:solidFill>
                <a:latin typeface="+mj-lt"/>
                <a:ea typeface="Calibri Light"/>
                <a:cs typeface="Calibri Light"/>
              </a:rPr>
              <a:t>Lab C2 – Wireless Communication between Tx and Rx Using NRF24L01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8D35FD-BBD4-8B8E-1D9F-D44B0FD06A46}"/>
              </a:ext>
            </a:extLst>
          </p:cNvPr>
          <p:cNvSpPr txBox="1"/>
          <p:nvPr/>
        </p:nvSpPr>
        <p:spPr bwMode="auto">
          <a:xfrm>
            <a:off x="5521423" y="4516774"/>
            <a:ext cx="6403877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 err="1"/>
              <a:t>Github</a:t>
            </a:r>
            <a:r>
              <a:rPr lang="en-GB" b="1" dirty="0"/>
              <a:t> Link:</a:t>
            </a:r>
          </a:p>
          <a:p>
            <a:r>
              <a:rPr lang="en-GB" sz="1400" b="1" dirty="0"/>
              <a:t>(1). </a:t>
            </a:r>
            <a:r>
              <a:rPr lang="en-GB" sz="1400" b="1" dirty="0">
                <a:hlinkClick r:id="rId4"/>
              </a:rPr>
              <a:t>https://github.com/info-zas/Training/tree/main/GPREC/03_Communications/01_Code/03_Comm_Kit_NRF24L01_Transmitter_Encoder_Value</a:t>
            </a:r>
            <a:endParaRPr lang="en-GB" sz="1400" b="1" dirty="0"/>
          </a:p>
          <a:p>
            <a:r>
              <a:rPr lang="en-GB" sz="1400" b="1" dirty="0"/>
              <a:t>(2). </a:t>
            </a:r>
            <a:r>
              <a:rPr lang="en-GB" sz="1400" b="1" dirty="0">
                <a:hlinkClick r:id="rId5"/>
              </a:rPr>
              <a:t>https://github.com/info-zas/Training/tree/main/GPREC/03_Communications/01_Code/04_Comm_Kit_NRF24L01_Receiver_Encoder_Value</a:t>
            </a:r>
            <a:endParaRPr lang="en-GB" sz="1400" b="1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BFEE8F-53EF-B55D-3263-0F0010960A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Lab C3 – SD Card Module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F3A4216-8C4E-E060-B269-80CB26FDC70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2858" y="1212574"/>
            <a:ext cx="4371028" cy="564542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C24588A-02DD-CD91-6CDC-9CF64927721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41384" y="1690688"/>
            <a:ext cx="4834218" cy="43930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06732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B4D924-5551-841F-0565-74D1BA0D48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Lab C3 – SD Card Module </a:t>
            </a:r>
            <a:endParaRPr lang="en-GB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86DD41A-A69D-3C3D-96AF-910BB4C0B421}"/>
              </a:ext>
            </a:extLst>
          </p:cNvPr>
          <p:cNvSpPr txBox="1"/>
          <p:nvPr/>
        </p:nvSpPr>
        <p:spPr bwMode="auto">
          <a:xfrm>
            <a:off x="9412356" y="5943600"/>
            <a:ext cx="13436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 err="1"/>
              <a:t>Github</a:t>
            </a:r>
            <a:r>
              <a:rPr lang="en-GB" b="1" dirty="0"/>
              <a:t> Link:</a:t>
            </a:r>
          </a:p>
        </p:txBody>
      </p:sp>
    </p:spTree>
    <p:extLst>
      <p:ext uri="{BB962C8B-B14F-4D97-AF65-F5344CB8AC3E}">
        <p14:creationId xmlns:p14="http://schemas.microsoft.com/office/powerpoint/2010/main" val="413707915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9D7B1D-1C1A-AD47-87FA-76500DF686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Summary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E8728C2A-E1A0-49E0-C7E0-CFC082B63FC3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1263555"/>
            <a:ext cx="10163217" cy="52629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We explored the 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Communication Kit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the </a:t>
            </a:r>
            <a:r>
              <a:rPr lang="en-US" altLang="en-US" dirty="0">
                <a:latin typeface="Arial" panose="020B0604020202020204" pitchFamily="34" charset="0"/>
              </a:rPr>
              <a:t>final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kit in the ZAS Robotics Foundational Series.</a:t>
            </a:r>
            <a:endParaRPr lang="en-US" altLang="en-US" dirty="0">
              <a:latin typeface="Arial" panose="020B0604020202020204" pitchFamily="34" charset="0"/>
            </a:endParaRPr>
          </a:p>
          <a:p>
            <a:pPr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We focused on </a:t>
            </a:r>
            <a:r>
              <a:rPr lang="en-US" altLang="en-US" dirty="0">
                <a:latin typeface="Arial" panose="020B0604020202020204" pitchFamily="34" charset="0"/>
              </a:rPr>
              <a:t>using various communication technologies such as RFID, NRF, LoRa, IT, Bluetooth.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  <a:p>
            <a:pPr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b="1" dirty="0">
                <a:latin typeface="Arial" panose="020B0604020202020204" pitchFamily="34" charset="0"/>
              </a:rPr>
              <a:t>Labs Covered:</a:t>
            </a:r>
          </a:p>
          <a:p>
            <a:pPr lvl="1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GB" sz="2800" b="1" kern="1200" dirty="0">
                <a:latin typeface="Aptos" panose="02110004020202020204"/>
              </a:rPr>
              <a:t>Lab C1 – RFID</a:t>
            </a:r>
          </a:p>
          <a:p>
            <a:pPr lvl="1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GB" sz="2800" b="1" kern="1200" dirty="0">
                <a:latin typeface="Aptos" panose="02110004020202020204"/>
              </a:rPr>
              <a:t>Lab C2 – Wireless Communication between Tx and Rx Using NRF24L01</a:t>
            </a:r>
          </a:p>
          <a:p>
            <a:pPr lvl="1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GB" sz="2800" b="1" dirty="0"/>
              <a:t>Lab C3 – SD Card Module </a:t>
            </a:r>
            <a:endParaRPr lang="en-US" altLang="en-US" sz="2800" b="1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Next Sessions:</a:t>
            </a:r>
            <a:b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We will explore the ZAS Robotics Navigational Series (Car 1, Car 2, Car 3).</a:t>
            </a:r>
          </a:p>
        </p:txBody>
      </p:sp>
    </p:spTree>
    <p:extLst>
      <p:ext uri="{BB962C8B-B14F-4D97-AF65-F5344CB8AC3E}">
        <p14:creationId xmlns:p14="http://schemas.microsoft.com/office/powerpoint/2010/main" val="25532432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2_Office Theme">
  <a:themeElements>
    <a:clrScheme name="ZASRobotics">
      <a:dk1>
        <a:sysClr val="windowText" lastClr="000000"/>
      </a:dk1>
      <a:lt1>
        <a:sysClr val="window" lastClr="FFFFFF"/>
      </a:lt1>
      <a:dk2>
        <a:srgbClr val="0E2841"/>
      </a:dk2>
      <a:lt2>
        <a:srgbClr val="8ECAE6"/>
      </a:lt2>
      <a:accent1>
        <a:srgbClr val="219EBC"/>
      </a:accent1>
      <a:accent2>
        <a:srgbClr val="8ECAE6"/>
      </a:accent2>
      <a:accent3>
        <a:srgbClr val="023047"/>
      </a:accent3>
      <a:accent4>
        <a:srgbClr val="FF715B"/>
      </a:accent4>
      <a:accent5>
        <a:srgbClr val="F9CB4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858</Words>
  <Application>Microsoft Office PowerPoint</Application>
  <PresentationFormat>Widescreen</PresentationFormat>
  <Paragraphs>109</Paragraphs>
  <Slides>14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14</vt:i4>
      </vt:variant>
    </vt:vector>
  </HeadingPairs>
  <TitlesOfParts>
    <vt:vector size="22" baseType="lpstr">
      <vt:lpstr>Aptos</vt:lpstr>
      <vt:lpstr>Aptos Display</vt:lpstr>
      <vt:lpstr>Arial</vt:lpstr>
      <vt:lpstr>Calibri</vt:lpstr>
      <vt:lpstr>Calibri Light</vt:lpstr>
      <vt:lpstr>Times New Roman</vt:lpstr>
      <vt:lpstr>Office Theme</vt:lpstr>
      <vt:lpstr>2_Office Theme</vt:lpstr>
      <vt:lpstr>ZAS Robotics (Communication Kit) Training</vt:lpstr>
      <vt:lpstr>Communications</vt:lpstr>
      <vt:lpstr>Communication Kit (Contents)</vt:lpstr>
      <vt:lpstr>Communication Creative Board</vt:lpstr>
      <vt:lpstr>Kit 3 Communication Creative Board - Features</vt:lpstr>
      <vt:lpstr>Health &amp; Safety Precautions</vt:lpstr>
      <vt:lpstr>Lab C1 - RFID Reading &amp; Access Control System (MFRC522 + OLED)</vt:lpstr>
      <vt:lpstr>Lab C1 - RFID Reading &amp; Access Control System (MFRC522 + OLED)</vt:lpstr>
      <vt:lpstr>Lab C2 – Wireless Communication between Tx and Rx Using NRF24L01</vt:lpstr>
      <vt:lpstr>PowerPoint Presentation</vt:lpstr>
      <vt:lpstr>Lab C2 – Wireless Communication between Tx and Rx Using NRF24L01</vt:lpstr>
      <vt:lpstr>Lab C3 – SD Card Module </vt:lpstr>
      <vt:lpstr>Lab C3 – SD Card Module </vt:lpstr>
      <vt:lpstr>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Fakruddin Mohammed</dc:creator>
  <cp:lastModifiedBy>Fakruddin Mohammed</cp:lastModifiedBy>
  <cp:revision>87</cp:revision>
  <dcterms:created xsi:type="dcterms:W3CDTF">2025-11-13T13:02:47Z</dcterms:created>
  <dcterms:modified xsi:type="dcterms:W3CDTF">2025-11-24T22:25:51Z</dcterms:modified>
</cp:coreProperties>
</file>