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259" r:id="rId4"/>
    <p:sldId id="265" r:id="rId5"/>
    <p:sldId id="260" r:id="rId6"/>
    <p:sldId id="284" r:id="rId7"/>
    <p:sldId id="285" r:id="rId8"/>
    <p:sldId id="288" r:id="rId9"/>
    <p:sldId id="286" r:id="rId10"/>
    <p:sldId id="262" r:id="rId11"/>
    <p:sldId id="261" r:id="rId12"/>
    <p:sldId id="263" r:id="rId13"/>
    <p:sldId id="291" r:id="rId14"/>
    <p:sldId id="292" r:id="rId15"/>
    <p:sldId id="293" r:id="rId16"/>
    <p:sldId id="289" r:id="rId17"/>
    <p:sldId id="290" r:id="rId18"/>
    <p:sldId id="276" r:id="rId19"/>
    <p:sldId id="268" r:id="rId20"/>
    <p:sldId id="269" r:id="rId21"/>
    <p:sldId id="264" r:id="rId22"/>
    <p:sldId id="270" r:id="rId23"/>
    <p:sldId id="266" r:id="rId24"/>
    <p:sldId id="271" r:id="rId25"/>
    <p:sldId id="267" r:id="rId26"/>
    <p:sldId id="272" r:id="rId27"/>
    <p:sldId id="273" r:id="rId28"/>
    <p:sldId id="274" r:id="rId29"/>
    <p:sldId id="275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8BDBB-A9AA-4EA8-839E-776D809E4B70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82B04-7B80-489C-BBB9-8DC9B13C9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52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13EA-6ED6-4717-A955-EEF1D6C7BEDF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50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5F1B-EA97-462D-964B-A3B18EEDB77C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2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33C-75DB-499F-AB41-F7B08AD8DD27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91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EE8D-5591-4529-BDB4-27B6F16B289F}" type="datetime1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42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3935-CB14-44C3-A7B8-4A64E91EB368}" type="datetime1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85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2D33-7DB6-4C22-ABCF-04EA101FA9E8}" type="datetime1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7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8CE8-F182-4139-AEDE-2CE17C096A0C}" type="datetime1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367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4B25-4EB4-4615-B5A8-0CFFBDA65C65}" type="datetime1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85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804B0-C68E-41ED-908C-3C18CF0FF094}" type="datetime1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09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79DBB-14D7-469D-8C98-BA0034030FAD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13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323D-C6F4-4C34-952C-8ED6FCE215CD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76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1BC6A-0D15-455A-89D6-C27A6F8B655A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99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1365C-EF71-4CE7-9F68-1765552E71D1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139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851D-EA4F-4747-B9A1-9552156AB555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055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4360-8B9F-4432-B77C-8083FB824912}" type="datetime1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498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A881E-529A-410A-BE55-AD30E76F5975}" type="datetime1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20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A16F6-BB5F-4453-A591-7620235D63D5}" type="datetime1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806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FC9A8-829A-4224-8C34-00F0123A8E53}" type="datetime1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766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69D35-65C0-444C-BF22-5EBF1E2FAC54}" type="datetime1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765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233B-3254-4A18-B951-D4A5FC3F4336}" type="datetime1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863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48A8-37FE-4A01-8860-80C6D7AFF32C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823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81C4-186B-495B-B8F7-5CE383C44FC7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34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17C0E-9A85-42A4-9B7D-62A0F169B95E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31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A12FE-23D5-4686-AF0E-C1948D5021C0}" type="datetime1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82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Familiarisation Training to Faculty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Training Schedule</a:t>
            </a:r>
          </a:p>
          <a:p>
            <a:r>
              <a:rPr lang="en-GB" sz="3200" dirty="0">
                <a:solidFill>
                  <a:schemeClr val="accent1"/>
                </a:solidFill>
              </a:rPr>
              <a:t>(5</a:t>
            </a:r>
            <a:r>
              <a:rPr lang="en-GB" sz="3200" baseline="30000" dirty="0">
                <a:solidFill>
                  <a:schemeClr val="accent1"/>
                </a:solidFill>
              </a:rPr>
              <a:t>th</a:t>
            </a:r>
            <a:r>
              <a:rPr lang="en-GB" sz="3200" dirty="0">
                <a:solidFill>
                  <a:schemeClr val="accent1"/>
                </a:solidFill>
              </a:rPr>
              <a:t> and 6</a:t>
            </a:r>
            <a:r>
              <a:rPr lang="en-GB" sz="3200" baseline="30000" dirty="0">
                <a:solidFill>
                  <a:schemeClr val="accent1"/>
                </a:solidFill>
              </a:rPr>
              <a:t>th</a:t>
            </a:r>
            <a:r>
              <a:rPr lang="en-GB" sz="3200" dirty="0">
                <a:solidFill>
                  <a:schemeClr val="accent1"/>
                </a:solidFill>
              </a:rPr>
              <a:t> Dec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  <p:pic>
        <p:nvPicPr>
          <p:cNvPr id="1026" name="Picture 2" descr="IIITDM Kurnool - IEEE Open">
            <a:extLst>
              <a:ext uri="{FF2B5EF4-FFF2-40B4-BE49-F238E27FC236}">
                <a16:creationId xmlns:a16="http://schemas.microsoft.com/office/drawing/2014/main" id="{1CD27F7C-20E9-6381-8FFE-8C01E9F1A8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811" t="16259" r="27143" b="18939"/>
          <a:stretch>
            <a:fillRect/>
          </a:stretch>
        </p:blipFill>
        <p:spPr bwMode="auto">
          <a:xfrm>
            <a:off x="4953000" y="0"/>
            <a:ext cx="1545772" cy="152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CB6ED-BB1D-49AD-0133-35AC73C3CD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25" y="188758"/>
            <a:ext cx="3149206" cy="116825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7D6C2-FF3D-6BAD-13DD-B9846BBB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C2B6E-D05B-1DCF-7DAB-CE12D5C7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7805-5ACA-D39F-930B-28CFB9DC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Faculty Training Agenda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BC67D7-A4A4-25CA-A18F-15D145C56EBC}"/>
              </a:ext>
            </a:extLst>
          </p:cNvPr>
          <p:cNvCxnSpPr/>
          <p:nvPr/>
        </p:nvCxnSpPr>
        <p:spPr>
          <a:xfrm>
            <a:off x="1164771" y="2046514"/>
            <a:ext cx="984068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426B43-D8CA-0851-6251-4DB240779F91}"/>
              </a:ext>
            </a:extLst>
          </p:cNvPr>
          <p:cNvCxnSpPr/>
          <p:nvPr/>
        </p:nvCxnSpPr>
        <p:spPr>
          <a:xfrm>
            <a:off x="2743200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41AE7C-CA6F-C6D5-EF10-5562F1F9865C}"/>
              </a:ext>
            </a:extLst>
          </p:cNvPr>
          <p:cNvCxnSpPr/>
          <p:nvPr/>
        </p:nvCxnSpPr>
        <p:spPr>
          <a:xfrm>
            <a:off x="6008914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E6BEB6-0982-1421-9BA7-E615CD0E7342}"/>
              </a:ext>
            </a:extLst>
          </p:cNvPr>
          <p:cNvCxnSpPr/>
          <p:nvPr/>
        </p:nvCxnSpPr>
        <p:spPr>
          <a:xfrm>
            <a:off x="6749142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436AC1-40E0-68B4-D6DF-AD1C7CEE5C55}"/>
              </a:ext>
            </a:extLst>
          </p:cNvPr>
          <p:cNvCxnSpPr/>
          <p:nvPr/>
        </p:nvCxnSpPr>
        <p:spPr>
          <a:xfrm>
            <a:off x="1164771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BB51BF-5CA8-9A88-5C49-72AE7F71D081}"/>
              </a:ext>
            </a:extLst>
          </p:cNvPr>
          <p:cNvSpPr txBox="1"/>
          <p:nvPr/>
        </p:nvSpPr>
        <p:spPr>
          <a:xfrm>
            <a:off x="827979" y="1652449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 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71AFA-A450-F235-7601-1CD7257E2262}"/>
              </a:ext>
            </a:extLst>
          </p:cNvPr>
          <p:cNvSpPr txBox="1"/>
          <p:nvPr/>
        </p:nvSpPr>
        <p:spPr>
          <a:xfrm>
            <a:off x="2344693" y="1652449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10 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5728A-59CB-53BB-2CF2-2E11759F3A4A}"/>
              </a:ext>
            </a:extLst>
          </p:cNvPr>
          <p:cNvSpPr txBox="1"/>
          <p:nvPr/>
        </p:nvSpPr>
        <p:spPr>
          <a:xfrm>
            <a:off x="5610407" y="1650745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12 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42515-99BB-0007-CB1D-AEE96FFE0355}"/>
              </a:ext>
            </a:extLst>
          </p:cNvPr>
          <p:cNvSpPr txBox="1"/>
          <p:nvPr/>
        </p:nvSpPr>
        <p:spPr>
          <a:xfrm>
            <a:off x="6488552" y="1650745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 PM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D2A2A4-8FC7-64FD-3F52-BA0F7EEC1FB4}"/>
              </a:ext>
            </a:extLst>
          </p:cNvPr>
          <p:cNvCxnSpPr/>
          <p:nvPr/>
        </p:nvCxnSpPr>
        <p:spPr>
          <a:xfrm>
            <a:off x="9067799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DF9788-0F0F-79AF-4A2D-0F9A53A68D20}"/>
              </a:ext>
            </a:extLst>
          </p:cNvPr>
          <p:cNvSpPr txBox="1"/>
          <p:nvPr/>
        </p:nvSpPr>
        <p:spPr>
          <a:xfrm>
            <a:off x="8715108" y="165074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 PM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C361AB-A858-1F5C-A8C8-611AE59325A8}"/>
              </a:ext>
            </a:extLst>
          </p:cNvPr>
          <p:cNvCxnSpPr/>
          <p:nvPr/>
        </p:nvCxnSpPr>
        <p:spPr>
          <a:xfrm>
            <a:off x="11005457" y="204651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771402-9CF2-19D5-01EC-39558EACD8A6}"/>
              </a:ext>
            </a:extLst>
          </p:cNvPr>
          <p:cNvSpPr txBox="1"/>
          <p:nvPr/>
        </p:nvSpPr>
        <p:spPr>
          <a:xfrm>
            <a:off x="10603270" y="1650745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 PM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B27495-5A5B-E8D1-D76A-AC86E3D35E65}"/>
              </a:ext>
            </a:extLst>
          </p:cNvPr>
          <p:cNvCxnSpPr/>
          <p:nvPr/>
        </p:nvCxnSpPr>
        <p:spPr>
          <a:xfrm>
            <a:off x="1948543" y="2122714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411A37-611F-C179-87CB-C2D261558B25}"/>
              </a:ext>
            </a:extLst>
          </p:cNvPr>
          <p:cNvCxnSpPr/>
          <p:nvPr/>
        </p:nvCxnSpPr>
        <p:spPr>
          <a:xfrm>
            <a:off x="4321629" y="2160813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8D05A0-3522-CEC5-4081-4DB5307AAE77}"/>
              </a:ext>
            </a:extLst>
          </p:cNvPr>
          <p:cNvCxnSpPr/>
          <p:nvPr/>
        </p:nvCxnSpPr>
        <p:spPr>
          <a:xfrm>
            <a:off x="6407420" y="2182583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255FF1-C2BB-0346-0641-30E11617D968}"/>
              </a:ext>
            </a:extLst>
          </p:cNvPr>
          <p:cNvCxnSpPr/>
          <p:nvPr/>
        </p:nvCxnSpPr>
        <p:spPr>
          <a:xfrm>
            <a:off x="7898763" y="2182583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E51CA6-3625-3289-2F91-A1F3A8E1D173}"/>
              </a:ext>
            </a:extLst>
          </p:cNvPr>
          <p:cNvCxnSpPr/>
          <p:nvPr/>
        </p:nvCxnSpPr>
        <p:spPr>
          <a:xfrm>
            <a:off x="10021477" y="2160812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755C5F6-66CE-D216-7583-B7DE8FD56CBA}"/>
              </a:ext>
            </a:extLst>
          </p:cNvPr>
          <p:cNvSpPr txBox="1"/>
          <p:nvPr/>
        </p:nvSpPr>
        <p:spPr>
          <a:xfrm>
            <a:off x="1187725" y="2971800"/>
            <a:ext cx="1521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Introductions</a:t>
            </a:r>
          </a:p>
          <a:p>
            <a:r>
              <a:rPr lang="en-GB" dirty="0">
                <a:solidFill>
                  <a:schemeClr val="bg1"/>
                </a:solidFill>
              </a:rPr>
              <a:t>Brief Talk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2C20C7-B50B-9F93-F7DB-127D92752922}"/>
              </a:ext>
            </a:extLst>
          </p:cNvPr>
          <p:cNvSpPr txBox="1"/>
          <p:nvPr/>
        </p:nvSpPr>
        <p:spPr>
          <a:xfrm>
            <a:off x="3827263" y="2971800"/>
            <a:ext cx="988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1D5647-A9A3-8397-6C8E-5621B20F5F9C}"/>
              </a:ext>
            </a:extLst>
          </p:cNvPr>
          <p:cNvSpPr txBox="1"/>
          <p:nvPr/>
        </p:nvSpPr>
        <p:spPr>
          <a:xfrm>
            <a:off x="5836611" y="2971800"/>
            <a:ext cx="80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Lunch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E65E41-1FD5-2505-E4AC-4B7BD60E4F13}"/>
              </a:ext>
            </a:extLst>
          </p:cNvPr>
          <p:cNvSpPr txBox="1"/>
          <p:nvPr/>
        </p:nvSpPr>
        <p:spPr>
          <a:xfrm>
            <a:off x="7404397" y="29718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Motion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16ECED-8402-155C-ACC5-B37CEA8D496C}"/>
              </a:ext>
            </a:extLst>
          </p:cNvPr>
          <p:cNvSpPr txBox="1"/>
          <p:nvPr/>
        </p:nvSpPr>
        <p:spPr>
          <a:xfrm>
            <a:off x="9153124" y="2971800"/>
            <a:ext cx="191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Communications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BFC602-A6C4-144D-A292-7CD6D719921B}"/>
              </a:ext>
            </a:extLst>
          </p:cNvPr>
          <p:cNvCxnSpPr/>
          <p:nvPr/>
        </p:nvCxnSpPr>
        <p:spPr>
          <a:xfrm>
            <a:off x="3827263" y="3918856"/>
            <a:ext cx="445429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33CE5C4-4F1F-E2EC-C7A2-588329674194}"/>
              </a:ext>
            </a:extLst>
          </p:cNvPr>
          <p:cNvCxnSpPr/>
          <p:nvPr/>
        </p:nvCxnSpPr>
        <p:spPr>
          <a:xfrm>
            <a:off x="1055922" y="5075840"/>
            <a:ext cx="984068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3F2C15-5B61-998E-8F75-39CC3266E919}"/>
              </a:ext>
            </a:extLst>
          </p:cNvPr>
          <p:cNvCxnSpPr/>
          <p:nvPr/>
        </p:nvCxnSpPr>
        <p:spPr>
          <a:xfrm>
            <a:off x="2634351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F0ADD5-D251-2971-D518-AC61DBE6F26A}"/>
              </a:ext>
            </a:extLst>
          </p:cNvPr>
          <p:cNvCxnSpPr/>
          <p:nvPr/>
        </p:nvCxnSpPr>
        <p:spPr>
          <a:xfrm>
            <a:off x="5900065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16B9806-E09F-7AC6-ACFE-A66740286B12}"/>
              </a:ext>
            </a:extLst>
          </p:cNvPr>
          <p:cNvCxnSpPr/>
          <p:nvPr/>
        </p:nvCxnSpPr>
        <p:spPr>
          <a:xfrm>
            <a:off x="6640293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DE1959E-BD7F-F39D-602C-9A8FBB33896B}"/>
              </a:ext>
            </a:extLst>
          </p:cNvPr>
          <p:cNvCxnSpPr/>
          <p:nvPr/>
        </p:nvCxnSpPr>
        <p:spPr>
          <a:xfrm>
            <a:off x="1055922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D2AD592-8436-179D-C63C-643BA135E862}"/>
              </a:ext>
            </a:extLst>
          </p:cNvPr>
          <p:cNvSpPr txBox="1"/>
          <p:nvPr/>
        </p:nvSpPr>
        <p:spPr>
          <a:xfrm>
            <a:off x="719130" y="4681775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 AM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F94138-1978-C221-634E-E1035BB8D774}"/>
              </a:ext>
            </a:extLst>
          </p:cNvPr>
          <p:cNvSpPr txBox="1"/>
          <p:nvPr/>
        </p:nvSpPr>
        <p:spPr>
          <a:xfrm>
            <a:off x="2235844" y="468177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9.30 AM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5C9F66-8BD2-CE14-3A24-763BADBA905A}"/>
              </a:ext>
            </a:extLst>
          </p:cNvPr>
          <p:cNvSpPr txBox="1"/>
          <p:nvPr/>
        </p:nvSpPr>
        <p:spPr>
          <a:xfrm>
            <a:off x="5501558" y="4680071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12 AM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6FA00C-FAD3-B59B-7480-3217D1B7416A}"/>
              </a:ext>
            </a:extLst>
          </p:cNvPr>
          <p:cNvSpPr txBox="1"/>
          <p:nvPr/>
        </p:nvSpPr>
        <p:spPr>
          <a:xfrm>
            <a:off x="6379703" y="4680071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 PM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383828-F2E1-2DE8-4F32-54AFE1786EC0}"/>
              </a:ext>
            </a:extLst>
          </p:cNvPr>
          <p:cNvCxnSpPr/>
          <p:nvPr/>
        </p:nvCxnSpPr>
        <p:spPr>
          <a:xfrm>
            <a:off x="8958950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82FAE92-03FF-59E0-11DD-5F4F1AC5EA1C}"/>
              </a:ext>
            </a:extLst>
          </p:cNvPr>
          <p:cNvSpPr txBox="1"/>
          <p:nvPr/>
        </p:nvSpPr>
        <p:spPr>
          <a:xfrm>
            <a:off x="8606259" y="468007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 PM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DB04BD7-70E4-376A-7D9D-E1EA74566766}"/>
              </a:ext>
            </a:extLst>
          </p:cNvPr>
          <p:cNvCxnSpPr/>
          <p:nvPr/>
        </p:nvCxnSpPr>
        <p:spPr>
          <a:xfrm>
            <a:off x="10896608" y="5075840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17EF4C9-330E-7F67-D38C-5D1C2DB89E5E}"/>
              </a:ext>
            </a:extLst>
          </p:cNvPr>
          <p:cNvSpPr txBox="1"/>
          <p:nvPr/>
        </p:nvSpPr>
        <p:spPr>
          <a:xfrm>
            <a:off x="10494421" y="468007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 PM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B18B37-1E0C-A84A-E6E3-E350FA6DB56B}"/>
              </a:ext>
            </a:extLst>
          </p:cNvPr>
          <p:cNvCxnSpPr/>
          <p:nvPr/>
        </p:nvCxnSpPr>
        <p:spPr>
          <a:xfrm>
            <a:off x="1839694" y="5152040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683723-AC05-0D0F-EA1A-58E269B12E51}"/>
              </a:ext>
            </a:extLst>
          </p:cNvPr>
          <p:cNvCxnSpPr/>
          <p:nvPr/>
        </p:nvCxnSpPr>
        <p:spPr>
          <a:xfrm>
            <a:off x="4212780" y="5190139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60FA6F-03C8-BA93-F1C8-E90589C624F7}"/>
              </a:ext>
            </a:extLst>
          </p:cNvPr>
          <p:cNvCxnSpPr/>
          <p:nvPr/>
        </p:nvCxnSpPr>
        <p:spPr>
          <a:xfrm>
            <a:off x="6298571" y="5211909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86DE4B-9CFC-90BE-08FC-7E7D78FF6D5D}"/>
              </a:ext>
            </a:extLst>
          </p:cNvPr>
          <p:cNvCxnSpPr/>
          <p:nvPr/>
        </p:nvCxnSpPr>
        <p:spPr>
          <a:xfrm>
            <a:off x="7789914" y="5211909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6525A87-FAB0-8FAA-80E6-9A805B19CF8F}"/>
              </a:ext>
            </a:extLst>
          </p:cNvPr>
          <p:cNvCxnSpPr/>
          <p:nvPr/>
        </p:nvCxnSpPr>
        <p:spPr>
          <a:xfrm>
            <a:off x="9912628" y="5190138"/>
            <a:ext cx="0" cy="664029"/>
          </a:xfrm>
          <a:prstGeom prst="straightConnector1">
            <a:avLst/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F853E59-0199-57AE-840B-28B830E8127A}"/>
              </a:ext>
            </a:extLst>
          </p:cNvPr>
          <p:cNvSpPr txBox="1"/>
          <p:nvPr/>
        </p:nvSpPr>
        <p:spPr>
          <a:xfrm>
            <a:off x="1078876" y="6001126"/>
            <a:ext cx="89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Re-cap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CB71B6-973E-5F25-C1B6-073534FD6957}"/>
              </a:ext>
            </a:extLst>
          </p:cNvPr>
          <p:cNvSpPr txBox="1"/>
          <p:nvPr/>
        </p:nvSpPr>
        <p:spPr>
          <a:xfrm>
            <a:off x="3718414" y="6001126"/>
            <a:ext cx="1540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Robotic Car-1</a:t>
            </a:r>
          </a:p>
          <a:p>
            <a:r>
              <a:rPr lang="en-GB" dirty="0">
                <a:solidFill>
                  <a:schemeClr val="bg1"/>
                </a:solidFill>
              </a:rPr>
              <a:t>(Sensors)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CF1B77-32E3-BBDF-F199-EFB58943C1B9}"/>
              </a:ext>
            </a:extLst>
          </p:cNvPr>
          <p:cNvSpPr txBox="1"/>
          <p:nvPr/>
        </p:nvSpPr>
        <p:spPr>
          <a:xfrm>
            <a:off x="5727762" y="6001126"/>
            <a:ext cx="80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4"/>
                </a:solidFill>
              </a:rPr>
              <a:t>Lunch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DA9EC8-27F3-10AE-1AA1-75500A9B4F2F}"/>
              </a:ext>
            </a:extLst>
          </p:cNvPr>
          <p:cNvSpPr txBox="1"/>
          <p:nvPr/>
        </p:nvSpPr>
        <p:spPr>
          <a:xfrm>
            <a:off x="7295548" y="6001126"/>
            <a:ext cx="1558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Robotic Car-2</a:t>
            </a:r>
          </a:p>
          <a:p>
            <a:r>
              <a:rPr lang="en-GB" dirty="0">
                <a:solidFill>
                  <a:schemeClr val="bg1"/>
                </a:solidFill>
              </a:rPr>
              <a:t>(Comms.)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2E235C-1938-378B-4B14-0100F43D25BD}"/>
              </a:ext>
            </a:extLst>
          </p:cNvPr>
          <p:cNvSpPr txBox="1"/>
          <p:nvPr/>
        </p:nvSpPr>
        <p:spPr>
          <a:xfrm>
            <a:off x="9044275" y="6001126"/>
            <a:ext cx="2239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Robotic Car-3</a:t>
            </a:r>
          </a:p>
          <a:p>
            <a:r>
              <a:rPr lang="en-GB" dirty="0">
                <a:solidFill>
                  <a:schemeClr val="bg1"/>
                </a:solidFill>
              </a:rPr>
              <a:t>(Encoders/IMU/GPS)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441AF2-4954-F142-1A0F-CAA1F631B9CA}"/>
              </a:ext>
            </a:extLst>
          </p:cNvPr>
          <p:cNvSpPr txBox="1"/>
          <p:nvPr/>
        </p:nvSpPr>
        <p:spPr>
          <a:xfrm>
            <a:off x="5727762" y="1121229"/>
            <a:ext cx="1102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5"/>
                </a:solidFill>
              </a:rPr>
              <a:t>Day-1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2FEF55-B1C5-995D-11E3-B833A9AFAFF5}"/>
              </a:ext>
            </a:extLst>
          </p:cNvPr>
          <p:cNvSpPr txBox="1"/>
          <p:nvPr/>
        </p:nvSpPr>
        <p:spPr>
          <a:xfrm>
            <a:off x="5722412" y="4130414"/>
            <a:ext cx="1126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5"/>
                </a:solidFill>
              </a:rPr>
              <a:t>Day-2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CC9547-6FCF-4CA0-E532-D47631217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F32B6-F783-08B2-A7C1-2A330D2D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41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C575F-A4C3-EAB4-75AD-D99CBB82E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8F38-9591-4EA9-FC02-E5F8709B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Design Philosophy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9 AM to 10 AM)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C0314F-8401-1945-3ADD-63C2B52D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70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98146-E13A-78F6-9F51-D22818F6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9BB3-BB17-CF43-9DD8-009B2F4D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8E4C43-608E-6781-2269-617A078F4855}"/>
              </a:ext>
            </a:extLst>
          </p:cNvPr>
          <p:cNvSpPr txBox="1"/>
          <p:nvPr/>
        </p:nvSpPr>
        <p:spPr>
          <a:xfrm>
            <a:off x="859971" y="1864861"/>
            <a:ext cx="106788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>
                <a:solidFill>
                  <a:schemeClr val="bg1"/>
                </a:solidFill>
              </a:rPr>
              <a:t>In Robotics, </a:t>
            </a:r>
            <a:r>
              <a:rPr lang="en-GB" sz="6000" b="1" dirty="0">
                <a:solidFill>
                  <a:schemeClr val="accent4"/>
                </a:solidFill>
              </a:rPr>
              <a:t>true understanding is achieved not through theory</a:t>
            </a:r>
            <a:r>
              <a:rPr lang="en-GB" sz="6000" dirty="0">
                <a:solidFill>
                  <a:schemeClr val="bg1"/>
                </a:solidFill>
              </a:rPr>
              <a:t>, </a:t>
            </a:r>
            <a:r>
              <a:rPr lang="en-GB" sz="6000" dirty="0">
                <a:solidFill>
                  <a:schemeClr val="accent5"/>
                </a:solidFill>
              </a:rPr>
              <a:t>but through practical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27FDC-0E02-FE0B-4A8B-0F43DEC28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5E546-3686-A8E0-4C69-52974D07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31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54FD7-7BAF-20C6-7BD8-8B4BD2C0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FFBA-FD79-120E-9AB2-E1692D00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Doing Robotics - Challenges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40777F-019A-1D36-E76D-397EAFDD7174}"/>
              </a:ext>
            </a:extLst>
          </p:cNvPr>
          <p:cNvSpPr txBox="1"/>
          <p:nvPr/>
        </p:nvSpPr>
        <p:spPr>
          <a:xfrm>
            <a:off x="448190" y="1037547"/>
            <a:ext cx="8402365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5"/>
                </a:solidFill>
              </a:rPr>
              <a:t>Common Issues: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Finding &amp; Sourcing Challenges;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Incomplete &amp; Unreliable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Incompatible Issues as Complexity Increases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Advanced Robotics – Import Tariffs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Black Box Products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Unstructured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Documentation &amp; Support Almost Non-Existent</a:t>
            </a:r>
            <a:endParaRPr lang="en-GB" sz="2800" b="1" dirty="0">
              <a:solidFill>
                <a:schemeClr val="accent4"/>
              </a:solidFill>
            </a:endParaRPr>
          </a:p>
          <a:p>
            <a:r>
              <a:rPr lang="en-GB" sz="2800" b="1" dirty="0">
                <a:solidFill>
                  <a:schemeClr val="accent4"/>
                </a:solidFill>
              </a:rPr>
              <a:t>Consequences of the Above Issues: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Learning Remains Shallow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Giving-up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Challenging Projects are Not Executed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Missed Career Opportunities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044D8-0F7A-ECD3-4409-75586978C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E536-E53D-4831-2ACD-65FADA4E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43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74B20-643B-E6C6-7D3B-1CAAF352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6078-47EC-5B68-C3FC-0F99D38E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Doing Robotics - Challenges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93B02-988B-EA07-C3D2-080888047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63F03F-371A-6D60-BA2F-3C9E902DD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8051"/>
            <a:ext cx="12192000" cy="544189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B199E-0090-EB13-8459-10D58821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94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41FF8-D928-E391-BB67-10004205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DC49-C440-4697-4828-4A4FD3E9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Philosophy: </a:t>
            </a:r>
            <a:r>
              <a:rPr lang="en-GB" b="1" dirty="0">
                <a:solidFill>
                  <a:schemeClr val="accent5"/>
                </a:solidFill>
              </a:rPr>
              <a:t>Building for Mastery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76FC7-8CCF-05CD-B35F-050055197057}"/>
              </a:ext>
            </a:extLst>
          </p:cNvPr>
          <p:cNvSpPr txBox="1"/>
          <p:nvPr/>
        </p:nvSpPr>
        <p:spPr>
          <a:xfrm>
            <a:off x="228600" y="1339592"/>
            <a:ext cx="117347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Removed all Obstacles: </a:t>
            </a:r>
            <a:r>
              <a:rPr lang="en-GB" sz="2000" b="1" dirty="0">
                <a:solidFill>
                  <a:schemeClr val="bg1"/>
                </a:solidFill>
              </a:rPr>
              <a:t>Addressed all electrical, mechanical &amp; power supply issues</a:t>
            </a:r>
          </a:p>
          <a:p>
            <a:endParaRPr lang="en-GB" sz="2000" b="1" dirty="0">
              <a:solidFill>
                <a:schemeClr val="accent4"/>
              </a:solidFill>
            </a:endParaRPr>
          </a:p>
          <a:p>
            <a:r>
              <a:rPr lang="en-GB" sz="2000" b="1" dirty="0">
                <a:solidFill>
                  <a:schemeClr val="accent4"/>
                </a:solidFill>
              </a:rPr>
              <a:t>Prioritize Deep Understanding:</a:t>
            </a:r>
            <a:r>
              <a:rPr lang="en-GB" sz="2000" dirty="0">
                <a:solidFill>
                  <a:schemeClr val="bg1"/>
                </a:solidFill>
              </a:rPr>
              <a:t> Deconstruct systems rather than relying on </a:t>
            </a:r>
            <a:r>
              <a:rPr lang="en-GB" sz="2000" u="sng" dirty="0">
                <a:solidFill>
                  <a:schemeClr val="accent5"/>
                </a:solidFill>
              </a:rPr>
              <a:t>'Black Box' or pre-packaged </a:t>
            </a:r>
            <a:r>
              <a:rPr lang="en-GB" sz="2000" dirty="0">
                <a:solidFill>
                  <a:schemeClr val="bg1"/>
                </a:solidFill>
              </a:rPr>
              <a:t>solutions.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accent4"/>
                </a:solidFill>
              </a:rPr>
              <a:t>Maximize Resource Efficiency:</a:t>
            </a:r>
            <a:r>
              <a:rPr lang="en-GB" sz="2000" dirty="0">
                <a:solidFill>
                  <a:schemeClr val="bg1"/>
                </a:solidFill>
              </a:rPr>
              <a:t> Develop projects using </a:t>
            </a:r>
            <a:r>
              <a:rPr lang="en-GB" sz="2000" u="sng" dirty="0">
                <a:solidFill>
                  <a:schemeClr val="accent5"/>
                </a:solidFill>
              </a:rPr>
              <a:t>reusable and adaptable </a:t>
            </a:r>
            <a:r>
              <a:rPr lang="en-GB" sz="2000" dirty="0">
                <a:solidFill>
                  <a:schemeClr val="bg1"/>
                </a:solidFill>
              </a:rPr>
              <a:t>components across different prototypes.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accent4"/>
                </a:solidFill>
              </a:rPr>
              <a:t>Master Modular Design:</a:t>
            </a:r>
            <a:r>
              <a:rPr lang="en-GB" sz="2000" dirty="0">
                <a:solidFill>
                  <a:schemeClr val="bg1"/>
                </a:solidFill>
              </a:rPr>
              <a:t> Learn system configuration by actively </a:t>
            </a:r>
            <a:r>
              <a:rPr lang="en-GB" sz="2000" u="sng" dirty="0">
                <a:solidFill>
                  <a:schemeClr val="accent5"/>
                </a:solidFill>
              </a:rPr>
              <a:t>adding, replacing, and integrating</a:t>
            </a:r>
            <a:r>
              <a:rPr lang="en-GB" sz="2000" dirty="0">
                <a:solidFill>
                  <a:schemeClr val="bg1"/>
                </a:solidFill>
              </a:rPr>
              <a:t> individual components.</a:t>
            </a:r>
            <a:endParaRPr lang="en-GB" sz="2000" b="1" dirty="0">
              <a:solidFill>
                <a:schemeClr val="accent4"/>
              </a:solidFill>
            </a:endParaRPr>
          </a:p>
          <a:p>
            <a:endParaRPr lang="en-GB" sz="2000" b="1" dirty="0">
              <a:solidFill>
                <a:schemeClr val="accent4"/>
              </a:solidFill>
            </a:endParaRPr>
          </a:p>
          <a:p>
            <a:r>
              <a:rPr lang="en-GB" sz="2000" b="1" dirty="0">
                <a:solidFill>
                  <a:schemeClr val="accent4"/>
                </a:solidFill>
              </a:rPr>
              <a:t>Bridge Theory to Application:</a:t>
            </a:r>
            <a:r>
              <a:rPr lang="en-GB" sz="2000" dirty="0">
                <a:solidFill>
                  <a:schemeClr val="bg1"/>
                </a:solidFill>
              </a:rPr>
              <a:t> Solidify foundational concepts by rapidly moving from </a:t>
            </a:r>
            <a:r>
              <a:rPr lang="en-GB" sz="2000" u="sng" dirty="0">
                <a:solidFill>
                  <a:schemeClr val="accent5"/>
                </a:solidFill>
              </a:rPr>
              <a:t>theory to practical </a:t>
            </a:r>
            <a:r>
              <a:rPr lang="en-GB" sz="2000" dirty="0">
                <a:solidFill>
                  <a:schemeClr val="bg1"/>
                </a:solidFill>
              </a:rPr>
              <a:t>implementation.</a:t>
            </a:r>
            <a:endParaRPr lang="en-GB" sz="2000" b="1" dirty="0">
              <a:solidFill>
                <a:schemeClr val="accent4"/>
              </a:solidFill>
            </a:endParaRPr>
          </a:p>
          <a:p>
            <a:endParaRPr lang="en-GB" sz="2000" b="1" dirty="0">
              <a:solidFill>
                <a:schemeClr val="accent4"/>
              </a:solidFill>
            </a:endParaRPr>
          </a:p>
          <a:p>
            <a:r>
              <a:rPr lang="en-GB" sz="2000" b="1" dirty="0">
                <a:solidFill>
                  <a:schemeClr val="accent4"/>
                </a:solidFill>
              </a:rPr>
              <a:t>Ensure Accessible Innovation:</a:t>
            </a:r>
            <a:r>
              <a:rPr lang="en-GB" sz="2000" dirty="0">
                <a:solidFill>
                  <a:schemeClr val="bg1"/>
                </a:solidFill>
              </a:rPr>
              <a:t> Maintain low-cost, high-impact projects to make learning widely accessible.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887CA-1CB7-C351-8798-F0C7D44FC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555F2-C1AF-394B-1D0C-22596DB5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384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D45EF-4149-E98E-AB80-67F824FC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CC32-E421-9DB7-F032-0EBB0912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0FE7A-B297-87A5-FC06-9F4B03ECD697}"/>
              </a:ext>
            </a:extLst>
          </p:cNvPr>
          <p:cNvSpPr txBox="1"/>
          <p:nvPr/>
        </p:nvSpPr>
        <p:spPr>
          <a:xfrm>
            <a:off x="500743" y="1096683"/>
            <a:ext cx="109836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accent5"/>
                </a:solidFill>
              </a:rPr>
              <a:t>Mandatory Lab Protocol</a:t>
            </a:r>
          </a:p>
          <a:p>
            <a:endParaRPr lang="en-GB" sz="3200" b="1" dirty="0">
              <a:solidFill>
                <a:schemeClr val="accent5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Strict Adherence to Safety:</a:t>
            </a:r>
            <a:r>
              <a:rPr lang="en-GB" sz="2400" dirty="0">
                <a:solidFill>
                  <a:schemeClr val="bg1"/>
                </a:solidFill>
              </a:rPr>
              <a:t> Uphold all health and safety procedures, regardless of the perceived low voltage or current of the equipment.</a:t>
            </a:r>
          </a:p>
          <a:p>
            <a:endParaRPr lang="en-GB" sz="2400" b="1" dirty="0">
              <a:solidFill>
                <a:schemeClr val="accent4"/>
              </a:solidFill>
            </a:endParaRPr>
          </a:p>
          <a:p>
            <a:r>
              <a:rPr lang="en-GB" sz="2400" b="1" dirty="0">
                <a:solidFill>
                  <a:schemeClr val="accent4"/>
                </a:solidFill>
              </a:rPr>
              <a:t>Implement the 'Four-Eyes Principle':</a:t>
            </a:r>
            <a:r>
              <a:rPr lang="en-GB" sz="2400" dirty="0">
                <a:solidFill>
                  <a:schemeClr val="bg1"/>
                </a:solidFill>
              </a:rPr>
              <a:t> Before engaging battery power, ensure critical system checks are independently verified by a second person.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43809-F485-FC50-EC31-A10FAE049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00DED-B88B-8A13-FCA3-FF305344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8</a:t>
            </a:fld>
            <a:endParaRPr lang="en-GB"/>
          </a:p>
        </p:txBody>
      </p:sp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0CB6ADB2-B4E7-87A4-FDE4-07CE35F85F99}"/>
              </a:ext>
            </a:extLst>
          </p:cNvPr>
          <p:cNvSpPr/>
          <p:nvPr/>
        </p:nvSpPr>
        <p:spPr>
          <a:xfrm>
            <a:off x="576331" y="4020560"/>
            <a:ext cx="4093028" cy="2617283"/>
          </a:xfrm>
          <a:prstGeom prst="flowChartPunchedTap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700" kern="1200" dirty="0">
                <a:solidFill>
                  <a:srgbClr val="FFFFFF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Always follow 4-eyes principle when it comes to checking </a:t>
            </a:r>
            <a:r>
              <a:rPr lang="en-GB" sz="2700" b="1" u="sng" kern="1200" dirty="0">
                <a:solidFill>
                  <a:srgbClr val="FFFFFF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VCC &amp; GND</a:t>
            </a:r>
            <a:endParaRPr lang="en-GB" sz="27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Flowchart: Punched Tape 6">
            <a:extLst>
              <a:ext uri="{FF2B5EF4-FFF2-40B4-BE49-F238E27FC236}">
                <a16:creationId xmlns:a16="http://schemas.microsoft.com/office/drawing/2014/main" id="{60F4C605-A6EE-E3D5-2502-9954205AA935}"/>
              </a:ext>
            </a:extLst>
          </p:cNvPr>
          <p:cNvSpPr/>
          <p:nvPr/>
        </p:nvSpPr>
        <p:spPr>
          <a:xfrm>
            <a:off x="8282147" y="3921629"/>
            <a:ext cx="3692141" cy="2617283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co-FR" sz="2800" kern="1200" dirty="0">
                <a:solidFill>
                  <a:srgbClr val="FFFFFF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Otherwise, you risk of damaging components</a:t>
            </a:r>
            <a:r>
              <a:rPr lang="co-FR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4-eyes Principle. The 4-eyes Principle is also known as… | by Erçin  Dedeoğlu | Medium">
            <a:extLst>
              <a:ext uri="{FF2B5EF4-FFF2-40B4-BE49-F238E27FC236}">
                <a16:creationId xmlns:a16="http://schemas.microsoft.com/office/drawing/2014/main" id="{3352A613-C5DD-1608-80F3-306AA0F51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359" y="4245681"/>
            <a:ext cx="3612788" cy="211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38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8B6FE-5F05-D0CC-8713-90D7C084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6148-E4FA-8B16-C215-EB630D0E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189A3-F00F-2263-A53F-A90C54011540}"/>
              </a:ext>
            </a:extLst>
          </p:cNvPr>
          <p:cNvSpPr txBox="1"/>
          <p:nvPr/>
        </p:nvSpPr>
        <p:spPr>
          <a:xfrm>
            <a:off x="250372" y="1320575"/>
            <a:ext cx="3132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accent5"/>
                </a:solidFill>
              </a:rPr>
              <a:t>Products Series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98B1B9-2C1D-FB89-A21E-2C6D13FAFC85}"/>
              </a:ext>
            </a:extLst>
          </p:cNvPr>
          <p:cNvSpPr/>
          <p:nvPr/>
        </p:nvSpPr>
        <p:spPr>
          <a:xfrm>
            <a:off x="990600" y="2231573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Sensors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0E8DB6-7524-EE47-6A17-5B375CE86D46}"/>
              </a:ext>
            </a:extLst>
          </p:cNvPr>
          <p:cNvSpPr/>
          <p:nvPr/>
        </p:nvSpPr>
        <p:spPr>
          <a:xfrm>
            <a:off x="5040085" y="2231572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8BD9EB-12F9-A922-D87B-1D41D861CC0F}"/>
              </a:ext>
            </a:extLst>
          </p:cNvPr>
          <p:cNvSpPr/>
          <p:nvPr/>
        </p:nvSpPr>
        <p:spPr>
          <a:xfrm>
            <a:off x="9089571" y="2231571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Communications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E10E44-CFBE-EE41-3E62-E8B437148EA5}"/>
              </a:ext>
            </a:extLst>
          </p:cNvPr>
          <p:cNvSpPr txBox="1"/>
          <p:nvPr/>
        </p:nvSpPr>
        <p:spPr>
          <a:xfrm>
            <a:off x="4554952" y="1771354"/>
            <a:ext cx="3364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Foundational Products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52F823-F4CD-9AE7-9C90-8219790D6F06}"/>
              </a:ext>
            </a:extLst>
          </p:cNvPr>
          <p:cNvSpPr/>
          <p:nvPr/>
        </p:nvSpPr>
        <p:spPr>
          <a:xfrm>
            <a:off x="990600" y="4659086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Robot Car-1</a:t>
            </a:r>
          </a:p>
          <a:p>
            <a:pPr algn="ctr"/>
            <a:r>
              <a:rPr lang="en-GB" dirty="0"/>
              <a:t>(Sensors)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54BE3C-1583-80CA-F3FF-B0BAB7550BAE}"/>
              </a:ext>
            </a:extLst>
          </p:cNvPr>
          <p:cNvSpPr/>
          <p:nvPr/>
        </p:nvSpPr>
        <p:spPr>
          <a:xfrm>
            <a:off x="5040085" y="4659085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Robot Car-2</a:t>
            </a:r>
          </a:p>
          <a:p>
            <a:pPr algn="ctr"/>
            <a:r>
              <a:rPr lang="en-GB" dirty="0"/>
              <a:t>(Comms.)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4FDD1D-D2D0-1869-447A-965BD9EF08EE}"/>
              </a:ext>
            </a:extLst>
          </p:cNvPr>
          <p:cNvSpPr/>
          <p:nvPr/>
        </p:nvSpPr>
        <p:spPr>
          <a:xfrm>
            <a:off x="9089571" y="4659084"/>
            <a:ext cx="2394695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Robot Car-3</a:t>
            </a:r>
          </a:p>
          <a:p>
            <a:pPr algn="ctr"/>
            <a:r>
              <a:rPr lang="en-GB" dirty="0"/>
              <a:t>(Encoders/GPS/IMU)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6366F-1BAC-B243-8F2A-C058DB5A1382}"/>
              </a:ext>
            </a:extLst>
          </p:cNvPr>
          <p:cNvSpPr txBox="1"/>
          <p:nvPr/>
        </p:nvSpPr>
        <p:spPr>
          <a:xfrm>
            <a:off x="4597416" y="4258277"/>
            <a:ext cx="2997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Navigational Robots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186A8-A322-AA8C-FD33-F56EEE9E2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237DE-80FE-DBD6-95B7-091DC45E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24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41105-E123-B9EB-A359-3B1A8FCA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E6C9-99CB-7945-811D-A05708B5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D695F2-7897-9EDA-2552-BACAAD123616}"/>
              </a:ext>
            </a:extLst>
          </p:cNvPr>
          <p:cNvSpPr/>
          <p:nvPr/>
        </p:nvSpPr>
        <p:spPr>
          <a:xfrm>
            <a:off x="1306286" y="2100943"/>
            <a:ext cx="2688771" cy="1534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Foundational</a:t>
            </a:r>
          </a:p>
          <a:p>
            <a:pPr algn="ctr"/>
            <a:r>
              <a:rPr lang="en-GB" dirty="0"/>
              <a:t>(15 Lessons/Labs)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D5D825-FB01-989E-495F-E91C0C0C8E12}"/>
              </a:ext>
            </a:extLst>
          </p:cNvPr>
          <p:cNvSpPr/>
          <p:nvPr/>
        </p:nvSpPr>
        <p:spPr>
          <a:xfrm>
            <a:off x="4751614" y="2100943"/>
            <a:ext cx="2688771" cy="1534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Take Home</a:t>
            </a:r>
          </a:p>
          <a:p>
            <a:pPr algn="ctr"/>
            <a:r>
              <a:rPr lang="en-GB" dirty="0"/>
              <a:t>Projects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43F2A8-4DC5-12EA-4AAF-8B7A80286E34}"/>
              </a:ext>
            </a:extLst>
          </p:cNvPr>
          <p:cNvSpPr/>
          <p:nvPr/>
        </p:nvSpPr>
        <p:spPr>
          <a:xfrm>
            <a:off x="8196942" y="2100943"/>
            <a:ext cx="2688771" cy="1534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Capstone </a:t>
            </a:r>
          </a:p>
          <a:p>
            <a:pPr algn="ctr"/>
            <a:r>
              <a:rPr lang="en-GB" dirty="0"/>
              <a:t>Projects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DDE92-3319-4CC1-2DDE-C1468469E682}"/>
              </a:ext>
            </a:extLst>
          </p:cNvPr>
          <p:cNvSpPr txBox="1"/>
          <p:nvPr/>
        </p:nvSpPr>
        <p:spPr>
          <a:xfrm>
            <a:off x="1306286" y="1611086"/>
            <a:ext cx="2049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Each Product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153757-876B-66FC-4F54-657C1E44F54C}"/>
              </a:ext>
            </a:extLst>
          </p:cNvPr>
          <p:cNvSpPr txBox="1"/>
          <p:nvPr/>
        </p:nvSpPr>
        <p:spPr>
          <a:xfrm>
            <a:off x="1306286" y="5040086"/>
            <a:ext cx="9579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Staff would  introduce the lab lesson, give a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Students follow the instructions and conduct the experiment under the supervision of staff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4A013-C117-7F1E-0175-5DB75C64E7FD}"/>
              </a:ext>
            </a:extLst>
          </p:cNvPr>
          <p:cNvSpPr txBox="1"/>
          <p:nvPr/>
        </p:nvSpPr>
        <p:spPr>
          <a:xfrm>
            <a:off x="1306285" y="4426021"/>
            <a:ext cx="4050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5"/>
                </a:solidFill>
              </a:rPr>
              <a:t>Foundational Lessons/Labs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92A1D-0C28-6B7C-8618-B45E2D67E956}"/>
              </a:ext>
            </a:extLst>
          </p:cNvPr>
          <p:cNvCxnSpPr/>
          <p:nvPr/>
        </p:nvCxnSpPr>
        <p:spPr>
          <a:xfrm>
            <a:off x="1502229" y="4158343"/>
            <a:ext cx="21880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108EA4-3FEC-C3B1-52DF-7443ED44E806}"/>
              </a:ext>
            </a:extLst>
          </p:cNvPr>
          <p:cNvCxnSpPr>
            <a:cxnSpLocks/>
          </p:cNvCxnSpPr>
          <p:nvPr/>
        </p:nvCxnSpPr>
        <p:spPr>
          <a:xfrm>
            <a:off x="5001986" y="4158343"/>
            <a:ext cx="56986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0DC291-77D3-5690-8E44-4EA639DEC611}"/>
              </a:ext>
            </a:extLst>
          </p:cNvPr>
          <p:cNvSpPr txBox="1"/>
          <p:nvPr/>
        </p:nvSpPr>
        <p:spPr>
          <a:xfrm>
            <a:off x="1279750" y="3672673"/>
            <a:ext cx="2741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5"/>
                </a:solidFill>
              </a:rPr>
              <a:t>Staff Responsibility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E840E-1B16-607D-F514-9B8DFA7427CF}"/>
              </a:ext>
            </a:extLst>
          </p:cNvPr>
          <p:cNvSpPr txBox="1"/>
          <p:nvPr/>
        </p:nvSpPr>
        <p:spPr>
          <a:xfrm>
            <a:off x="5575954" y="3700865"/>
            <a:ext cx="4550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4"/>
                </a:solidFill>
              </a:rPr>
              <a:t>Students Initiative/Responsibility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B58ED-037C-D57D-E569-A0962C39C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3BCB46-E518-8E5D-6055-B36A009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58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BA46D-D8E0-7CE0-E0AA-2F87BD12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87D6-A5D8-968A-2CAD-D7029105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Design Philosophy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58017-F28D-BC11-72B2-9FC35E726575}"/>
              </a:ext>
            </a:extLst>
          </p:cNvPr>
          <p:cNvSpPr txBox="1"/>
          <p:nvPr/>
        </p:nvSpPr>
        <p:spPr>
          <a:xfrm>
            <a:off x="783771" y="1314407"/>
            <a:ext cx="719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</a:rPr>
              <a:t>Avoid Blackbox Approach to Lay Firm Foundations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3D7E-03FD-4E3E-406A-2FA52495A1A8}"/>
              </a:ext>
            </a:extLst>
          </p:cNvPr>
          <p:cNvSpPr txBox="1"/>
          <p:nvPr/>
        </p:nvSpPr>
        <p:spPr>
          <a:xfrm>
            <a:off x="783771" y="1964353"/>
            <a:ext cx="1072139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5"/>
                </a:solidFill>
              </a:rPr>
              <a:t>Sensors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all 15 lessons/labs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r>
              <a:rPr lang="en-GB" sz="2400" dirty="0">
                <a:solidFill>
                  <a:schemeClr val="accent5"/>
                </a:solidFill>
              </a:rPr>
              <a:t>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DC Motor &amp; Stepper Motor labs on a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Remaining Lessons/Labs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r>
              <a:rPr lang="en-GB" sz="2400" dirty="0">
                <a:solidFill>
                  <a:schemeClr val="accent5"/>
                </a:solidFill>
              </a:rPr>
              <a:t>Communications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NRF &amp; LoRa labs on a </a:t>
            </a:r>
            <a:r>
              <a:rPr lang="en-GB" sz="2400" dirty="0">
                <a:solidFill>
                  <a:schemeClr val="accent4"/>
                </a:solidFill>
              </a:rPr>
              <a:t>Bread Board </a:t>
            </a:r>
            <a:r>
              <a:rPr lang="en-GB" sz="2400" dirty="0">
                <a:solidFill>
                  <a:schemeClr val="bg1"/>
                </a:solidFill>
              </a:rPr>
              <a:t>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Remaining Lessons/Labs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31DE6-D871-79D4-1C9C-96AB83BA8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D027F-CFE1-1065-BE29-ABEDB005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17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9952D-9637-1D02-C48F-DFC99EC4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9410-EFD3-294F-32B1-CD971EA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808137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Upcoming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4A066-1D8E-13D8-D412-3139FF2D7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03967-4A58-6E62-2321-E60E8C1E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12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1C72A1-DB47-B263-E0F9-96D3E4EFE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677" y="1418088"/>
            <a:ext cx="3137807" cy="4183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2EC4AD-41E0-578B-4ABC-FB35B39D5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" t="12699" r="4299" b="6190"/>
          <a:stretch>
            <a:fillRect/>
          </a:stretch>
        </p:blipFill>
        <p:spPr>
          <a:xfrm>
            <a:off x="1045029" y="1418088"/>
            <a:ext cx="5586780" cy="32221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F6DF3F-9BA6-41C0-48B1-BFD90552B7AA}"/>
              </a:ext>
            </a:extLst>
          </p:cNvPr>
          <p:cNvSpPr txBox="1"/>
          <p:nvPr/>
        </p:nvSpPr>
        <p:spPr>
          <a:xfrm>
            <a:off x="1717549" y="4784586"/>
            <a:ext cx="45302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Raspberry 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LIDAR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ROS2 Interface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Deep Learning &amp; Reinforcement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DC 371 Series Precision Encoder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Dedicated Power Supply for PI &amp; Motors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115A82-AA16-BC2F-1A2B-48271854C48E}"/>
              </a:ext>
            </a:extLst>
          </p:cNvPr>
          <p:cNvSpPr txBox="1"/>
          <p:nvPr/>
        </p:nvSpPr>
        <p:spPr>
          <a:xfrm>
            <a:off x="7500257" y="5939849"/>
            <a:ext cx="3632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accent1"/>
                </a:solidFill>
              </a:rPr>
              <a:t>Timeline – Q1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BF0AC-D56B-4467-3B57-909F02E3851A}"/>
              </a:ext>
            </a:extLst>
          </p:cNvPr>
          <p:cNvSpPr txBox="1"/>
          <p:nvPr/>
        </p:nvSpPr>
        <p:spPr>
          <a:xfrm>
            <a:off x="1171438" y="971496"/>
            <a:ext cx="5076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5"/>
                </a:solidFill>
              </a:rPr>
              <a:t>Car-4: Raspberry PI/Camera/LIDAR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26ED4-008B-9040-4758-12A8F5AFE4E0}"/>
              </a:ext>
            </a:extLst>
          </p:cNvPr>
          <p:cNvSpPr txBox="1"/>
          <p:nvPr/>
        </p:nvSpPr>
        <p:spPr>
          <a:xfrm>
            <a:off x="6517777" y="688856"/>
            <a:ext cx="51389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accent4"/>
                </a:solidFill>
              </a:rPr>
              <a:t>Car-5: Raspberry PI/Camera/LIDAR </a:t>
            </a:r>
          </a:p>
          <a:p>
            <a:pPr algn="ctr"/>
            <a:r>
              <a:rPr lang="en-GB" sz="2400" b="1" dirty="0">
                <a:solidFill>
                  <a:schemeClr val="accent4"/>
                </a:solidFill>
              </a:rPr>
              <a:t>with ROS2 Interface</a:t>
            </a:r>
          </a:p>
        </p:txBody>
      </p:sp>
    </p:spTree>
    <p:extLst>
      <p:ext uri="{BB962C8B-B14F-4D97-AF65-F5344CB8AC3E}">
        <p14:creationId xmlns:p14="http://schemas.microsoft.com/office/powerpoint/2010/main" val="221397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73B08-A67E-E414-2C6F-1E6E19CA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8F2B-629C-BE6A-00EE-FF065299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Upcoming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F84A0-4406-5BD4-E2FD-67EC43E0E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44D6C-0B44-1D94-2B4B-BE2A6ED3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18CFFC-FBD1-DBCD-1413-FC07576216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6" b="6142"/>
          <a:stretch>
            <a:fillRect/>
          </a:stretch>
        </p:blipFill>
        <p:spPr>
          <a:xfrm>
            <a:off x="649250" y="1240971"/>
            <a:ext cx="7467599" cy="511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5ECE7E-D67D-0F83-FBDF-4940FD440E5B}"/>
              </a:ext>
            </a:extLst>
          </p:cNvPr>
          <p:cNvSpPr txBox="1"/>
          <p:nvPr/>
        </p:nvSpPr>
        <p:spPr>
          <a:xfrm>
            <a:off x="8116849" y="2521387"/>
            <a:ext cx="39445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Timeline – 2026-27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Import makes the product twice the price</a:t>
            </a:r>
          </a:p>
        </p:txBody>
      </p:sp>
    </p:spTree>
    <p:extLst>
      <p:ext uri="{BB962C8B-B14F-4D97-AF65-F5344CB8AC3E}">
        <p14:creationId xmlns:p14="http://schemas.microsoft.com/office/powerpoint/2010/main" val="2685363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D561C-C802-2315-933D-4164E049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BA36-50B0-2364-36B1-186F3C58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Upcoming Workshops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8142D2-87A1-1D4B-ECC3-628F68CA9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86004-1CC3-B989-83E3-FA0EF98B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764E5-CFD2-702B-99EC-AF17112B811C}"/>
              </a:ext>
            </a:extLst>
          </p:cNvPr>
          <p:cNvSpPr txBox="1"/>
          <p:nvPr/>
        </p:nvSpPr>
        <p:spPr>
          <a:xfrm>
            <a:off x="1282564" y="1348800"/>
            <a:ext cx="92439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Sensor Fusion – December 2025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Phase-1: Reinforcement Learning – Q1/2026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Advanced PID Controllers – Q1/2026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SLAM – Q2/2026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Phase-2: Reinforcement Learning – Q3/2026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843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78A98-309D-D217-5A5F-156CDBE4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C51F-1337-07F1-AC4C-00476E07B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Tools Recommended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A63F7-C6E0-06E8-D73F-5433E13CA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A0FF4B-ECAE-2F5C-E83B-9C078682911D}"/>
              </a:ext>
            </a:extLst>
          </p:cNvPr>
          <p:cNvGraphicFramePr>
            <a:graphicFrameLocks noGrp="1"/>
          </p:cNvGraphicFramePr>
          <p:nvPr/>
        </p:nvGraphicFramePr>
        <p:xfrm>
          <a:off x="435429" y="1138921"/>
          <a:ext cx="11286669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223">
                  <a:extLst>
                    <a:ext uri="{9D8B030D-6E8A-4147-A177-3AD203B41FA5}">
                      <a16:colId xmlns:a16="http://schemas.microsoft.com/office/drawing/2014/main" val="1939397217"/>
                    </a:ext>
                  </a:extLst>
                </a:gridCol>
                <a:gridCol w="1707309">
                  <a:extLst>
                    <a:ext uri="{9D8B030D-6E8A-4147-A177-3AD203B41FA5}">
                      <a16:colId xmlns:a16="http://schemas.microsoft.com/office/drawing/2014/main" val="3552057915"/>
                    </a:ext>
                  </a:extLst>
                </a:gridCol>
                <a:gridCol w="5817137">
                  <a:extLst>
                    <a:ext uri="{9D8B030D-6E8A-4147-A177-3AD203B41FA5}">
                      <a16:colId xmlns:a16="http://schemas.microsoft.com/office/drawing/2014/main" val="2472720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Name (Tool/Hardware)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Specifications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7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Screws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M2/M2.5/M3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Length: 6mm, 8mm and 10mm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816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Washers &amp; Nuts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M2/M2.5/M3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Nylon and/or metal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48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Standoffs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M2/M2.5/M3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Length: 10mm, 12mm, 20mm, 25mm, and 30mm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28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Screw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M2/M2.5/M3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Hex, Philips, Flat 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007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Jumper 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Dupont, JST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Stock of cables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96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Multimeter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82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Soldering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Weller or Hacko brand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2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Plastic 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 organising the components, PCB Boards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08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Inventory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Due to small components highly recommended to keep a strict registry of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04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Magnifying 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read small prints on PCBs &amp;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37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Batteries &amp; Battery Charger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Large storage and large capacity chargers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97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Cutting pliers, scissors, etc.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2578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BA3D7F-D091-C2E8-417D-2E5DADE1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FCE3CD-8E5B-4FEB-BC1E-3D61BE3CC71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73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79D49-9492-60D3-90E8-1B518FD4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2838-7D45-88A5-D3F2-18150972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Routine Restock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46F09-F1B4-9462-3FA1-BA9524E90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74852D-728A-DF3B-FACA-D38859119E35}"/>
              </a:ext>
            </a:extLst>
          </p:cNvPr>
          <p:cNvSpPr txBox="1"/>
          <p:nvPr/>
        </p:nvSpPr>
        <p:spPr>
          <a:xfrm>
            <a:off x="735301" y="1320575"/>
            <a:ext cx="107600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Look out for new types of sensors &amp; purchase them to extend the AI &amp; Robotics lab capabilities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219EB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Replace/restock damaged sensors at regular intervals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8C2A0-1F87-381B-2391-BAC57B37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FCE3CD-8E5B-4FEB-BC1E-3D61BE3CC71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820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312A2-E328-D3FC-0F32-E498D1CE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D100-9B44-EBA2-5A4B-205B48CC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Sensors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10 AM to 12 PM)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C9B15-869F-CB78-CA46-FE8B8615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234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D7E49-AA00-681B-0F72-5E521F9B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A92C-4DB1-066B-E3AE-6FD3CDA2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1E47D-2E0C-92B6-960A-7B8ACF4DCD57}"/>
              </a:ext>
            </a:extLst>
          </p:cNvPr>
          <p:cNvSpPr txBox="1"/>
          <p:nvPr/>
        </p:nvSpPr>
        <p:spPr>
          <a:xfrm>
            <a:off x="10884" y="977675"/>
            <a:ext cx="121702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Sensors 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Precautions, Power Supply and Sensor Modules V/G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OLED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Ultrasonic Sensor</a:t>
            </a: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feature of the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u="sng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Free Connector Concept of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 on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feature of the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Gas Sensor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702879-BC7B-9ED8-7837-393D44C67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94DFA-9828-BF72-5B20-CA9BDD49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923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26D95-808E-AFCF-2CB7-B6F0823C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AD3A-8ACE-5F1F-A089-6E49F25B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Motion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1 PM to 3 PM)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615A9-FBAF-46DF-D05A-5D072EE4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053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681BD-7BBB-877C-DF26-A67D0773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3FA3-F13E-2E6F-9FB3-D6768582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Motion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349F5-019B-F31A-E1ED-462C2A8733A0}"/>
              </a:ext>
            </a:extLst>
          </p:cNvPr>
          <p:cNvSpPr txBox="1"/>
          <p:nvPr/>
        </p:nvSpPr>
        <p:spPr>
          <a:xfrm>
            <a:off x="10885" y="1102861"/>
            <a:ext cx="121702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Motion 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Precautions, Power Supply and Sensor Modules V/G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DC Motor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DC Motor Encoder – Ticks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DC Motor Encoder – PID Controller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feature of the </a:t>
            </a:r>
            <a:r>
              <a:rPr lang="en-GB" sz="2400" u="sng" dirty="0">
                <a:solidFill>
                  <a:schemeClr val="accent5"/>
                </a:solidFill>
              </a:rPr>
              <a:t>Creative Board &amp; Free Connector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D4EDE-DB76-7975-F261-3BC60C9E6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7BDBB-B98B-757A-CA2C-94273386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371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A9717-9443-18BB-035E-4D4CC73D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50A7-CD1C-FDE8-E6A1-9EC3AEA7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Communications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(Day-1: 3 PM to 5 PM)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4FA9B-BE74-0132-B235-96A1A374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155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E29D4-CF24-9712-0C15-07EA836B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24C2-4D49-091F-4E2E-E1259B60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Communications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A5D58-D7BD-496E-AA57-62A506799CA3}"/>
              </a:ext>
            </a:extLst>
          </p:cNvPr>
          <p:cNvSpPr txBox="1"/>
          <p:nvPr/>
        </p:nvSpPr>
        <p:spPr>
          <a:xfrm>
            <a:off x="142875" y="1000535"/>
            <a:ext cx="119062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Communication Creative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both the </a:t>
            </a:r>
            <a:r>
              <a:rPr lang="en-GB" sz="2400" dirty="0">
                <a:solidFill>
                  <a:schemeClr val="accent4"/>
                </a:solidFill>
              </a:rPr>
              <a:t>Bread Board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RFID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Conduct the Following Labs on the </a:t>
            </a:r>
            <a:r>
              <a:rPr lang="en-GB" sz="2400" dirty="0">
                <a:solidFill>
                  <a:schemeClr val="accent5"/>
                </a:solidFill>
              </a:rPr>
              <a:t>Creative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NRF24L01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SD Card module and practice memory card insertion/removal/formatting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</a:t>
            </a:r>
            <a:r>
              <a:rPr lang="en-GB" sz="2400" u="sng" dirty="0">
                <a:solidFill>
                  <a:schemeClr val="accent1"/>
                </a:solidFill>
              </a:rPr>
              <a:t>Bread Board</a:t>
            </a:r>
            <a:r>
              <a:rPr lang="en-GB" sz="2400" u="sng" dirty="0">
                <a:solidFill>
                  <a:schemeClr val="bg1"/>
                </a:solidFill>
              </a:rPr>
              <a:t> of the </a:t>
            </a:r>
            <a:r>
              <a:rPr lang="en-GB" sz="2400" u="sng" dirty="0">
                <a:solidFill>
                  <a:schemeClr val="accent5"/>
                </a:solidFill>
              </a:rPr>
              <a:t>Creative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3F4DC-70C3-5490-8CA9-BEE2911EB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CBF0E-2795-706C-C3B0-076A2370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62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7D19D-B2CF-F8AE-0F28-E3AB3A5E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8FD4-0073-8E3B-4079-DD2304EB4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Robot Car-1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(Day-2: 9.30 AM to 12 PM)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7575CB-0A44-78AD-EEFE-EFFA4B87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619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A7405-F2C3-19D4-191D-778D09D7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001C-8D46-D10A-2DC5-E898A626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9669D-D00B-A06F-DD64-BAA628E3D946}"/>
              </a:ext>
            </a:extLst>
          </p:cNvPr>
          <p:cNvSpPr txBox="1"/>
          <p:nvPr/>
        </p:nvSpPr>
        <p:spPr>
          <a:xfrm>
            <a:off x="142875" y="1000535"/>
            <a:ext cx="119062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Motor Controller Board, Assembly, Power Supply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Following Lab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Car Basic Movements; how to correct directions (by swapping the pins)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IR Sensor Calibration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Edge or IR Obstacle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72A67-20EF-4D59-9457-012B0891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9A926-55B8-A685-48BC-51E52A1A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92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B8719-C813-1640-56C9-6156B0AD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8A08-6C02-438B-DB5E-D1D5C594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Robot Car-2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(Day-2: 1 PM to 3 PM)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599D8C-C9B3-11A7-A25C-B6D5B48A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39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4758D-B044-65C7-020E-4A076E27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7767-459B-DA1B-0866-BA47D620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56C9E-F22D-3625-74C9-F59ACC161F8B}"/>
              </a:ext>
            </a:extLst>
          </p:cNvPr>
          <p:cNvSpPr txBox="1"/>
          <p:nvPr/>
        </p:nvSpPr>
        <p:spPr>
          <a:xfrm>
            <a:off x="142875" y="1000535"/>
            <a:ext cx="119062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Motor Controller Board, Assembly, Power Supply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Following Lab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Car Basic Movements; how to correct directions (by swapping the pins)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Remote Setup for: Joystick, Accelerometer and Buttons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Discuss the Free Connectors, Gesture Sensor for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9BB16-B275-B221-B022-0CD08667B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AE1A5-4D5D-3DD5-85D9-F666C728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738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C05EA-BFC7-BC6B-F5F8-E9E9B311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2EE5-5AEF-AB38-4FD1-BB34AEED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4155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Robot Car-3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(Day-2: 3 PM to 5 PM)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5CDE5-9106-F276-9F2A-342AC9B2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346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FD04A-6AE2-1C7A-8B20-9697E653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BFCA-59AF-2C1C-495B-6A13ACA3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4" y="-4988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Navigational Robot Car-3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CF12A-3D73-F375-4F60-DD4414E671EA}"/>
              </a:ext>
            </a:extLst>
          </p:cNvPr>
          <p:cNvSpPr txBox="1"/>
          <p:nvPr/>
        </p:nvSpPr>
        <p:spPr>
          <a:xfrm>
            <a:off x="142875" y="1000535"/>
            <a:ext cx="119062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4"/>
                </a:solidFill>
              </a:rPr>
              <a:t>Review the Contents in the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Review &amp; Discuss the Motor Controller Board, Assembly, Power Supply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Discuss the Health &amp; Safety Precautions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Practice the Following Lab</a:t>
            </a:r>
            <a:endParaRPr lang="en-GB" sz="2400" dirty="0">
              <a:solidFill>
                <a:schemeClr val="accent5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Car Basic Movements; how to correct directions (by swapping the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Constant Speed via PID Controller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Read &amp; Display – GPS (Discuss the importance of removing GPS module while uploading)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Read &amp; Display – Digital Compass Bearing</a:t>
            </a:r>
          </a:p>
          <a:p>
            <a:pPr lvl="1"/>
            <a:endParaRPr lang="en-GB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3AB7C-9620-6343-F3BD-7C62890B8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2FA29-A882-5162-8D49-55A3BD6A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39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7D3D6-2E5B-62B1-6993-9DD9AE05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EE45-CA3D-0209-9015-DEC9BD5E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Q&amp;A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48F023-BC85-6B71-5619-A175DA53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9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</Words>
  <Application>Microsoft Office PowerPoint</Application>
  <PresentationFormat>Widescreen</PresentationFormat>
  <Paragraphs>298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1_Office Theme</vt:lpstr>
      <vt:lpstr>ZAS Robotic Products</vt:lpstr>
      <vt:lpstr>Faculty Training Agenda</vt:lpstr>
      <vt:lpstr>Design Philosophy (Day-1: 9 AM to 10 AM)</vt:lpstr>
      <vt:lpstr>Design Philosophy</vt:lpstr>
      <vt:lpstr>Doing Robotics - Challenges</vt:lpstr>
      <vt:lpstr>Doing Robotics - Challenges</vt:lpstr>
      <vt:lpstr>Design Philosophy: Building for Mastery</vt:lpstr>
      <vt:lpstr>Design Philosophy</vt:lpstr>
      <vt:lpstr>Design Philosophy</vt:lpstr>
      <vt:lpstr>Design Philosophy</vt:lpstr>
      <vt:lpstr>Design Philosophy</vt:lpstr>
      <vt:lpstr>Upcoming Products</vt:lpstr>
      <vt:lpstr>Upcoming Products</vt:lpstr>
      <vt:lpstr>Upcoming Workshops</vt:lpstr>
      <vt:lpstr>Tools Recommended</vt:lpstr>
      <vt:lpstr>Routine Restock</vt:lpstr>
      <vt:lpstr>Sensors (Day-1: 10 AM to 12 PM)</vt:lpstr>
      <vt:lpstr>Sensors</vt:lpstr>
      <vt:lpstr>Motion (Day-1: 1 PM to 3 PM)</vt:lpstr>
      <vt:lpstr>Motion</vt:lpstr>
      <vt:lpstr>Communications (Day-1: 3 PM to 5 PM)</vt:lpstr>
      <vt:lpstr>Communications</vt:lpstr>
      <vt:lpstr>Robot Car-1 (Day-2: 9.30 AM to 12 PM)</vt:lpstr>
      <vt:lpstr>Navigational Robot Car-1</vt:lpstr>
      <vt:lpstr>Robot Car-2 (Day-2: 1 PM to 3 PM)</vt:lpstr>
      <vt:lpstr>Navigational Robot Car-2</vt:lpstr>
      <vt:lpstr>Robot Car-3 (Day-2: 3 PM to 5 PM)</vt:lpstr>
      <vt:lpstr>Navigational Robot Car-3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75</cp:revision>
  <dcterms:created xsi:type="dcterms:W3CDTF">2025-11-15T15:19:24Z</dcterms:created>
  <dcterms:modified xsi:type="dcterms:W3CDTF">2025-12-04T21:06:02Z</dcterms:modified>
</cp:coreProperties>
</file>