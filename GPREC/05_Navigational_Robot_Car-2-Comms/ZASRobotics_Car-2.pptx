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442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920310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5093321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0795892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57675772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19662778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90466703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2714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0985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98674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AEA457-9731-5871-2AE1-80D3ACA6892E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2458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41552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712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13F677-0E1E-6F44-539B-EB19BF5D0C37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94865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0443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6990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BC9251-113A-7242-B363-A5185817D6B5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5923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904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35377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68E42F-78DA-4972-9FA0-367C1A1C07E5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35341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9840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47268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5ACA19-EAC6-D301-93E3-9B971685D576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1791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8840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476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A97EE7-2B7B-0295-8933-8F1EE8AC5E4B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4973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6432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810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AF8D5E-B600-30DA-3D6D-39339B543051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385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8081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6996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033000-4B8A-1BEB-DE70-BB58714CB8D6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21557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8340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5F875B-C83F-4C79-2D75-1971207CB88F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0085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210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8222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5DAF1B-F1F6-AFA0-DD2C-EEDB2A61F9E1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375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3544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948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B5CE44-D49C-ED7D-D5AE-A84D4FE6CD14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7830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94267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093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0D45ED-3965-D94D-F468-76B3746F1F32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41392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1315377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4741986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5054164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139145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5593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70059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995561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13436351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268738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4166277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982261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62048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9670449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89001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6356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8020220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037110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358825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10605094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753010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37696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3918559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21153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8025918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4555336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3980654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174006927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534093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88878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173237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108705771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8641666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394452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96215872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6484123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836080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5251337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1106367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53853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8183934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2395762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83484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8422192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4828603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496320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522511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287258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1047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8929488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354851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3687853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485921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983258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186793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193002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7135377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263022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10403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6944884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2429230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133902537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8894315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4582020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59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Robot Car-</a:t>
            </a:r>
            <a:r>
              <a:rPr lang="en-US">
                <a:solidFill>
                  <a:schemeClr val="bg1"/>
                </a:solidFill>
              </a:rPr>
              <a:t>2</a:t>
            </a:r>
            <a:br>
              <a:rPr lang="en-GB">
                <a:solidFill>
                  <a:schemeClr val="bg1"/>
                </a:solidFill>
              </a:rPr>
            </a:br>
            <a:r>
              <a:rPr lang="en-GB" sz="3600">
                <a:solidFill>
                  <a:schemeClr val="bg1"/>
                </a:solidFill>
              </a:rPr>
              <a:t>AI &amp; Robotics </a:t>
            </a:r>
            <a:br>
              <a:rPr lang="en-GB" sz="3600">
                <a:solidFill>
                  <a:schemeClr val="bg1"/>
                </a:solidFill>
              </a:rPr>
            </a:br>
            <a:r>
              <a:rPr lang="en-GB" sz="3600">
                <a:solidFill>
                  <a:schemeClr val="bg1"/>
                </a:solidFill>
              </a:rPr>
              <a:t>Centre of Excellence</a:t>
            </a:r>
            <a:endParaRPr/>
          </a:p>
        </p:txBody>
      </p:sp>
      <p:sp>
        <p:nvSpPr>
          <p:cNvPr id="155819903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089704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GPREC &amp; ZAS Robotics Collaboration</a:t>
            </a:r>
            <a:endParaRPr/>
          </a:p>
          <a:p>
            <a:pPr>
              <a:defRPr/>
            </a:pPr>
            <a:r>
              <a:rPr lang="en-GB" sz="3200">
                <a:solidFill>
                  <a:schemeClr val="accent5"/>
                </a:solidFill>
              </a:rPr>
              <a:t>Training Schedule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803132" name="Title 1"/>
          <p:cNvSpPr>
            <a:spLocks noGrp="1"/>
          </p:cNvSpPr>
          <p:nvPr>
            <p:ph type="title"/>
          </p:nvPr>
        </p:nvSpPr>
        <p:spPr bwMode="auto">
          <a:xfrm>
            <a:off x="10883" y="-4987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Navigational Robot Car-2</a:t>
            </a:r>
            <a:endParaRPr/>
          </a:p>
        </p:txBody>
      </p:sp>
      <p:sp>
        <p:nvSpPr>
          <p:cNvPr id="1943552007" name="TextBox 2"/>
          <p:cNvSpPr txBox="1"/>
          <p:nvPr/>
        </p:nvSpPr>
        <p:spPr bwMode="auto">
          <a:xfrm>
            <a:off x="142875" y="1000534"/>
            <a:ext cx="11906250" cy="4893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/>
              <a:buChar char="•"/>
              <a:defRPr/>
            </a:pPr>
            <a:r>
              <a:rPr lang="en-GB" sz="2400" b="1">
                <a:solidFill>
                  <a:schemeClr val="accent4"/>
                </a:solidFill>
              </a:rPr>
              <a:t>Review the Contents in the Box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accent5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accent5"/>
                </a:solidFill>
              </a:rPr>
              <a:t>Review &amp; Discuss the Motor Controller Board, Assembly, Power Supply etc.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accent5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accent5"/>
                </a:solidFill>
              </a:rPr>
              <a:t>Discuss the Health &amp; Safety Precautions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bg1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bg1"/>
                </a:solidFill>
              </a:rPr>
              <a:t>Practice the Following Lab</a:t>
            </a:r>
            <a:endParaRPr lang="en-GB" sz="2400">
              <a:solidFill>
                <a:schemeClr val="accent5"/>
              </a:solidFill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>
                <a:solidFill>
                  <a:schemeClr val="accent5"/>
                </a:solidFill>
              </a:rPr>
              <a:t>Car Basic Movements; how to correct directions (by swapping the pins)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bg1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bg1"/>
                </a:solidFill>
              </a:rPr>
              <a:t>Practice the Remote Setup for: Joystick, Accelerometer and Buttons</a:t>
            </a:r>
            <a:endParaRPr lang="en-GB" sz="2400">
              <a:solidFill>
                <a:schemeClr val="accent5"/>
              </a:solidFill>
            </a:endParaRPr>
          </a:p>
          <a:p>
            <a:pPr marL="800100" lvl="1" indent="-342900">
              <a:buFont typeface="Arial"/>
              <a:buChar char="•"/>
              <a:defRPr/>
            </a:pPr>
            <a:endParaRPr lang="en-GB" sz="2400">
              <a:solidFill>
                <a:schemeClr val="accent5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bg1"/>
                </a:solidFill>
              </a:rPr>
              <a:t>Discuss the Free Connectors, Gesture Sensor for Enhancements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993286" name="Title 1"/>
          <p:cNvSpPr>
            <a:spLocks noGrp="1"/>
          </p:cNvSpPr>
          <p:nvPr>
            <p:ph type="title"/>
          </p:nvPr>
        </p:nvSpPr>
        <p:spPr bwMode="auto">
          <a:xfrm>
            <a:off x="744511" y="-877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Navigational Robot Car-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endParaRPr/>
          </a:p>
        </p:txBody>
      </p:sp>
      <p:sp>
        <p:nvSpPr>
          <p:cNvPr id="67443425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833607"/>
            <a:ext cx="10515600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5000" lnSpcReduction="5000"/>
          </a:bodyPr>
          <a:lstStyle/>
          <a:p>
            <a:pPr>
              <a:defRPr/>
            </a:pPr>
            <a:endParaRPr lang="en-GB" sz="2000">
              <a:solidFill>
                <a:schemeClr val="bg1"/>
              </a:solidFill>
            </a:endParaRPr>
          </a:p>
          <a:p>
            <a:pPr>
              <a:defRPr/>
            </a:pPr>
            <a:r>
              <a:rPr sz="20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Where CAR-2 Fits in Your Learning Path</a:t>
            </a:r>
            <a:endParaRPr sz="2000" b="0" i="0" u="none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endParaRPr sz="2000" b="0" i="0" u="none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>
              <a:defRPr/>
            </a:pPr>
            <a:r>
              <a:rPr sz="20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CAR-1 (Autonomous Robot – Sensors)</a:t>
            </a:r>
            <a:endParaRPr sz="2000" b="0" i="0" u="none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Thinks and drives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by itself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Uses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IR, Ultrasonic, Line, Pit</a:t>
            </a: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sensors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Has many intelligence modes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Focus: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Autonomous navigation + sensor logic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marL="457200" lvl="1" indent="0">
              <a:buFont typeface="Arial"/>
              <a:buNone/>
              <a:defRPr/>
            </a:pP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0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CAR-2 (Wireless Control Robot – NRF24 + OLED)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Works like an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RC car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Controlled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remotely</a:t>
            </a: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(up/down/left/right)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Uses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NRF24L01 wireless module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Shows status on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OLED screen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Focus: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Communication systems + control architecture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Why You Need Both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CAR-1 teaches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Robot Intelligence</a:t>
            </a:r>
            <a:endParaRPr sz="16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CAR-2 teaches </a:t>
            </a:r>
            <a:r>
              <a:rPr sz="16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Wireless Control &amp; Real-Time Feedback</a:t>
            </a:r>
            <a:endParaRPr lang="en-GB">
              <a:solidFill>
                <a:schemeClr val="bg1"/>
              </a:solidFill>
            </a:endParaRPr>
          </a:p>
          <a:p>
            <a:pPr>
              <a:defRPr/>
            </a:pPr>
            <a:endParaRPr lang="en-GB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2103702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672837" y="1155491"/>
            <a:ext cx="5680962" cy="40688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831404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>
                <a:solidFill>
                  <a:schemeClr val="bg1"/>
                </a:solidFill>
              </a:rPr>
              <a:t>Health &amp; Safety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885794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612148" y="1246260"/>
            <a:ext cx="8572498" cy="3062241"/>
          </a:xfrm>
        </p:spPr>
        <p:txBody>
          <a:bodyPr/>
          <a:lstStyle/>
          <a:p>
            <a:pPr marL="283878" indent="-283878">
              <a:buFont typeface="Arial"/>
              <a:buChar char="•"/>
              <a:defRPr/>
            </a:pPr>
            <a:r>
              <a:rPr sz="1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Always check battery charge: If encoder motors behave randomly, the battery may need charging.</a:t>
            </a:r>
            <a:br>
              <a:rPr sz="1800">
                <a:solidFill>
                  <a:schemeClr val="bg1"/>
                </a:solidFill>
              </a:rPr>
            </a:br>
            <a:endParaRPr sz="1800">
              <a:solidFill>
                <a:schemeClr val="bg1"/>
              </a:solidFill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sz="1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 not leave the kit powered on unattended.</a:t>
            </a:r>
            <a:br>
              <a:rPr sz="1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endParaRPr sz="1800">
              <a:solidFill>
                <a:schemeClr val="bg1"/>
              </a:solidFill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en-US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Ensure proper IR sensor calibration before use.</a:t>
            </a:r>
            <a:endParaRPr lang="en-US" sz="1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en-US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If motor directions are reversed, swap the TB6612 motor pins in code to correct direction.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534349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Remote Setup for: Joystick, Accelerometer and Buttons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475729" name="Title 1"/>
          <p:cNvSpPr>
            <a:spLocks noGrp="1"/>
          </p:cNvSpPr>
          <p:nvPr>
            <p:ph type="title"/>
          </p:nvPr>
        </p:nvSpPr>
        <p:spPr bwMode="auto">
          <a:xfrm>
            <a:off x="744510" y="-87701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Navigational Robot Car-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endParaRPr/>
          </a:p>
        </p:txBody>
      </p:sp>
      <p:sp>
        <p:nvSpPr>
          <p:cNvPr id="111814191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833607"/>
            <a:ext cx="10515600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GB" sz="2000">
              <a:solidFill>
                <a:schemeClr val="bg1"/>
              </a:solidFill>
            </a:endParaRPr>
          </a:p>
          <a:p>
            <a:pPr>
              <a:defRPr/>
            </a:pPr>
            <a:r>
              <a:rPr sz="1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Transmitter (Handheld Controller)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Switches between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3 control modes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Button, MPU tilt, and Joystick.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Reads input and sends </a:t>
            </a:r>
            <a:endParaRPr sz="12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directional commands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("up", "down", "left", "right") via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NRF24L01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Displays current mode and action on the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OLED screen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🚗 Receiver (Car)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Listens for wireless commands using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NRF24L01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on a matching pipe address.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Converts received strings into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actions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(forward, reverse, left, right).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Defaults to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stop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if command is unknown or no signal is received.</a:t>
            </a:r>
            <a:endParaRPr sz="12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Note:</a:t>
            </a:r>
            <a:endParaRPr lang="en-US" sz="12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Ensure the MAC / Device  address is identical </a:t>
            </a:r>
            <a:endParaRPr lang="en-GB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9933874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704018" y="984938"/>
            <a:ext cx="3970212" cy="40980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019861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44510" y="-87701"/>
            <a:ext cx="10515600" cy="92130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Navigational Robot Car-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endParaRPr/>
          </a:p>
        </p:txBody>
      </p:sp>
      <p:sp>
        <p:nvSpPr>
          <p:cNvPr id="133470079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833607"/>
            <a:ext cx="10515600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GB" sz="20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graphicFrame>
        <p:nvGraphicFramePr>
          <p:cNvPr id="1111164716" name=""/>
          <p:cNvGraphicFramePr>
            <a:graphicFrameLocks xmlns:a="http://schemas.openxmlformats.org/drawingml/2006/main"/>
          </p:cNvGraphicFramePr>
          <p:nvPr/>
        </p:nvGraphicFramePr>
        <p:xfrm>
          <a:off x="1008106" y="712279"/>
          <a:ext cx="9221050" cy="31007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5415809"/>
                <a:gridCol w="3792542"/>
              </a:tblGrid>
              <a:tr h="2534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Transmitter (Handheld Controller)</a:t>
                      </a:r>
                      <a:endParaRPr sz="1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000"/>
                    </a:p>
                  </a:txBody>
                  <a:tcPr vert="horz"/>
                </a:tc>
              </a:tr>
              <a:tr h="272855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Setup: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- Initialize buttons, joystick, MPU6050 sensor, OLED display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- Initialize NRF24L01 radio with pipe: 0xE8E8F0F0E1LL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- Set mode to 0 (Button Mode)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Loop: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1. Check if mode button was pressed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Cycle through modes: Buttons, MPU, Joystick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Update OLED with current mode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2. Depending on current mode: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- Mode 0 (Button Mode):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• If up/down/left/right button is pressed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    Send corresponding command via NRF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    Show status on display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• Else: show Idle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</a:t>
                      </a:r>
                      <a:endParaRPr sz="1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- Mode 1 (MPU6050 Tilt Mode):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• Read accelerometer X, Y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• If X or Y exceeds ±0.3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    Determine direction: left, right, up, down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    Send command and update display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• Else: show Idle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- Mode 2 (Joystick Mode):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• Read analog X and Y values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• If X/Y beyond threshold from center (512)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    Determine direction and send it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    Show status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000"/>
                        <a:t>         • Else: show Idle</a:t>
                      </a:r>
                      <a:endParaRPr sz="10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000"/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973688718" name=""/>
          <p:cNvGraphicFramePr>
            <a:graphicFrameLocks xmlns:a="http://schemas.openxmlformats.org/drawingml/2006/main"/>
          </p:cNvGraphicFramePr>
          <p:nvPr/>
        </p:nvGraphicFramePr>
        <p:xfrm>
          <a:off x="1008106" y="3950706"/>
          <a:ext cx="6701822" cy="2680820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5400000"/>
                <a:gridCol w="3808350"/>
              </a:tblGrid>
              <a:tr h="36102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/>
                        <a:t>Receiver (Car)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/>
                    </a:p>
                  </a:txBody>
                  <a:tcPr vert="horz"/>
                </a:tc>
              </a:tr>
              <a:tr h="230236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Setup: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- Initialize all motor control pins (IN1–IN4, ENA, ENB)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- Stop all motors initially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- Setup NRF24L01 with same pipe: 0xE8E8F0F0E1LL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- Begin listening for messages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Loop: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If NRF24L01 receives a message: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  Read message string (e.g., "up", "down", etc.)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  Convert message to lowercase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  Match command: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    • "up"    → move forward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    • "down"  → move backward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    • "left"  → turn left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    • "right" → turn right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    • Else    → stop motors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2351410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Car Basic Movements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488135" name="Title 1"/>
          <p:cNvSpPr>
            <a:spLocks noGrp="1"/>
          </p:cNvSpPr>
          <p:nvPr>
            <p:ph type="title"/>
          </p:nvPr>
        </p:nvSpPr>
        <p:spPr bwMode="auto">
          <a:xfrm>
            <a:off x="660160" y="35753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Navigational Robot Car-1</a:t>
            </a:r>
            <a:endParaRPr/>
          </a:p>
        </p:txBody>
      </p:sp>
      <p:sp>
        <p:nvSpPr>
          <p:cNvPr id="52228396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60160" y="1032615"/>
            <a:ext cx="10515600" cy="557256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graphicFrame>
        <p:nvGraphicFramePr>
          <p:cNvPr id="1360120600" name=""/>
          <p:cNvGraphicFramePr>
            <a:graphicFrameLocks xmlns:a="http://schemas.openxmlformats.org/drawingml/2006/main"/>
          </p:cNvGraphicFramePr>
          <p:nvPr/>
        </p:nvGraphicFramePr>
        <p:xfrm>
          <a:off x="1967700" y="1646175"/>
          <a:ext cx="6676923" cy="4695750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3321679"/>
                <a:gridCol w="3342542"/>
              </a:tblGrid>
              <a:tr h="320768">
                <a:tc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Basic Movement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endParaRPr sz="1400"/>
                    </a:p>
                  </a:txBody>
                  <a:tcPr vert="horz"/>
                </a:tc>
              </a:tr>
              <a:tr h="4362284">
                <a:tc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// Define Motor Pins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Left1 = Digital Pin 7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Left2 = Digital Pin 8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Left_Speed = PWM Pin 6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Right1 = Digital Pin 3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Right2 = Digital Pin 4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Right_Speed = PWM Pin 5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setup():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Set all motor control pins as OUTPUT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loop():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</a:t>
                      </a:r>
                      <a:r>
                        <a:rPr lang="en-US" sz="1400" b="1" i="0" u="none" strike="noStrike" cap="none" spc="0">
                          <a:solidFill>
                            <a:schemeClr val="lt1"/>
                          </a:solidFill>
                          <a:latin typeface="Aptos"/>
                          <a:ea typeface="Arial"/>
                          <a:cs typeface="Arial"/>
                        </a:rPr>
                        <a:t>Set motor speed to medium (127)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forward()      // 2 sec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backward()     // 2 sec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turnRight()    // 0.5 sec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turnLeft()     // 0.5 sec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Stop()         // 1.5 sec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forward():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Left1=HIGH, Left2=LOW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Right1=HIGH, Right2=LOW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backward():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Left1=LOW, Left2=HIGH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Right1=LOW, Right2=HIGH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turnRight():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Left1=HIGH, Left2=LOW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Right1=LOW, Right2=HIGH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turnLeft():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Left1=LOW, Left2=HIGH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Right1=HIGH, Right2=LOW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Stop():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All pins LOW</a:t>
                      </a:r>
                      <a:endParaRPr sz="1400"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418518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Discuss the Free Connectors, Gesture Sensor for Enhancements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1279748" name="Title 1"/>
          <p:cNvSpPr>
            <a:spLocks noGrp="1"/>
          </p:cNvSpPr>
          <p:nvPr>
            <p:ph type="title"/>
          </p:nvPr>
        </p:nvSpPr>
        <p:spPr bwMode="auto">
          <a:xfrm>
            <a:off x="744510" y="-87701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Navigational Robot Car-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endParaRPr/>
          </a:p>
        </p:txBody>
      </p:sp>
      <p:sp>
        <p:nvSpPr>
          <p:cNvPr id="119464470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833607"/>
            <a:ext cx="10515600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GB" sz="2000">
              <a:solidFill>
                <a:schemeClr val="bg1"/>
              </a:solidFill>
            </a:endParaRPr>
          </a:p>
          <a:p>
            <a:pPr>
              <a:defRPr/>
            </a:pPr>
            <a:r>
              <a:rPr lang="en-GB" sz="28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Discuss the Free Connectors</a:t>
            </a:r>
            <a:endParaRPr lang="en-GB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4</cp:revision>
  <dcterms:created xsi:type="dcterms:W3CDTF">2025-11-15T20:03:39Z</dcterms:created>
  <dcterms:modified xsi:type="dcterms:W3CDTF">2025-11-22T13:30:48Z</dcterms:modified>
</cp:coreProperties>
</file>