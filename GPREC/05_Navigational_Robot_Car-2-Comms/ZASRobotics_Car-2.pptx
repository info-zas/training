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  <p:sldMasterId id="2147483684" r:id="rId3"/>
  </p:sldMasterIdLst>
  <p:notesMasterIdLst>
    <p:notesMasterId r:id="rId16"/>
  </p:notesMasterIdLst>
  <p:sldIdLst>
    <p:sldId id="256" r:id="rId4"/>
    <p:sldId id="257" r:id="rId5"/>
    <p:sldId id="273" r:id="rId6"/>
    <p:sldId id="274" r:id="rId7"/>
    <p:sldId id="275" r:id="rId8"/>
    <p:sldId id="276" r:id="rId9"/>
    <p:sldId id="268" r:id="rId10"/>
    <p:sldId id="277" r:id="rId11"/>
    <p:sldId id="269" r:id="rId12"/>
    <p:sldId id="271" r:id="rId13"/>
    <p:sldId id="270" r:id="rId14"/>
    <p:sldId id="272" r:id="rId15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733361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73712509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06763359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84382369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6256725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23080653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93942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5534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6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AEA457-9731-5871-2AE1-80D3ACA6892E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13F677-0E1E-6F44-539B-EB19BF5D0C3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E9BFFD2-D2A5-E4FC-DCEE-980CA958B203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7C8939-3E88-5189-4BFF-33566C64303D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CA908F-7FAB-24C7-0710-DFC59F62181A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89603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1550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352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5506443-09A2-4C7E-0FEA-8DC0CE5C92D5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1064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95513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8419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AF8D5E-B600-30DA-3D6D-39339B543051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7572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8396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96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B5CE44-D49C-ED7D-D5AE-A84D4FE6CD14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25194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74823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0590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AF8D5E-B600-30DA-3D6D-39339B543051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48220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561007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121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0D45ED-3965-D94D-F468-76B3746F1F32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363898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2685966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6248419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9934347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126460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837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3188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9827232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148992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876298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087327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82602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7522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41256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429052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9369464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497864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7770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3637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380486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838062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228472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243857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869209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618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90209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330167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3983073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935716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3772560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0929363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064133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5714172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81586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1179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641176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5559044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4868108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12459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065131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567078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4853554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5133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05100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9798151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41114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294927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076003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705323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4644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59001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090107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55916414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667818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801150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596960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88718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1217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8208391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527868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967749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768515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673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23231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5752511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532034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417099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359753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27645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58177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266530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20930098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0655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041820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9807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670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8190169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9172851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105747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848079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96113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35829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39436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51813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8054923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079629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39103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0135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1559240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8607882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006700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5025792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3337386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8318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736075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871454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7719772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2427182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466193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5460512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806767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6013819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295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6621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0083320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6954823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1211326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656347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43618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000680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0522892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467240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3066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2379133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85972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790924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600034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2551713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08459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886715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7852192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20530673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22485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2680929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894098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52492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236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0489105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975992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358069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351313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476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08552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3326432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545132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514118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26766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691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92585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399962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3870579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4757819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3086872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6939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57278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170028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7138898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1987605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17002842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5521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06460491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149037" y="32658"/>
            <a:ext cx="4042963" cy="108970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9EE221F-AABE-A342-E93F-3EBC1C2828B6}"/>
              </a:ext>
            </a:extLst>
          </p:cNvPr>
          <p:cNvSpPr txBox="1">
            <a:spLocks/>
          </p:cNvSpPr>
          <p:nvPr/>
        </p:nvSpPr>
        <p:spPr bwMode="auto">
          <a:xfrm>
            <a:off x="0" y="1759290"/>
            <a:ext cx="12192000" cy="238759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20000"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br>
              <a:rPr lang="en-US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2 (Communication)</a:t>
            </a:r>
            <a:br>
              <a:rPr lang="en-US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1" dirty="0">
                <a:solidFill>
                  <a:schemeClr val="accent3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Navigational Robotics Series</a:t>
            </a:r>
            <a:b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5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ZAS Robotics Training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51E57-7BDB-1854-4950-645960953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49F85BF-F58B-627F-E0FE-081CA0667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</a:t>
            </a:fld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48346" name="TextBox 2"/>
          <p:cNvSpPr txBox="1"/>
          <p:nvPr/>
        </p:nvSpPr>
        <p:spPr bwMode="auto">
          <a:xfrm>
            <a:off x="142875" y="1000534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endParaRPr lang="en-GB" sz="2400" dirty="0">
              <a:solidFill>
                <a:schemeClr val="bg1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</a:rPr>
              <a:t>Review the Contents in the Box</a:t>
            </a:r>
            <a:endParaRPr dirty="0"/>
          </a:p>
          <a:p>
            <a:pPr lvl="0">
              <a:defRPr/>
            </a:pPr>
            <a:endParaRPr lang="en-GB" sz="2400" dirty="0">
              <a:solidFill>
                <a:srgbClr val="F9CB40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</a:rPr>
              <a:t>Discuss the Health &amp; Safety Precautions</a:t>
            </a:r>
            <a:endParaRPr dirty="0"/>
          </a:p>
          <a:p>
            <a:pPr marL="342900" lvl="0" indent="-342900">
              <a:buFont typeface="Arial"/>
              <a:buChar char="•"/>
              <a:defRPr/>
            </a:pPr>
            <a:endParaRPr lang="en-GB" sz="2400" dirty="0">
              <a:solidFill>
                <a:prstClr val="white"/>
              </a:solidFill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/>
                </a:solidFill>
              </a:rPr>
              <a:t>Labs</a:t>
            </a:r>
            <a:endParaRPr dirty="0"/>
          </a:p>
          <a:p>
            <a:pPr marL="800100" lvl="1" indent="-342900">
              <a:buFont typeface="Arial"/>
              <a:buChar char="•"/>
              <a:defRPr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1 -  Car2  :  Car Basic Movements</a:t>
            </a:r>
          </a:p>
          <a:p>
            <a:pPr marL="800100" lvl="1" indent="-342900">
              <a:buFont typeface="Arial"/>
              <a:buChar char="•"/>
              <a:defRPr/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2 -  Car2  : Car Control through </a:t>
            </a:r>
            <a:r>
              <a:rPr lang="en-GB" sz="2400" dirty="0">
                <a:solidFill>
                  <a:schemeClr val="accent5">
                    <a:lumMod val="75000"/>
                  </a:schemeClr>
                </a:solidFill>
              </a:rPr>
              <a:t>Joystick, Accelerometer &amp; Buttons  </a:t>
            </a:r>
          </a:p>
          <a:p>
            <a:pPr marL="342900" indent="-342900">
              <a:buFont typeface="Arial"/>
              <a:buChar char="•"/>
              <a:defRPr/>
            </a:pPr>
            <a:endParaRPr lang="en-GB" sz="2400" dirty="0">
              <a:solidFill>
                <a:srgbClr val="F9CB40"/>
              </a:solidFill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</a:rPr>
              <a:t>Review the Features: </a:t>
            </a:r>
            <a:endParaRPr dirty="0"/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bg1"/>
                </a:solidFill>
              </a:rPr>
              <a:t>Gesture Sensor, Bluetooth and IR </a:t>
            </a:r>
            <a:endParaRPr dirty="0"/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bg1"/>
                </a:solidFill>
              </a:rPr>
              <a:t>Free Connectors &amp; Breadboard</a:t>
            </a:r>
            <a:endParaRPr dirty="0"/>
          </a:p>
          <a:p>
            <a:pPr marL="342900" indent="-342900">
              <a:buFont typeface="Arial"/>
              <a:buChar char="•"/>
              <a:defRPr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1142226202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21C2EB-8AC8-B23D-EB91-B75BD01522F0}"/>
              </a:ext>
            </a:extLst>
          </p:cNvPr>
          <p:cNvSpPr txBox="1"/>
          <p:nvPr/>
        </p:nvSpPr>
        <p:spPr>
          <a:xfrm>
            <a:off x="142875" y="0"/>
            <a:ext cx="7580671" cy="1200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ts val="0"/>
              </a:spcBef>
              <a:buNone/>
              <a:defRPr sz="4000" b="1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Robot Car2 Training - Objectives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9A2CC99-8966-6865-DE5F-468E6634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9E7FB8-99E6-0606-D04A-A0243F84D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2</a:t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3">
                    <a:lumMod val="75000"/>
                    <a:lumOff val="25000"/>
                  </a:schemeClr>
                </a:solidFill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3">
                    <a:lumMod val="75000"/>
                    <a:lumOff val="25000"/>
                  </a:schemeClr>
                </a:solidFill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NRF 24L01</a:t>
            </a:r>
          </a:p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3">
                    <a:lumMod val="75000"/>
                    <a:lumOff val="25000"/>
                  </a:schemeClr>
                </a:solidFill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3">
                    <a:lumMod val="75000"/>
                    <a:lumOff val="25000"/>
                  </a:schemeClr>
                </a:solidFill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NRF 24L01</a:t>
            </a:r>
          </a:p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Mode</a:t>
            </a:r>
          </a:p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Mini</a:t>
            </a:r>
          </a:p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Arduino</a:t>
            </a:r>
          </a:p>
          <a:p>
            <a:r>
              <a:rPr lang="en-GB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524180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 &amp; Safety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0387889" name="TextBox 2"/>
          <p:cNvSpPr txBox="1"/>
          <p:nvPr/>
        </p:nvSpPr>
        <p:spPr bwMode="auto">
          <a:xfrm>
            <a:off x="207380" y="966334"/>
            <a:ext cx="1100490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Double-check all power connections.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Ensure correct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GND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VCC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wiring for the power supply, OLED, motor drivers, GPS, sensors, and other modules.</a:t>
            </a: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 the correct input voltage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Battery input should be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between 5V and 12V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only.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Work on a safe surface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 the kit on an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insulated table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(e.g., wood) and ensure the surface is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dry and clean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Avoid leaving the kit unattended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keep the system powered on without supervision.</a:t>
            </a:r>
            <a:endParaRPr kumimoji="0" lang="en-GB" sz="1800" b="1" i="0" u="none" strike="noStrike" kern="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Build and Test Incrementally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Turn on the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microcontroller first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then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build and test the circuit step-by-step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Avoid wiring the entire system at once and powering it without intermediate testing.</a:t>
            </a:r>
            <a:endParaRPr kumimoji="0" lang="en-GB" sz="1800" b="1" i="0" u="none" strike="noStrike" kern="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18650 Battery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Care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–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For long battery life, charge it at regular intervals. Avoid battery complete draining (going down to 0%), Do not leave the battery unattended while charging or charge it overnight. If the battery appears swollen, leakage or bulging, do not use it. Use a proper Li-ion charger, Dispose of faulty batteries safely and responsibly.</a:t>
            </a: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Robotic car is for in-door use only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54355601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966709508" name="Flowchart: Punched Tape 4"/>
          <p:cNvSpPr/>
          <p:nvPr/>
        </p:nvSpPr>
        <p:spPr bwMode="auto">
          <a:xfrm>
            <a:off x="9241420" y="1914265"/>
            <a:ext cx="2743200" cy="1930147"/>
          </a:xfrm>
          <a:prstGeom prst="flowChartPunchedTap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Always follow 4-eyes principle when it comes to checking</a:t>
            </a:r>
            <a:r>
              <a:rPr kumimoji="0" lang="en-GB" sz="2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</a:t>
            </a:r>
            <a:r>
              <a:rPr kumimoji="0" lang="en-GB" sz="2400" b="1" i="0" u="sng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VCC &amp; GND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FDA9C-1E5F-8E6D-F956-D6AFBF108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CEB391-C2CC-176C-869A-D7C961E9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FCE3CD-8E5B-4FEB-BC1E-3D61BE3CC713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20162" name="Title 1"/>
          <p:cNvSpPr>
            <a:spLocks noGrp="1"/>
          </p:cNvSpPr>
          <p:nvPr>
            <p:ph type="title"/>
          </p:nvPr>
        </p:nvSpPr>
        <p:spPr bwMode="auto">
          <a:xfrm>
            <a:off x="10884" y="-4988"/>
            <a:ext cx="10515600" cy="117827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Motor Driver Module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70597223" name="Picture 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70025617" name="TextBox 10"/>
          <p:cNvSpPr txBox="1"/>
          <p:nvPr/>
        </p:nvSpPr>
        <p:spPr bwMode="auto">
          <a:xfrm>
            <a:off x="5255040" y="1326051"/>
            <a:ext cx="3054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TB 6612 Motor Driver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sp>
        <p:nvSpPr>
          <p:cNvPr id="225172678" name="TextBox 11"/>
          <p:cNvSpPr txBox="1"/>
          <p:nvPr/>
        </p:nvSpPr>
        <p:spPr bwMode="auto">
          <a:xfrm>
            <a:off x="9235900" y="2150073"/>
            <a:ext cx="2861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TT  DC Motor Driver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/>
                <a:cs typeface="Arial"/>
              </a:rPr>
              <a:t>(130 RPM, 6V)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1574858720" name="Picture 7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87763" y="3172801"/>
            <a:ext cx="3025402" cy="2255715"/>
          </a:xfrm>
          <a:prstGeom prst="rect">
            <a:avLst/>
          </a:prstGeom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EBAC4C0-56E8-E7F6-E0C7-E651D6BDB022}"/>
              </a:ext>
            </a:extLst>
          </p:cNvPr>
          <p:cNvSpPr txBox="1"/>
          <p:nvPr/>
        </p:nvSpPr>
        <p:spPr bwMode="auto">
          <a:xfrm>
            <a:off x="1954758" y="4386179"/>
            <a:ext cx="24465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sng" strike="noStrike" kern="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/>
                <a:cs typeface="Arial"/>
              </a:rPr>
              <a:t>Right</a:t>
            </a:r>
            <a:r>
              <a:rPr kumimoji="0" lang="en-GB" sz="1800" b="1" i="0" u="sng" strike="noStrike" kern="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Motor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A-IN1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Un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3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A-IN2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Un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4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PWMA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Un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5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69A929C4-ED20-68A7-042C-AC5A30024BA6}"/>
              </a:ext>
            </a:extLst>
          </p:cNvPr>
          <p:cNvSpPr txBox="1"/>
          <p:nvPr/>
        </p:nvSpPr>
        <p:spPr bwMode="auto">
          <a:xfrm>
            <a:off x="5562802" y="4386178"/>
            <a:ext cx="24961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sng" strike="noStrike" kern="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/>
                <a:cs typeface="Arial"/>
              </a:rPr>
              <a:t>Left</a:t>
            </a:r>
            <a:r>
              <a:rPr kumimoji="0" lang="en-GB" sz="1800" b="1" i="0" u="sng" strike="noStrike" kern="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Motor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B-IN1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Un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8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B-IN2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7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PWMB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6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FB7F44-E7A1-E4DC-0785-E7D55AFFE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806644" y="1664095"/>
            <a:ext cx="3043008" cy="2015237"/>
          </a:xfrm>
          <a:prstGeom prst="rect">
            <a:avLst/>
          </a:prstGeom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1224BDC8-2BDA-36F9-5286-4E85B0F3E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5750128" y="1787716"/>
            <a:ext cx="1729890" cy="1767993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F6E80A-353E-1AB1-FE80-067F9700F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3C5887-F42B-AB36-837B-EE54EE93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FCE3CD-8E5B-4FEB-BC1E-3D61BE3CC713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206442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1:  Basic Movements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67460504" name="TextBox 3"/>
          <p:cNvSpPr txBox="1"/>
          <p:nvPr/>
        </p:nvSpPr>
        <p:spPr bwMode="auto">
          <a:xfrm>
            <a:off x="422818" y="1774094"/>
            <a:ext cx="4884671" cy="286232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// ============== Pin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Definitions</a:t>
            </a:r>
            <a:r>
              <a:rPr kumimoji="0" lang="it-IT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==========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0000"/>
                </a:highlight>
                <a:uLnTx/>
                <a:uFillTx/>
                <a:latin typeface="Aptos"/>
                <a:ea typeface="+mn-ea"/>
                <a:cs typeface="Arial"/>
              </a:rPr>
              <a:t>// Left Motor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0000"/>
              </a:highlight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#define Left1 7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#define Left2 8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#define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Left_Speed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 6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0000"/>
                </a:highlight>
                <a:uLnTx/>
                <a:uFillTx/>
                <a:latin typeface="Aptos"/>
                <a:ea typeface="+mn-ea"/>
                <a:cs typeface="Arial"/>
              </a:rPr>
              <a:t>// </a:t>
            </a:r>
            <a:r>
              <a:rPr kumimoji="0" lang="it-IT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0000"/>
                </a:highlight>
                <a:uLnTx/>
                <a:uFillTx/>
                <a:latin typeface="Aptos"/>
                <a:ea typeface="+mn-ea"/>
                <a:cs typeface="Arial"/>
              </a:rPr>
              <a:t>Right</a:t>
            </a:r>
            <a:r>
              <a:rPr kumimoji="0" lang="it-IT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0000"/>
                </a:highlight>
                <a:uLnTx/>
                <a:uFillTx/>
                <a:latin typeface="Aptos"/>
                <a:ea typeface="+mn-ea"/>
                <a:cs typeface="Arial"/>
              </a:rPr>
              <a:t> Motor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0000"/>
              </a:highlight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#define Right1 3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#define Right2 4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#define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Right_Speed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 5</a:t>
            </a:r>
          </a:p>
        </p:txBody>
      </p:sp>
      <p:sp>
        <p:nvSpPr>
          <p:cNvPr id="1477010180" name="TextBox 4"/>
          <p:cNvSpPr txBox="1"/>
          <p:nvPr/>
        </p:nvSpPr>
        <p:spPr bwMode="auto">
          <a:xfrm>
            <a:off x="5965371" y="1774094"/>
            <a:ext cx="5954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Please test each direction in </a:t>
            </a:r>
            <a:r>
              <a:rPr kumimoji="0" lang="en-GB" sz="3600" b="1" i="0" u="none" strike="noStrike" kern="0" cap="none" spc="0" normalizeH="0" baseline="0" noProof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isolation</a:t>
            </a: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715B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  <a:p>
            <a:pPr marL="742950" marR="0" lvl="1" indent="-28575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Forward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742950" marR="0" lvl="1" indent="-28575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Backward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742950" marR="0" lvl="1" indent="-28575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Left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742950" marR="0" lvl="1" indent="-28575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Right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223090054" name="Picture 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99222827" name="TextBox 9"/>
          <p:cNvSpPr txBox="1"/>
          <p:nvPr/>
        </p:nvSpPr>
        <p:spPr bwMode="auto">
          <a:xfrm>
            <a:off x="832542" y="4617562"/>
            <a:ext cx="102656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If incorrect direction,</a:t>
            </a:r>
            <a:r>
              <a:rPr kumimoji="0" lang="en-GB" sz="2400" b="1" i="0" u="none" strike="noStrike" kern="0" cap="none" spc="0" normalizeH="0" baseline="0" noProof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then swap IN1/IN2 pins of the corresponding motor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1" i="0" u="none" strike="noStrike" kern="0" cap="none" spc="0" normalizeH="0" baseline="0" noProof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Expected Output:</a:t>
            </a:r>
            <a:r>
              <a:rPr kumimoji="0" lang="en-GB" sz="2400" b="1" i="0" u="none" strike="noStrike" kern="0" cap="none" spc="0" normalizeH="0" baseline="0" noProof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The car moves in the desired direction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9364B4-2240-D5AD-58C9-B17652C5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558435-332F-107D-CD94-BCBF0EFB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FCE3CD-8E5B-4FEB-BC1E-3D61BE3CC713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525157" name="Title 1"/>
          <p:cNvSpPr>
            <a:spLocks noGrp="1"/>
          </p:cNvSpPr>
          <p:nvPr>
            <p:ph type="title"/>
          </p:nvPr>
        </p:nvSpPr>
        <p:spPr bwMode="auto">
          <a:xfrm>
            <a:off x="10884" y="0"/>
            <a:ext cx="5711142" cy="132556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1:  Basic Movements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38332744" name="Table 716623741"/>
          <p:cNvGraphicFramePr>
            <a:graphicFrameLocks/>
          </p:cNvGraphicFramePr>
          <p:nvPr/>
        </p:nvGraphicFramePr>
        <p:xfrm>
          <a:off x="887211" y="1728317"/>
          <a:ext cx="6664223" cy="468305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2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2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768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/>
                        <a:t>Basic Movement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284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Left1 7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Left2 8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</a:t>
                      </a:r>
                      <a:r>
                        <a:rPr lang="en-US" sz="1400" dirty="0" err="1"/>
                        <a:t>Left_Speed</a:t>
                      </a:r>
                      <a:r>
                        <a:rPr lang="en-US" sz="1400" dirty="0"/>
                        <a:t> 6</a:t>
                      </a:r>
                    </a:p>
                    <a:p>
                      <a:pPr>
                        <a:defRPr/>
                      </a:pPr>
                      <a:endParaRPr lang="en-GB" sz="1400" dirty="0"/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Right1 3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Right2 4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</a:t>
                      </a:r>
                      <a:r>
                        <a:rPr lang="en-US" sz="1400" dirty="0" err="1"/>
                        <a:t>Right_Speed</a:t>
                      </a:r>
                      <a:r>
                        <a:rPr lang="en-US" sz="1400" dirty="0"/>
                        <a:t> 5</a:t>
                      </a:r>
                      <a:endParaRPr sz="1400"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setup():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Set all motor control pins as OUTPUT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loop():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lang="en-US" sz="1400" b="1" i="0" u="none" strike="noStrike" cap="none" spc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Set motor speed to medium (127)</a:t>
                      </a: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  forward()      // 2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backward()     // 2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sz="1400" dirty="0" err="1"/>
                        <a:t>turnRight</a:t>
                      </a:r>
                      <a:r>
                        <a:rPr sz="1400" dirty="0"/>
                        <a:t>()    // 0.5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sz="1400" dirty="0" err="1"/>
                        <a:t>turnLeft</a:t>
                      </a:r>
                      <a:r>
                        <a:rPr sz="1400" dirty="0"/>
                        <a:t>()     // 0.5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Stop()         // 1.5 sec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 dirty="0"/>
                        <a:t>forward():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Left1=HIGH, Left2=LOW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Right1=HIGH, Right2=LOW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backward():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Left1=LOW, Left2=HIGH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Right1=LOW, Right2=HIGH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turnRight</a:t>
                      </a:r>
                      <a:r>
                        <a:rPr sz="1400" dirty="0"/>
                        <a:t>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Left1=HIGH, Left2=LOW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Right1=LOW, Right2=HIGH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turnLeft</a:t>
                      </a:r>
                      <a:r>
                        <a:rPr sz="1400" dirty="0"/>
                        <a:t>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Left1=LOW, Left2=HIGH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Right1=HIGH, Right2=LOW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Stop():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All pins LOW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73976664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F0B0BB-238E-6CCC-D860-12561B6C4286}"/>
              </a:ext>
            </a:extLst>
          </p:cNvPr>
          <p:cNvSpPr txBox="1"/>
          <p:nvPr/>
        </p:nvSpPr>
        <p:spPr>
          <a:xfrm>
            <a:off x="7834294" y="3429000"/>
            <a:ext cx="3836596" cy="2031325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lvl="0"/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/>
                <a:cs typeface="Arial"/>
              </a:rPr>
              <a:t>Link for the Code:</a:t>
            </a:r>
            <a:b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</a:br>
            <a:br>
              <a:rPr lang="en-GB" dirty="0">
                <a:solidFill>
                  <a:prstClr val="white"/>
                </a:solidFill>
              </a:rPr>
            </a:br>
            <a:r>
              <a:rPr lang="en-GB" dirty="0">
                <a:solidFill>
                  <a:prstClr val="white"/>
                </a:solidFill>
              </a:rPr>
              <a:t>https://github.com/info-zas/Training/tree/main/GPREC/05_Navigational_Robot_Car-2-Comms/01_Code/01_Car2_Basic_Movements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D191C76-FDCA-EC42-7D1C-976AFC0E9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0C7C2-6EAA-A5CC-BFBF-93F745A59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592050" name="Content Placeholder 2"/>
          <p:cNvSpPr>
            <a:spLocks noGrp="1"/>
          </p:cNvSpPr>
          <p:nvPr>
            <p:ph idx="1"/>
          </p:nvPr>
        </p:nvSpPr>
        <p:spPr bwMode="auto">
          <a:xfrm>
            <a:off x="380999" y="833607"/>
            <a:ext cx="7413171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None/>
              <a:defRPr/>
            </a:pPr>
            <a:endParaRPr lang="en-GB" sz="2400" b="1" i="0" u="none" dirty="0">
              <a:solidFill>
                <a:schemeClr val="accent4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  <a:defRPr/>
            </a:pPr>
            <a:r>
              <a:rPr sz="2400" b="1" i="0" u="none" dirty="0">
                <a:solidFill>
                  <a:schemeClr val="accent4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Receiver (Car)</a:t>
            </a:r>
            <a:endParaRPr sz="2400" dirty="0">
              <a:solidFill>
                <a:schemeClr val="accent4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Listens for wireless commands using </a:t>
            </a:r>
            <a:r>
              <a:rPr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NRF24L01</a:t>
            </a: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 a matching pipe address.</a:t>
            </a:r>
            <a:endParaRPr sz="18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Converts received strings into </a:t>
            </a:r>
            <a:r>
              <a:rPr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motor actions</a:t>
            </a: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(forward, reverse, left, right).</a:t>
            </a:r>
            <a:endParaRPr sz="18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Defaults to </a:t>
            </a:r>
            <a:r>
              <a:rPr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stop</a:t>
            </a: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if command is unknown or no signal is received.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Font typeface="Arial"/>
              <a:buNone/>
              <a:defRPr/>
            </a:pPr>
            <a:endParaRPr lang="en-US" sz="1800" b="0" i="0" u="none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  <a:defRPr/>
            </a:pPr>
            <a:r>
              <a:rPr lang="en-GB" sz="2400" b="1" dirty="0">
                <a:solidFill>
                  <a:schemeClr val="accent4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Transmitter (Handheld Controller)</a:t>
            </a:r>
            <a:endParaRPr lang="en-GB" sz="2400" dirty="0">
              <a:solidFill>
                <a:schemeClr val="accent4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Switches between </a:t>
            </a:r>
            <a:r>
              <a:rPr lang="en-GB" sz="18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 control modes</a:t>
            </a: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Button, MPU tilt, and Joystick.</a:t>
            </a:r>
          </a:p>
          <a:p>
            <a:pPr>
              <a:defRPr/>
            </a:pP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Reads input and sends: </a:t>
            </a:r>
            <a:r>
              <a:rPr lang="en-GB" sz="18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directional commands</a:t>
            </a: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("up", "down", "left", "right") via </a:t>
            </a:r>
            <a:r>
              <a:rPr lang="en-GB" sz="18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NRF24L01</a:t>
            </a: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  <a:p>
            <a:pPr>
              <a:defRPr/>
            </a:pP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Displays current mode and action on the </a:t>
            </a:r>
            <a:r>
              <a:rPr lang="en-GB" sz="18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OLED screen</a:t>
            </a: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  <a:p>
            <a:pPr marL="0" indent="0">
              <a:buFont typeface="Arial"/>
              <a:buNone/>
              <a:defRPr/>
            </a:pPr>
            <a:endParaRPr lang="en-US" sz="1800" b="0" i="0" u="none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Font typeface="Arial"/>
              <a:buNone/>
              <a:defRPr/>
            </a:pPr>
            <a:r>
              <a:rPr lang="en-US" sz="2600" b="0" i="0" u="none" dirty="0">
                <a:solidFill>
                  <a:schemeClr val="accent4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Note: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Ensure both the receiver/transmitter have the identical Device  </a:t>
            </a:r>
            <a:r>
              <a:rPr lang="en-US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lang="en-US"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ddress</a:t>
            </a:r>
            <a:endParaRPr lang="en-GB" sz="18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466148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722FC99-4552-4E8A-5305-5F42667CD392}"/>
              </a:ext>
            </a:extLst>
          </p:cNvPr>
          <p:cNvSpPr txBox="1">
            <a:spLocks/>
          </p:cNvSpPr>
          <p:nvPr/>
        </p:nvSpPr>
        <p:spPr bwMode="auto">
          <a:xfrm>
            <a:off x="10883" y="0"/>
            <a:ext cx="9418251" cy="13255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2: </a:t>
            </a:r>
            <a:r>
              <a:rPr lang="en-US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Control through </a:t>
            </a:r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Joystick, Accelerometer &amp; Buttons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69AD1C-4043-A506-C50A-B50A81771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D59EE-6DD9-CE33-F6C0-27024E2FA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9</a:t>
            </a:fld>
            <a:endParaRPr lang="en-GB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9BE0725-D49C-0414-91C7-CC0517CCE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5472" y="1369766"/>
            <a:ext cx="3925530" cy="405247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A214EC8-FFC6-D280-D025-C0B9511D8D86}"/>
              </a:ext>
            </a:extLst>
          </p:cNvPr>
          <p:cNvSpPr txBox="1"/>
          <p:nvPr/>
        </p:nvSpPr>
        <p:spPr>
          <a:xfrm>
            <a:off x="7885472" y="5521146"/>
            <a:ext cx="3487993" cy="1200329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https://github.com/info-zas/Training/tree/main/GPREC/05_Navigational_Robot_Car-2-Comms/01_Code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6663631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319F7F-2DD1-2A62-59BC-4AE10EF8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27F09-5B9C-0E46-CE45-C5E544860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10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A52FCF-8E9A-3B38-03E5-EE1B63FA6E0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09364" y="899657"/>
            <a:ext cx="3802472" cy="48604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19BAE0-FAE1-5E51-1454-564BEC4CF842}"/>
              </a:ext>
            </a:extLst>
          </p:cNvPr>
          <p:cNvSpPr txBox="1"/>
          <p:nvPr/>
        </p:nvSpPr>
        <p:spPr bwMode="auto">
          <a:xfrm>
            <a:off x="6403651" y="6087876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3">
                    <a:lumMod val="75000"/>
                    <a:lumOff val="25000"/>
                  </a:schemeClr>
                </a:solidFill>
              </a:rPr>
              <a:t>Car 2 Transmitter Module (Front)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D46710-D299-E928-3910-8355AA28E12D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6416725" y="3123098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D94390E-B3AC-D8F2-3C78-AB921B8B9CFC}"/>
              </a:ext>
            </a:extLst>
          </p:cNvPr>
          <p:cNvSpPr txBox="1"/>
          <p:nvPr/>
        </p:nvSpPr>
        <p:spPr bwMode="auto">
          <a:xfrm>
            <a:off x="5598879" y="2534776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Free Connector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38B5EB-A4F0-0FD0-8658-3D8A14F25B79}"/>
              </a:ext>
            </a:extLst>
          </p:cNvPr>
          <p:cNvSpPr txBox="1"/>
          <p:nvPr/>
        </p:nvSpPr>
        <p:spPr bwMode="auto">
          <a:xfrm rot="21272357">
            <a:off x="6972631" y="3175827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8429BF-0AED-E2FB-10EC-A07341DFAB14}"/>
              </a:ext>
            </a:extLst>
          </p:cNvPr>
          <p:cNvCxnSpPr>
            <a:cxnSpLocks/>
          </p:cNvCxnSpPr>
          <p:nvPr/>
        </p:nvCxnSpPr>
        <p:spPr bwMode="auto">
          <a:xfrm flipH="1">
            <a:off x="6580128" y="4347432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7A4DF88-C4A9-0F21-3CF3-978D3E7C29D7}"/>
              </a:ext>
            </a:extLst>
          </p:cNvPr>
          <p:cNvSpPr txBox="1"/>
          <p:nvPr/>
        </p:nvSpPr>
        <p:spPr bwMode="auto">
          <a:xfrm>
            <a:off x="5673524" y="4172826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Colour Sensor Connector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755B42-3AE5-630B-8712-9128F3AC2978}"/>
              </a:ext>
            </a:extLst>
          </p:cNvPr>
          <p:cNvCxnSpPr>
            <a:cxnSpLocks/>
          </p:cNvCxnSpPr>
          <p:nvPr/>
        </p:nvCxnSpPr>
        <p:spPr bwMode="auto">
          <a:xfrm>
            <a:off x="7586127" y="4739840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4324153-DB3A-77EE-B653-A4F3BB3426E9}"/>
              </a:ext>
            </a:extLst>
          </p:cNvPr>
          <p:cNvCxnSpPr>
            <a:cxnSpLocks/>
          </p:cNvCxnSpPr>
          <p:nvPr/>
        </p:nvCxnSpPr>
        <p:spPr bwMode="auto">
          <a:xfrm flipH="1">
            <a:off x="8141804" y="4657443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0219058-251B-F094-9B48-FBC6353B9669}"/>
              </a:ext>
            </a:extLst>
          </p:cNvPr>
          <p:cNvSpPr txBox="1"/>
          <p:nvPr/>
        </p:nvSpPr>
        <p:spPr bwMode="auto">
          <a:xfrm>
            <a:off x="7495546" y="5161640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Gesture Sensor Connector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B8D6B79-8A93-1530-AE2F-C918E3078985}"/>
              </a:ext>
            </a:extLst>
          </p:cNvPr>
          <p:cNvCxnSpPr>
            <a:cxnSpLocks/>
          </p:cNvCxnSpPr>
          <p:nvPr/>
        </p:nvCxnSpPr>
        <p:spPr bwMode="auto">
          <a:xfrm>
            <a:off x="8803043" y="4887271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4756118-F460-C9DE-D3AC-E3B62A30E47D}"/>
              </a:ext>
            </a:extLst>
          </p:cNvPr>
          <p:cNvSpPr txBox="1"/>
          <p:nvPr/>
        </p:nvSpPr>
        <p:spPr bwMode="auto">
          <a:xfrm>
            <a:off x="9101682" y="5268851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NRF 24L01</a:t>
            </a:r>
          </a:p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Transmitter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2D2D1B6-43C5-DC6B-2B5F-97D644270332}"/>
              </a:ext>
            </a:extLst>
          </p:cNvPr>
          <p:cNvCxnSpPr>
            <a:cxnSpLocks/>
          </p:cNvCxnSpPr>
          <p:nvPr/>
        </p:nvCxnSpPr>
        <p:spPr bwMode="auto">
          <a:xfrm flipH="1">
            <a:off x="6768747" y="4088451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5C67CD8-AF50-7EEC-703A-DBE31BFBB34D}"/>
              </a:ext>
            </a:extLst>
          </p:cNvPr>
          <p:cNvSpPr txBox="1"/>
          <p:nvPr/>
        </p:nvSpPr>
        <p:spPr bwMode="auto">
          <a:xfrm>
            <a:off x="6006012" y="5201741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Mode</a:t>
            </a:r>
          </a:p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Button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2F0871-2AD0-56A7-A87F-33FEEEF698CA}"/>
              </a:ext>
            </a:extLst>
          </p:cNvPr>
          <p:cNvSpPr txBox="1"/>
          <p:nvPr/>
        </p:nvSpPr>
        <p:spPr bwMode="auto">
          <a:xfrm rot="21342939">
            <a:off x="7451482" y="2565719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30507BD8-EFB6-106C-7B27-301A102CF67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7163" y="0"/>
            <a:ext cx="992346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2 – Further Modes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4C6DF1-DC49-3E9B-3806-CBFF6D32B0D1}"/>
              </a:ext>
            </a:extLst>
          </p:cNvPr>
          <p:cNvSpPr txBox="1"/>
          <p:nvPr/>
        </p:nvSpPr>
        <p:spPr bwMode="auto">
          <a:xfrm>
            <a:off x="357616" y="873498"/>
            <a:ext cx="5077305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 far using Car 2, we have demonstrated </a:t>
            </a:r>
          </a:p>
          <a:p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how to control the car wirelessly using NRF24L01 radio module using:</a:t>
            </a:r>
          </a:p>
          <a:p>
            <a:pPr marL="342900" indent="-342900">
              <a:buFontTx/>
              <a:buChar char="-"/>
            </a:pP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Buttons, Joystick, Accelerometer</a:t>
            </a:r>
          </a:p>
          <a:p>
            <a:pPr marL="342900" indent="-342900">
              <a:buFontTx/>
              <a:buChar char="-"/>
            </a:pPr>
            <a:endParaRPr lang="en-GB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car can also be controlled using </a:t>
            </a:r>
          </a:p>
          <a:p>
            <a:pPr marL="342900" indent="-342900">
              <a:buFontTx/>
              <a:buChar char="-"/>
            </a:pP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Colour sensor, Gesture sensor , or any sensor with Free Connector</a:t>
            </a:r>
          </a:p>
          <a:p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      (Interfaces provided) </a:t>
            </a:r>
          </a:p>
          <a:p>
            <a:endParaRPr lang="en-GB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All the details can be found at Git hub repository: </a:t>
            </a:r>
          </a:p>
          <a:p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https://github.com/info-zas/zas-robotics-car-2-communications</a:t>
            </a:r>
          </a:p>
          <a:p>
            <a:endParaRPr lang="en-GB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GB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4088614" name="Title 1"/>
          <p:cNvSpPr>
            <a:spLocks noGrp="1"/>
          </p:cNvSpPr>
          <p:nvPr>
            <p:ph type="title"/>
          </p:nvPr>
        </p:nvSpPr>
        <p:spPr bwMode="auto">
          <a:xfrm>
            <a:off x="10884" y="26165"/>
            <a:ext cx="10515600" cy="9478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Applications of Car 2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59059861" name="Content Placeholder 2"/>
          <p:cNvSpPr>
            <a:spLocks noGrp="1"/>
          </p:cNvSpPr>
          <p:nvPr>
            <p:ph idx="1"/>
          </p:nvPr>
        </p:nvSpPr>
        <p:spPr bwMode="auto">
          <a:xfrm>
            <a:off x="380999" y="833607"/>
            <a:ext cx="10003972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None/>
              <a:defRPr/>
            </a:pPr>
            <a:endParaRPr lang="en-US" sz="2400" b="0" i="0" u="none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24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remote control of car learned here is useful to generate </a:t>
            </a:r>
            <a:r>
              <a:rPr lang="en-US" sz="2400" b="1" dirty="0">
                <a:solidFill>
                  <a:schemeClr val="accent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Global MAP for SLAM</a:t>
            </a: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algorithms</a:t>
            </a:r>
            <a:endParaRPr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  <a:defRPr/>
            </a:pP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remote control of robots during initial stages of </a:t>
            </a:r>
            <a:r>
              <a:rPr lang="en-US" sz="2400" b="1" dirty="0">
                <a:solidFill>
                  <a:schemeClr val="accent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Reinforcement Learning</a:t>
            </a:r>
            <a:endParaRPr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generate the test data for </a:t>
            </a:r>
            <a:r>
              <a:rPr lang="en-US" sz="2400" b="1" dirty="0">
                <a:solidFill>
                  <a:schemeClr val="accent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Imitation Learning</a:t>
            </a:r>
            <a:endParaRPr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perform a tangle-free calibration of the </a:t>
            </a:r>
            <a:r>
              <a:rPr lang="en-GB" sz="2400" b="1" dirty="0">
                <a:solidFill>
                  <a:schemeClr val="accent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IMU</a:t>
            </a: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sensors.</a:t>
            </a: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IOT/Remote </a:t>
            </a:r>
            <a:r>
              <a:rPr lang="en-US" sz="2400" b="1" dirty="0">
                <a:solidFill>
                  <a:schemeClr val="accent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Control/Monitoring/Inspection</a:t>
            </a:r>
            <a:endParaRPr lang="en-GB" sz="2400" b="1" dirty="0">
              <a:solidFill>
                <a:schemeClr val="accent5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954380178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5F215D-71DD-BC8A-9CC1-1D45C371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343258-A93F-1BEB-97A8-109AEC463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11</a:t>
            </a:fld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24489500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AB5D07-CB2A-4D86-AA40-A6578CDA1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A8F0CB-E046-FE12-A886-4610FCFD2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12</a:t>
            </a:fld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829C7CD-CD4A-64FF-CA80-B79E9A97653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7163" y="0"/>
            <a:ext cx="992346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Summary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76D83-64C7-EA02-68ED-1831C57C583C}"/>
              </a:ext>
            </a:extLst>
          </p:cNvPr>
          <p:cNvSpPr txBox="1"/>
          <p:nvPr/>
        </p:nvSpPr>
        <p:spPr bwMode="auto">
          <a:xfrm>
            <a:off x="1376515" y="1443841"/>
            <a:ext cx="840658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this presentation, we explored Car 2 based on Communication Technologies – The Second Car in the ZAS Robotics Navigational Series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 explored how to control the car wirelessly using buttons, joystick and accelerometer sensors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Next in the Series: We explore Car 3 based on encoder motors – to control the car using PID controllers</a:t>
            </a:r>
            <a:endParaRPr lang="en-GB" sz="28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2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3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1093</Words>
  <Application>Microsoft Office PowerPoint</Application>
  <PresentationFormat>Widescreen</PresentationFormat>
  <Paragraphs>210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Calibri Light</vt:lpstr>
      <vt:lpstr>Office Theme</vt:lpstr>
      <vt:lpstr>2_Office Theme</vt:lpstr>
      <vt:lpstr>3_Office Theme</vt:lpstr>
      <vt:lpstr>PowerPoint Presentation</vt:lpstr>
      <vt:lpstr>PowerPoint Presentation</vt:lpstr>
      <vt:lpstr>Robot Car2 - Contents</vt:lpstr>
      <vt:lpstr>Robot Car2 - Contents</vt:lpstr>
      <vt:lpstr>Health &amp; Safety</vt:lpstr>
      <vt:lpstr>Motor Driver Module</vt:lpstr>
      <vt:lpstr>Lab 1:  Basic Movements</vt:lpstr>
      <vt:lpstr>Lab 1:  Basic Movements</vt:lpstr>
      <vt:lpstr>PowerPoint Presentation</vt:lpstr>
      <vt:lpstr>Car 2 – Further Modes</vt:lpstr>
      <vt:lpstr>Applications of Car 2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53</cp:revision>
  <dcterms:created xsi:type="dcterms:W3CDTF">2025-11-15T20:03:39Z</dcterms:created>
  <dcterms:modified xsi:type="dcterms:W3CDTF">2025-12-02T17:28:25Z</dcterms:modified>
</cp:coreProperties>
</file>