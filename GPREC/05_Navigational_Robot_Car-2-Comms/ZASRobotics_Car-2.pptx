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17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38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3336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7371250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676335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8438236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5625672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2308065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939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340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6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AEA457-9731-5871-2AE1-80D3ACA6892E}" type="slidenum">
              <a:rPr/>
              <a:t>1</a:t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1908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197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380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13F677-0E1E-6F44-539B-EB19BF5D0C37}" type="slidenum">
              <a:rPr/>
              <a:t>2</a:t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2017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5602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6337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BC9251-113A-7242-B363-A5185817D6B5}" type="slidenum">
              <a:rPr/>
              <a:t>3</a:t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532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95419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782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BC9251-113A-7242-B363-A5185817D6B5}" type="slidenum">
              <a:rPr/>
              <a:t>4</a:t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467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97845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811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68E42F-78DA-4972-9FA0-367C1A1C07E5}" type="slidenum">
              <a:rPr/>
              <a:t>5</a:t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134E59-FB7F-F0A7-E704-D0CE4C6E9519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A66BB7-2742-B0A8-8003-C5661AF731EC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91BB6D-56B8-C9FC-B443-FD1629105526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A2616DB-F8EB-FF9C-72F3-80E47681C890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DDAFD8-75E6-9CAD-AA35-B0020ED3BF53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FEB79E-DFC8-FDB1-D74A-AD69CE467F99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763B14-829E-A619-454D-08ED566D1E06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9479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8744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1927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A97EE7-2B7B-0295-8933-8F1EE8AC5E4B}" type="slidenum">
              <a:rPr/>
              <a:t>13</a:t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106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551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841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AF8D5E-B600-30DA-3D6D-39339B543051}" type="slidenum">
              <a:rPr/>
              <a:t>14</a:t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2519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4823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0590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AF8D5E-B600-30DA-3D6D-39339B543051}" type="slidenum">
              <a:rPr/>
              <a:t>15</a:t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75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83967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669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B5CE44-D49C-ED7D-D5AE-A84D4FE6CD14}" type="slidenum">
              <a:rPr/>
              <a:t>16</a:t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82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6100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121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0D45ED-3965-D94D-F468-76B3746F1F32}" type="slidenum">
              <a:rPr/>
              <a:t>17</a:t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94838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248330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1525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6053156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49511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039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870708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7438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0980256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462125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21102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242405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79311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626988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960747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4042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750360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916362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47368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20406561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982523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51429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145890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447052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699724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0884537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90823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1890054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4712903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349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524438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30626398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9740740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57995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14455944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7525140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45634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7821348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144381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22814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93017809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49028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5662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0452493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2128046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7994615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0645862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130058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651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290724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09441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1358504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401678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55797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8165240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47083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218068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273770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3442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7876521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3605840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8394518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584395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9614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082318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957156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2101287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578616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70153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76459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064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3651292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538799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1914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966723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941998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325839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6580582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831646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0793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259844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14123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2156713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962975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8709466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29828841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07426993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8485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5413971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91368050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795158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09793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2069837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0134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1926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9739473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326048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45728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28156629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0674061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38854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3730940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0521784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522814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4230455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9039449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6784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8689756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907760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555330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624106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93120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2731637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9733754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2814382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752663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50111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41421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932190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8FDF4E3-76A3-4A80-A70D-6B1FEC2BADEB}" type="datetimeFigureOut">
              <a:rPr lang="en-GB"/>
              <a:t>22/11/2025</a:t>
            </a:fld>
            <a:endParaRPr lang="en-GB"/>
          </a:p>
        </p:txBody>
      </p:sp>
      <p:sp>
        <p:nvSpPr>
          <p:cNvPr id="12878908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0911774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3CA24EA-A87A-4979-940E-A83EA2C27DA6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3398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75863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8371745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22/11/2025</a:t>
            </a:fld>
            <a:endParaRPr lang="en-GB"/>
          </a:p>
        </p:txBody>
      </p:sp>
      <p:sp>
        <p:nvSpPr>
          <p:cNvPr id="102036053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1989838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109540" name="Title 1"/>
          <p:cNvSpPr>
            <a:spLocks noGrp="1"/>
          </p:cNvSpPr>
          <p:nvPr>
            <p:ph type="ctrTitle"/>
          </p:nvPr>
        </p:nvSpPr>
        <p:spPr bwMode="auto">
          <a:xfrm>
            <a:off x="0" y="1742849"/>
            <a:ext cx="12192000" cy="238759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Robotics Series </a:t>
            </a:r>
            <a:br>
              <a:rPr lang="en-GB">
                <a:solidFill>
                  <a:schemeClr val="bg1"/>
                </a:solidFill>
              </a:rPr>
            </a:br>
            <a:r>
              <a:rPr lang="en-GB" sz="5400">
                <a:solidFill>
                  <a:schemeClr val="accent4"/>
                </a:solidFill>
              </a:rPr>
              <a:t>Robot Car-2 (Communications)</a:t>
            </a:r>
            <a:endParaRPr/>
          </a:p>
        </p:txBody>
      </p:sp>
      <p:sp>
        <p:nvSpPr>
          <p:cNvPr id="113989261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4130448"/>
            <a:ext cx="9144000" cy="10897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Training Slides</a:t>
            </a:r>
            <a:endParaRPr/>
          </a:p>
        </p:txBody>
      </p:sp>
      <p:pic>
        <p:nvPicPr>
          <p:cNvPr id="806460491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149037" y="32658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052821" name="Title 1"/>
          <p:cNvSpPr>
            <a:spLocks noGrp="1"/>
          </p:cNvSpPr>
          <p:nvPr>
            <p:ph type="title"/>
          </p:nvPr>
        </p:nvSpPr>
        <p:spPr bwMode="auto">
          <a:xfrm>
            <a:off x="10883" y="-4987"/>
            <a:ext cx="10515600" cy="1005521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Car-2 (Communications)</a:t>
            </a:r>
            <a:endParaRPr/>
          </a:p>
        </p:txBody>
      </p:sp>
      <p:sp>
        <p:nvSpPr>
          <p:cNvPr id="2044748346" name="TextBox 2"/>
          <p:cNvSpPr txBox="1"/>
          <p:nvPr/>
        </p:nvSpPr>
        <p:spPr bwMode="auto">
          <a:xfrm>
            <a:off x="142875" y="1000534"/>
            <a:ext cx="119062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GB" sz="2400">
              <a:solidFill>
                <a:schemeClr val="bg1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2"/>
                </a:solidFill>
              </a:rPr>
              <a:t>Review the Contents in the Box</a:t>
            </a:r>
            <a:endParaRPr/>
          </a:p>
          <a:p>
            <a:pPr marL="342900" lvl="0" indent="-342900">
              <a:buFont typeface="Arial"/>
              <a:buChar char="•"/>
              <a:defRPr/>
            </a:pPr>
            <a:endParaRPr lang="en-GB" sz="2400">
              <a:solidFill>
                <a:srgbClr val="F9CB40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rgbClr val="F9CB40"/>
                </a:solidFill>
              </a:rPr>
              <a:t>Review &amp; Discuss the Motor Controller Board, Assembly, Power Supply etc.</a:t>
            </a:r>
            <a:endParaRPr/>
          </a:p>
          <a:p>
            <a:pPr marL="342900" lvl="0" indent="-342900">
              <a:buFont typeface="Arial"/>
              <a:buChar char="•"/>
              <a:defRPr/>
            </a:pPr>
            <a:endParaRPr lang="en-GB" sz="2400">
              <a:solidFill>
                <a:srgbClr val="F9CB40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2"/>
                </a:solidFill>
              </a:rPr>
              <a:t>Discuss the Health &amp; Safety Precautions</a:t>
            </a:r>
            <a:endParaRPr/>
          </a:p>
          <a:p>
            <a:pPr marL="342900" lvl="0" indent="-342900">
              <a:buFont typeface="Arial"/>
              <a:buChar char="•"/>
              <a:defRPr/>
            </a:pPr>
            <a:endParaRPr lang="en-GB" sz="2400">
              <a:solidFill>
                <a:prstClr val="white"/>
              </a:solidFill>
            </a:endParaRPr>
          </a:p>
          <a:p>
            <a:pPr marL="342900" lvl="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5"/>
                </a:solidFill>
              </a:rPr>
              <a:t>Practice the Following Lab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Initial Setup - Car Basic Movements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Explore the Remote Control Device: Joystick, Accelerometer &amp; Buttons etc.</a:t>
            </a:r>
            <a:r>
              <a:rPr lang="en-GB" sz="2400">
                <a:solidFill>
                  <a:srgbClr val="F9CB40"/>
                </a:solidFill>
              </a:rPr>
              <a:t> </a:t>
            </a:r>
            <a:endParaRPr lang="en-GB" sz="2400">
              <a:solidFill>
                <a:srgbClr val="F9CB40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endParaRPr lang="en-GB" sz="2400">
              <a:solidFill>
                <a:srgbClr val="F9CB40"/>
              </a:solidFill>
            </a:endParaRPr>
          </a:p>
          <a:p>
            <a:pPr marL="342900" indent="-342900">
              <a:buFont typeface="Arial"/>
              <a:buChar char="•"/>
              <a:defRPr/>
            </a:pPr>
            <a:r>
              <a:rPr lang="en-GB" sz="2400">
                <a:solidFill>
                  <a:schemeClr val="accent2"/>
                </a:solidFill>
              </a:rPr>
              <a:t>Review the Features: 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Gesture Sensor, Bluetooth and IR </a:t>
            </a:r>
            <a:endParaRPr/>
          </a:p>
          <a:p>
            <a:pPr marL="800100" lvl="1" indent="-342900">
              <a:buFont typeface="Arial"/>
              <a:buChar char="•"/>
              <a:defRPr/>
            </a:pPr>
            <a:r>
              <a:rPr lang="en-GB" sz="2400">
                <a:solidFill>
                  <a:schemeClr val="bg1"/>
                </a:solidFill>
              </a:rPr>
              <a:t>Free Connectors &amp; Breadboard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endParaRPr lang="en-GB" sz="2400">
              <a:solidFill>
                <a:schemeClr val="bg1"/>
              </a:solidFill>
            </a:endParaRPr>
          </a:p>
        </p:txBody>
      </p:sp>
      <p:pic>
        <p:nvPicPr>
          <p:cNvPr id="1142226202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60045" name="Title 1"/>
          <p:cNvSpPr>
            <a:spLocks noGrp="1"/>
          </p:cNvSpPr>
          <p:nvPr>
            <p:ph type="title"/>
          </p:nvPr>
        </p:nvSpPr>
        <p:spPr bwMode="auto">
          <a:xfrm>
            <a:off x="10884" y="0"/>
            <a:ext cx="10515600" cy="1023257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Car-2 (Communications)</a:t>
            </a:r>
            <a:endParaRPr/>
          </a:p>
        </p:txBody>
      </p:sp>
      <p:pic>
        <p:nvPicPr>
          <p:cNvPr id="901532945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705392798" name="Content Placeholder 2"/>
          <p:cNvSpPr txBox="1">
            <a:spLocks noGrp="1"/>
          </p:cNvSpPr>
          <p:nvPr>
            <p:ph idx="1"/>
          </p:nvPr>
        </p:nvSpPr>
        <p:spPr bwMode="auto">
          <a:xfrm>
            <a:off x="653597" y="1641046"/>
            <a:ext cx="321729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GB" sz="2400" b="0" i="0" u="none" strike="noStrike" cap="none" spc="0">
              <a:ln>
                <a:noFill/>
              </a:ln>
              <a:solidFill>
                <a:schemeClr val="accent5"/>
              </a:solidFill>
              <a:latin typeface="Aptos"/>
              <a:ea typeface="+mn-ea"/>
              <a:cs typeface="+mn-cs"/>
            </a:endParaRPr>
          </a:p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ptos"/>
                <a:ea typeface="+mn-ea"/>
                <a:cs typeface="+mn-cs"/>
              </a:rPr>
              <a:t>Parts &amp; Components</a:t>
            </a:r>
            <a:endParaRPr/>
          </a:p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en-GB" sz="2400" b="0" i="0" u="none" strike="noStrike" cap="none" spc="0">
              <a:ln>
                <a:noFill/>
              </a:ln>
              <a:solidFill>
                <a:schemeClr val="accent5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Arduino Uno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TT DC Motors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TB6612 Motor Driver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OLED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NRF24L01 (Trans/Receiver)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Bluetooth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IR Remote Receiver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Battery Case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Batteries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Battery Charger</a:t>
            </a:r>
            <a:endParaRPr/>
          </a:p>
        </p:txBody>
      </p:sp>
      <p:pic>
        <p:nvPicPr>
          <p:cNvPr id="13552786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24569" y="880826"/>
            <a:ext cx="4568872" cy="3098308"/>
          </a:xfrm>
          <a:prstGeom prst="rect">
            <a:avLst/>
          </a:prstGeom>
        </p:spPr>
      </p:pic>
      <p:pic>
        <p:nvPicPr>
          <p:cNvPr id="133377648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924569" y="4121565"/>
            <a:ext cx="4568872" cy="25471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984704" name="Title 1"/>
          <p:cNvSpPr>
            <a:spLocks noGrp="1"/>
          </p:cNvSpPr>
          <p:nvPr>
            <p:ph type="title"/>
          </p:nvPr>
        </p:nvSpPr>
        <p:spPr bwMode="auto">
          <a:xfrm>
            <a:off x="10884" y="0"/>
            <a:ext cx="10515600" cy="1045029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Car-2 (Communications)</a:t>
            </a:r>
            <a:endParaRPr/>
          </a:p>
        </p:txBody>
      </p:sp>
      <p:sp>
        <p:nvSpPr>
          <p:cNvPr id="1119107391" name="Content Placeholder 2"/>
          <p:cNvSpPr>
            <a:spLocks noGrp="1"/>
          </p:cNvSpPr>
          <p:nvPr>
            <p:ph idx="1"/>
          </p:nvPr>
        </p:nvSpPr>
        <p:spPr bwMode="auto">
          <a:xfrm>
            <a:off x="380999" y="833607"/>
            <a:ext cx="5944981" cy="568377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0000" lnSpcReduction="15000"/>
          </a:bodyPr>
          <a:lstStyle/>
          <a:p>
            <a:pPr>
              <a:defRPr/>
            </a:pPr>
            <a:endParaRPr lang="en-GB" sz="2000">
              <a:solidFill>
                <a:schemeClr val="bg1"/>
              </a:solidFill>
            </a:endParaRPr>
          </a:p>
          <a:p>
            <a:pPr>
              <a:defRPr/>
            </a:pPr>
            <a:r>
              <a:rPr sz="20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Where CAR-2 Fits in Your Learning Path</a:t>
            </a:r>
            <a:endParaRPr/>
          </a:p>
          <a:p>
            <a:pPr marL="0" indent="0">
              <a:buFont typeface="Arial"/>
              <a:buNone/>
              <a:defRPr/>
            </a:pPr>
            <a:endParaRPr sz="2000" b="0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sz="2000" b="1" i="0" u="none">
                <a:solidFill>
                  <a:schemeClr val="accent5"/>
                </a:solidFill>
                <a:latin typeface="Aptos"/>
                <a:ea typeface="Aptos"/>
                <a:cs typeface="Aptos"/>
              </a:rPr>
              <a:t>CAR-1 (Autonomous Robot – Sensors)</a:t>
            </a:r>
            <a:endParaRPr sz="2000" b="0" i="0" u="none">
              <a:solidFill>
                <a:schemeClr val="accent5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Thinks and drives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by itself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Uses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IR, Ultrasonic, Line, Pit</a:t>
            </a: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sensors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Has many intelligence modes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Focus: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Autonomous navigation + sensor logic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marL="457200" lvl="1" indent="0">
              <a:buFont typeface="Arial"/>
              <a:buNone/>
              <a:defRPr/>
            </a:pP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2000" b="1" i="0" u="none">
                <a:solidFill>
                  <a:schemeClr val="accent5"/>
                </a:solidFill>
                <a:latin typeface="Aptos"/>
                <a:ea typeface="Aptos"/>
                <a:cs typeface="Aptos"/>
              </a:rPr>
              <a:t>CAR-2 (Wireless </a:t>
            </a:r>
            <a:r>
              <a:rPr lang="en-GB" sz="2000" b="1" i="0" u="none">
                <a:solidFill>
                  <a:schemeClr val="accent5"/>
                </a:solidFill>
                <a:latin typeface="Aptos"/>
                <a:ea typeface="Aptos"/>
                <a:cs typeface="Aptos"/>
              </a:rPr>
              <a:t>Communications</a:t>
            </a:r>
            <a:r>
              <a:rPr sz="2000" b="1" i="0" u="none">
                <a:solidFill>
                  <a:schemeClr val="accent5"/>
                </a:solidFill>
                <a:latin typeface="Aptos"/>
                <a:ea typeface="Aptos"/>
                <a:cs typeface="Aptos"/>
              </a:rPr>
              <a:t>)</a:t>
            </a:r>
            <a:endParaRPr sz="1600">
              <a:solidFill>
                <a:schemeClr val="accent5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Works like an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RC car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Controlled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remotely</a:t>
            </a: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 (up/down/left/right)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Uses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NRF24L01 wireless module</a:t>
            </a:r>
            <a:endParaRPr lang="en-GB" sz="1600" b="1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lvl="1">
              <a:defRPr/>
            </a:pPr>
            <a:r>
              <a:rPr lang="en-GB" sz="1600" b="1">
                <a:solidFill>
                  <a:schemeClr val="bg1"/>
                </a:solidFill>
                <a:latin typeface="Aptos"/>
                <a:cs typeface="Aptos"/>
              </a:rPr>
              <a:t>Also Bluetooth, IR Remote Receiver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Shows status on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OLED screen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Focus: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Communication systems + control architecture</a:t>
            </a:r>
            <a:endParaRPr lang="en-GB" sz="1600" b="1" i="0" u="none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 lvl="1">
              <a:defRPr/>
            </a:pPr>
            <a:r>
              <a:rPr lang="en-GB" sz="1600" b="1">
                <a:solidFill>
                  <a:schemeClr val="bg1"/>
                </a:solidFill>
                <a:latin typeface="Aptos"/>
                <a:cs typeface="Aptos"/>
              </a:rPr>
              <a:t>Applications</a:t>
            </a:r>
            <a:r>
              <a:rPr lang="en-GB" sz="1600">
                <a:solidFill>
                  <a:schemeClr val="bg1"/>
                </a:solidFill>
                <a:latin typeface="Aptos"/>
                <a:cs typeface="Aptos"/>
              </a:rPr>
              <a:t>: SLAM/Manual Remote Control during Initial Stages of RL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>
              <a:defRPr/>
            </a:pP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Why You Need Both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CAR-1 teaches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Robot Intelligence</a:t>
            </a:r>
            <a:endParaRPr sz="1600">
              <a:solidFill>
                <a:schemeClr val="bg1"/>
              </a:solidFill>
              <a:latin typeface="Aptos"/>
              <a:cs typeface="Aptos"/>
            </a:endParaRPr>
          </a:p>
          <a:p>
            <a:pPr lvl="1">
              <a:defRPr/>
            </a:pPr>
            <a:r>
              <a:rPr sz="1600" b="0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CAR-2 teaches </a:t>
            </a:r>
            <a:r>
              <a:rPr sz="1600" b="1" i="0" u="none">
                <a:solidFill>
                  <a:schemeClr val="bg1"/>
                </a:solidFill>
                <a:latin typeface="Aptos"/>
                <a:ea typeface="Aptos"/>
                <a:cs typeface="Aptos"/>
              </a:rPr>
              <a:t>Wireless Control &amp; Real-Time Feedback</a:t>
            </a:r>
            <a:endParaRPr lang="en-GB">
              <a:solidFill>
                <a:schemeClr val="bg1"/>
              </a:solidFill>
            </a:endParaRPr>
          </a:p>
          <a:p>
            <a:pPr>
              <a:defRPr/>
            </a:pPr>
            <a:endParaRPr lang="en-GB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2024991625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9516607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3144" y="880826"/>
            <a:ext cx="4568871" cy="3098307"/>
          </a:xfrm>
          <a:prstGeom prst="rect">
            <a:avLst/>
          </a:prstGeom>
        </p:spPr>
      </p:pic>
      <p:pic>
        <p:nvPicPr>
          <p:cNvPr id="73342265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6233144" y="4050349"/>
            <a:ext cx="4568871" cy="2547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265565" name="Title 1"/>
          <p:cNvSpPr>
            <a:spLocks noGrp="1"/>
          </p:cNvSpPr>
          <p:nvPr>
            <p:ph type="title"/>
          </p:nvPr>
        </p:nvSpPr>
        <p:spPr bwMode="auto">
          <a:xfrm>
            <a:off x="0" y="2766217"/>
            <a:ext cx="12192001" cy="1325562"/>
          </a:xfrm>
        </p:spPr>
        <p:txBody>
          <a:bodyPr/>
          <a:lstStyle/>
          <a:p>
            <a:pPr algn="ctr">
              <a:defRPr/>
            </a:pPr>
            <a:r>
              <a:rPr lang="en-GB">
                <a:solidFill>
                  <a:schemeClr val="bg1"/>
                </a:solidFill>
              </a:rPr>
              <a:t>Health &amp; Safety</a:t>
            </a:r>
            <a:endParaRPr/>
          </a:p>
        </p:txBody>
      </p:sp>
      <p:pic>
        <p:nvPicPr>
          <p:cNvPr id="900431360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644889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Health &amp; Safety</a:t>
            </a:r>
            <a:endParaRPr/>
          </a:p>
        </p:txBody>
      </p:sp>
      <p:sp>
        <p:nvSpPr>
          <p:cNvPr id="1309336905" name="TextBox 2"/>
          <p:cNvSpPr txBox="1"/>
          <p:nvPr/>
        </p:nvSpPr>
        <p:spPr bwMode="auto">
          <a:xfrm>
            <a:off x="207380" y="966334"/>
            <a:ext cx="110049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Double-check all power connections.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Ensure correct </a:t>
            </a:r>
            <a:r>
              <a:rPr lang="en-US" sz="18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GND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and </a:t>
            </a:r>
            <a:r>
              <a:rPr lang="en-US" sz="18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VCC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wiring for the power supply, OLED, motor drivers, GPS, sensors, and other modules.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Use the correct input voltage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Battery input should be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between 5V and 12V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only.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Work on a safe surface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Use the kit on an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insulated table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(e.g., wood) and ensure the surface is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dry and clean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US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Avoid leaving the kit unattended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Do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not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keep the system powered on without supervision.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GB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Build and Test Incrementally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Turn on the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microcontroller first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, then 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build and test the circuit step-by-step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.</a:t>
            </a:r>
            <a:b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</a:br>
            <a:r>
              <a:rPr lang="en-US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Avoid wiring the entire system at once and powering it without intermediate testing.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GB" sz="18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Don’t leave Batteries charging unattended</a:t>
            </a:r>
            <a:endParaRPr/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Robotic car is for in-door use only</a:t>
            </a: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</p:txBody>
      </p:sp>
      <p:pic>
        <p:nvPicPr>
          <p:cNvPr id="138809813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652669729" name="Flowchart: Punched Tape 4"/>
          <p:cNvSpPr/>
          <p:nvPr/>
        </p:nvSpPr>
        <p:spPr bwMode="auto">
          <a:xfrm>
            <a:off x="8724502" y="4659086"/>
            <a:ext cx="3183918" cy="2046514"/>
          </a:xfrm>
          <a:prstGeom prst="flowChartPunchedTap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0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Always follow 4-eyes principle when it comes to checking</a:t>
            </a: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</a:t>
            </a:r>
            <a:r>
              <a:rPr lang="en-GB" sz="2400" b="1" i="0" u="sng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VCC &amp; GND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908769" name="Title 1"/>
          <p:cNvSpPr>
            <a:spLocks noGrp="1"/>
          </p:cNvSpPr>
          <p:nvPr>
            <p:ph type="title"/>
          </p:nvPr>
        </p:nvSpPr>
        <p:spPr bwMode="auto">
          <a:xfrm>
            <a:off x="0" y="2766218"/>
            <a:ext cx="12192001" cy="1325563"/>
          </a:xfrm>
        </p:spPr>
        <p:txBody>
          <a:bodyPr/>
          <a:lstStyle/>
          <a:p>
            <a:pPr algn="ctr">
              <a:defRPr/>
            </a:pPr>
            <a:r>
              <a:rPr lang="en-GB">
                <a:solidFill>
                  <a:schemeClr val="bg1"/>
                </a:solidFill>
              </a:rPr>
              <a:t>Motor Driver</a:t>
            </a:r>
            <a:endParaRPr/>
          </a:p>
        </p:txBody>
      </p:sp>
      <p:pic>
        <p:nvPicPr>
          <p:cNvPr id="552347588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824406" name="Title 1"/>
          <p:cNvSpPr>
            <a:spLocks noGrp="1"/>
          </p:cNvSpPr>
          <p:nvPr>
            <p:ph type="title"/>
          </p:nvPr>
        </p:nvSpPr>
        <p:spPr bwMode="auto">
          <a:xfrm>
            <a:off x="10884" y="-4988"/>
            <a:ext cx="10515600" cy="117827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Car-2 (Communications)</a:t>
            </a:r>
            <a:endParaRPr/>
          </a:p>
        </p:txBody>
      </p:sp>
      <p:sp>
        <p:nvSpPr>
          <p:cNvPr id="462117620" name="TextBox 5"/>
          <p:cNvSpPr txBox="1"/>
          <p:nvPr/>
        </p:nvSpPr>
        <p:spPr bwMode="auto">
          <a:xfrm>
            <a:off x="1580502" y="1936870"/>
            <a:ext cx="2137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Series: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TT DC</a:t>
            </a:r>
            <a:endParaRPr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Speed: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130 RPM </a:t>
            </a:r>
            <a:endParaRPr/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Voltage: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6V</a:t>
            </a:r>
            <a:endParaRPr/>
          </a:p>
        </p:txBody>
      </p:sp>
      <p:pic>
        <p:nvPicPr>
          <p:cNvPr id="1560404741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pic>
        <p:nvPicPr>
          <p:cNvPr id="379097828" name="Picture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930575" y="3638125"/>
            <a:ext cx="1729890" cy="1767993"/>
          </a:xfrm>
          <a:prstGeom prst="rect">
            <a:avLst/>
          </a:prstGeom>
        </p:spPr>
      </p:pic>
      <p:sp>
        <p:nvSpPr>
          <p:cNvPr id="1085269198" name="TextBox 10"/>
          <p:cNvSpPr txBox="1"/>
          <p:nvPr/>
        </p:nvSpPr>
        <p:spPr bwMode="auto">
          <a:xfrm>
            <a:off x="7672552" y="1555738"/>
            <a:ext cx="3054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TB 6612 Motor Driver</a:t>
            </a:r>
            <a:endParaRPr/>
          </a:p>
        </p:txBody>
      </p:sp>
      <p:sp>
        <p:nvSpPr>
          <p:cNvPr id="248839314" name="TextBox 11"/>
          <p:cNvSpPr txBox="1"/>
          <p:nvPr/>
        </p:nvSpPr>
        <p:spPr bwMode="auto">
          <a:xfrm>
            <a:off x="1743719" y="1439805"/>
            <a:ext cx="2296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TT Motor Driver</a:t>
            </a:r>
            <a:endParaRPr/>
          </a:p>
        </p:txBody>
      </p:sp>
      <p:pic>
        <p:nvPicPr>
          <p:cNvPr id="155924877" name="Picture 7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79088" y="3429000"/>
            <a:ext cx="3025402" cy="2255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568926" name="Title 1"/>
          <p:cNvSpPr>
            <a:spLocks noGrp="1"/>
          </p:cNvSpPr>
          <p:nvPr>
            <p:ph type="title"/>
          </p:nvPr>
        </p:nvSpPr>
        <p:spPr bwMode="auto">
          <a:xfrm>
            <a:off x="10884" y="-4988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Car-3</a:t>
            </a:r>
            <a:endParaRPr/>
          </a:p>
        </p:txBody>
      </p:sp>
      <p:sp>
        <p:nvSpPr>
          <p:cNvPr id="1102107436" name="TextBox 5"/>
          <p:cNvSpPr txBox="1"/>
          <p:nvPr/>
        </p:nvSpPr>
        <p:spPr bwMode="auto">
          <a:xfrm>
            <a:off x="2218913" y="1376183"/>
            <a:ext cx="7754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PIN Details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 - TB6612 Motor Driver</a:t>
            </a:r>
            <a:r>
              <a:rPr lang="en-GB" sz="2400" b="1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and 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TT Motor</a:t>
            </a:r>
            <a:endParaRPr lang="en-GB" sz="2400" b="1" i="0" u="none" strike="noStrike" cap="none" spc="0">
              <a:ln>
                <a:noFill/>
              </a:ln>
              <a:solidFill>
                <a:srgbClr val="219EBC"/>
              </a:solidFill>
              <a:latin typeface="Aptos"/>
              <a:ea typeface="+mn-ea"/>
              <a:cs typeface="+mn-cs"/>
            </a:endParaRPr>
          </a:p>
        </p:txBody>
      </p:sp>
      <p:pic>
        <p:nvPicPr>
          <p:cNvPr id="54036127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60141" y="2118076"/>
            <a:ext cx="3043008" cy="2015237"/>
          </a:xfrm>
          <a:prstGeom prst="rect">
            <a:avLst/>
          </a:prstGeom>
        </p:spPr>
      </p:pic>
      <p:pic>
        <p:nvPicPr>
          <p:cNvPr id="898328936" name="Picture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929089" y="2241697"/>
            <a:ext cx="1729890" cy="1767993"/>
          </a:xfrm>
          <a:prstGeom prst="rect">
            <a:avLst/>
          </a:prstGeom>
        </p:spPr>
      </p:pic>
      <p:sp>
        <p:nvSpPr>
          <p:cNvPr id="1378814646" name="TextBox 10"/>
          <p:cNvSpPr txBox="1"/>
          <p:nvPr/>
        </p:nvSpPr>
        <p:spPr bwMode="auto">
          <a:xfrm>
            <a:off x="3120569" y="4789301"/>
            <a:ext cx="25729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1" i="0" u="sng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Left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A-IN1 – Arduino Nano </a:t>
            </a:r>
            <a:r>
              <a:rPr lang="en-GB">
                <a:solidFill>
                  <a:srgbClr val="F9CB40"/>
                </a:solidFill>
                <a:latin typeface="Aptos"/>
              </a:rPr>
              <a:t>3</a:t>
            </a:r>
            <a:endParaRPr lang="en-GB" sz="1800" b="0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A-IN2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4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PWMA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5</a:t>
            </a: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</p:txBody>
      </p:sp>
      <p:sp>
        <p:nvSpPr>
          <p:cNvPr id="668137207" name="TextBox 11"/>
          <p:cNvSpPr txBox="1"/>
          <p:nvPr/>
        </p:nvSpPr>
        <p:spPr bwMode="auto">
          <a:xfrm>
            <a:off x="6954755" y="4789301"/>
            <a:ext cx="26226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1" i="0" u="sng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Right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B-IN1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8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B-IN2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7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PWMB – Arduino Nano </a:t>
            </a: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6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</a:t>
            </a:r>
            <a:endParaRPr/>
          </a:p>
        </p:txBody>
      </p:sp>
      <p:pic>
        <p:nvPicPr>
          <p:cNvPr id="1095318990" name="Picture 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679673" name="Title 1"/>
          <p:cNvSpPr>
            <a:spLocks noGrp="1"/>
          </p:cNvSpPr>
          <p:nvPr>
            <p:ph type="title"/>
          </p:nvPr>
        </p:nvSpPr>
        <p:spPr bwMode="auto">
          <a:xfrm>
            <a:off x="0" y="2766218"/>
            <a:ext cx="12192001" cy="1325563"/>
          </a:xfrm>
        </p:spPr>
        <p:txBody>
          <a:bodyPr/>
          <a:lstStyle/>
          <a:p>
            <a:pPr algn="ctr">
              <a:defRPr/>
            </a:pPr>
            <a:r>
              <a:rPr lang="en-GB">
                <a:solidFill>
                  <a:schemeClr val="bg1"/>
                </a:solidFill>
              </a:rPr>
              <a:t>Test Basic Movement</a:t>
            </a:r>
            <a:endParaRPr/>
          </a:p>
        </p:txBody>
      </p:sp>
      <p:pic>
        <p:nvPicPr>
          <p:cNvPr id="992609328" name="Picture 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571756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Initial Setup - Test Basic Movements</a:t>
            </a:r>
            <a:endParaRPr/>
          </a:p>
        </p:txBody>
      </p:sp>
      <p:sp>
        <p:nvSpPr>
          <p:cNvPr id="1227678751" name="TextBox 2"/>
          <p:cNvSpPr txBox="1"/>
          <p:nvPr/>
        </p:nvSpPr>
        <p:spPr bwMode="auto">
          <a:xfrm>
            <a:off x="386372" y="1116130"/>
            <a:ext cx="115715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The purpose of this exercise is to test basic movements of the robot car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Also to ensure, your program is using the correct allocated PINs for Motor Inputs (IN1/IN2)</a:t>
            </a:r>
            <a:endParaRPr/>
          </a:p>
        </p:txBody>
      </p:sp>
      <p:sp>
        <p:nvSpPr>
          <p:cNvPr id="325678781" name="TextBox 3"/>
          <p:cNvSpPr txBox="1"/>
          <p:nvPr/>
        </p:nvSpPr>
        <p:spPr bwMode="auto">
          <a:xfrm>
            <a:off x="2763247" y="2826753"/>
            <a:ext cx="6020559" cy="313932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1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The Program has the following 3 major functional blocks</a:t>
            </a:r>
            <a:endParaRPr lang="en-GB" sz="1800" b="0" i="0" u="none" strike="noStrike" cap="none" spc="0">
              <a:ln>
                <a:noFill/>
              </a:ln>
              <a:solidFill>
                <a:srgbClr val="FF715B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342900" marR="0" lvl="0" indent="-3429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Pins declaration</a:t>
            </a:r>
            <a:endParaRPr/>
          </a:p>
          <a:p>
            <a:pPr marL="457200" marR="0" lvl="1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Ensure correct pins are defined (see sample program)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B. Setup: 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	input/outputs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C. Loop: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	In the loop the car drives forward/left/right</a:t>
            </a:r>
            <a:endParaRPr/>
          </a:p>
        </p:txBody>
      </p:sp>
      <p:pic>
        <p:nvPicPr>
          <p:cNvPr id="791054683" name="Picture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582895" name="Title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1" cy="1325563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Initial Setup - Test Basic Movements</a:t>
            </a:r>
            <a:endParaRPr/>
          </a:p>
        </p:txBody>
      </p:sp>
      <p:sp>
        <p:nvSpPr>
          <p:cNvPr id="309418010" name="TextBox 3"/>
          <p:cNvSpPr txBox="1"/>
          <p:nvPr/>
        </p:nvSpPr>
        <p:spPr bwMode="auto">
          <a:xfrm>
            <a:off x="422818" y="1774094"/>
            <a:ext cx="4884671" cy="230832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// ============== Pin </a:t>
            </a:r>
            <a:r>
              <a:rPr lang="en-GB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Definitions</a:t>
            </a: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==========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// Left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#define IN2_L 3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219EBC"/>
                </a:solidFill>
                <a:latin typeface="Aptos"/>
                <a:ea typeface="+mn-ea"/>
                <a:cs typeface="+mn-cs"/>
              </a:rPr>
              <a:t>#define IN1_L 4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it-IT" sz="18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// </a:t>
            </a: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Right</a:t>
            </a:r>
            <a:r>
              <a:rPr lang="it-IT" sz="18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#define IN2_R 7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it-IT" sz="1800" b="0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#define IN1_R 8</a:t>
            </a:r>
            <a:endParaRPr lang="en-GB" sz="1800" b="0" i="0" u="none" strike="noStrike" cap="none" spc="0">
              <a:ln>
                <a:noFill/>
              </a:ln>
              <a:solidFill>
                <a:srgbClr val="FF715B"/>
              </a:solidFill>
              <a:latin typeface="Aptos"/>
              <a:ea typeface="+mn-ea"/>
              <a:cs typeface="+mn-cs"/>
            </a:endParaRPr>
          </a:p>
        </p:txBody>
      </p:sp>
      <p:sp>
        <p:nvSpPr>
          <p:cNvPr id="1056858466" name="TextBox 4"/>
          <p:cNvSpPr txBox="1"/>
          <p:nvPr/>
        </p:nvSpPr>
        <p:spPr bwMode="auto">
          <a:xfrm>
            <a:off x="5965371" y="1774094"/>
            <a:ext cx="59544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3600" b="1" i="0" u="none" strike="noStrike" cap="none" spc="0">
                <a:ln>
                  <a:noFill/>
                </a:ln>
                <a:solidFill>
                  <a:srgbClr val="8ECAE6"/>
                </a:solidFill>
                <a:latin typeface="Aptos"/>
                <a:ea typeface="+mn-ea"/>
                <a:cs typeface="+mn-cs"/>
              </a:rPr>
              <a:t>Please test each direction in </a:t>
            </a:r>
            <a:r>
              <a:rPr lang="en-GB" sz="36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isolation</a:t>
            </a:r>
            <a:endParaRPr lang="en-GB" sz="1800" b="0" i="0" u="none" strike="noStrike" cap="none" spc="0">
              <a:ln>
                <a:noFill/>
              </a:ln>
              <a:solidFill>
                <a:srgbClr val="FF715B"/>
              </a:solidFill>
              <a:latin typeface="Aptos"/>
              <a:ea typeface="+mn-ea"/>
              <a:cs typeface="+mn-cs"/>
            </a:endParaRPr>
          </a:p>
          <a:p>
            <a:pPr marL="742950" lvl="1" indent="-285750"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Forward</a:t>
            </a:r>
            <a:endParaRPr/>
          </a:p>
          <a:p>
            <a:pPr marL="742950" lvl="1" indent="-285750">
              <a:buFont typeface="Arial"/>
              <a:buChar char="•"/>
              <a:defRPr/>
            </a:pPr>
            <a:r>
              <a:rPr lang="en-GB" sz="2400">
                <a:solidFill>
                  <a:prstClr val="white"/>
                </a:solidFill>
                <a:latin typeface="Aptos"/>
              </a:rPr>
              <a:t>Backward</a:t>
            </a:r>
            <a:endParaRPr lang="en-GB" sz="2400" b="0" i="0" u="none" strike="noStrike" cap="none" spc="0">
              <a:ln>
                <a:noFill/>
              </a:ln>
              <a:solidFill>
                <a:prstClr val="white"/>
              </a:solidFill>
              <a:latin typeface="Aptos"/>
              <a:ea typeface="+mn-ea"/>
              <a:cs typeface="+mn-cs"/>
            </a:endParaRPr>
          </a:p>
          <a:p>
            <a:pPr marL="742950" lvl="1" indent="-285750"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Left</a:t>
            </a:r>
            <a:endParaRPr/>
          </a:p>
          <a:p>
            <a:pPr marL="742950" lvl="1" indent="-285750">
              <a:buFont typeface="Arial"/>
              <a:buChar char="•"/>
              <a:defRPr/>
            </a:pPr>
            <a:r>
              <a:rPr lang="en-GB" sz="2400" b="0" i="0" u="none" strike="noStrike" cap="none" spc="0">
                <a:ln>
                  <a:noFill/>
                </a:ln>
                <a:solidFill>
                  <a:prstClr val="white"/>
                </a:solidFill>
                <a:latin typeface="Aptos"/>
                <a:ea typeface="+mn-ea"/>
                <a:cs typeface="+mn-cs"/>
              </a:rPr>
              <a:t>Right</a:t>
            </a:r>
            <a:endParaRPr/>
          </a:p>
        </p:txBody>
      </p:sp>
      <p:pic>
        <p:nvPicPr>
          <p:cNvPr id="1089221782" name="Picture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  <p:sp>
        <p:nvSpPr>
          <p:cNvPr id="915895812" name="TextBox 9"/>
          <p:cNvSpPr txBox="1"/>
          <p:nvPr/>
        </p:nvSpPr>
        <p:spPr bwMode="auto">
          <a:xfrm>
            <a:off x="832542" y="4617562"/>
            <a:ext cx="102656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If incorrect direction,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 then swap IN1/IN2 pins of the corresponding motor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0">
              <a:ln>
                <a:noFill/>
              </a:ln>
              <a:solidFill>
                <a:srgbClr val="F9CB40"/>
              </a:solidFill>
              <a:latin typeface="Aptos"/>
              <a:ea typeface="+mn-ea"/>
              <a:cs typeface="+mn-cs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2400" b="1" i="0" u="none" strike="noStrike" cap="none" spc="0">
                <a:ln>
                  <a:noFill/>
                </a:ln>
                <a:solidFill>
                  <a:srgbClr val="FF715B"/>
                </a:solidFill>
                <a:latin typeface="Aptos"/>
                <a:ea typeface="+mn-ea"/>
                <a:cs typeface="+mn-cs"/>
              </a:rPr>
              <a:t>Expected Output:</a:t>
            </a:r>
            <a:r>
              <a:rPr lang="en-GB" sz="2400" b="1" i="0" u="none" strike="noStrike" cap="none" spc="0">
                <a:ln>
                  <a:noFill/>
                </a:ln>
                <a:solidFill>
                  <a:srgbClr val="F9CB40"/>
                </a:solidFill>
                <a:latin typeface="Aptos"/>
                <a:ea typeface="+mn-ea"/>
                <a:cs typeface="+mn-cs"/>
              </a:rPr>
              <a:t> The car moves in the desired direction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869576" name="Title 1"/>
          <p:cNvSpPr>
            <a:spLocks noGrp="1"/>
          </p:cNvSpPr>
          <p:nvPr>
            <p:ph type="title"/>
          </p:nvPr>
        </p:nvSpPr>
        <p:spPr bwMode="auto">
          <a:xfrm>
            <a:off x="0" y="2766217"/>
            <a:ext cx="12192001" cy="1325562"/>
          </a:xfrm>
        </p:spPr>
        <p:txBody>
          <a:bodyPr/>
          <a:lstStyle/>
          <a:p>
            <a:pPr algn="ctr"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Remote Setup for: Joystick, Accelerometer and Buttons</a:t>
            </a:r>
            <a:endParaRPr/>
          </a:p>
        </p:txBody>
      </p:sp>
      <p:pic>
        <p:nvPicPr>
          <p:cNvPr id="693186134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6514389" name="Title 1"/>
          <p:cNvSpPr>
            <a:spLocks noGrp="1"/>
          </p:cNvSpPr>
          <p:nvPr>
            <p:ph type="title"/>
          </p:nvPr>
        </p:nvSpPr>
        <p:spPr bwMode="auto">
          <a:xfrm>
            <a:off x="10884" y="26165"/>
            <a:ext cx="10515600" cy="947887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Car-2 (Communications)</a:t>
            </a:r>
            <a:endParaRPr/>
          </a:p>
        </p:txBody>
      </p:sp>
      <p:sp>
        <p:nvSpPr>
          <p:cNvPr id="1609592050" name="Content Placeholder 2"/>
          <p:cNvSpPr>
            <a:spLocks noGrp="1"/>
          </p:cNvSpPr>
          <p:nvPr>
            <p:ph idx="1"/>
          </p:nvPr>
        </p:nvSpPr>
        <p:spPr bwMode="auto">
          <a:xfrm>
            <a:off x="380999" y="833607"/>
            <a:ext cx="7413171" cy="568377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endParaRPr lang="en-GB" sz="2400" b="1" i="0" u="none">
              <a:solidFill>
                <a:schemeClr val="accent4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sz="2400" b="1" i="0" u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Receiver (Car)</a:t>
            </a:r>
            <a:endParaRPr sz="2400">
              <a:solidFill>
                <a:schemeClr val="accent4"/>
              </a:solidFill>
            </a:endParaRPr>
          </a:p>
          <a:p>
            <a:pPr>
              <a:defRPr/>
            </a:pPr>
            <a:r>
              <a:rPr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Listens for wireless commands using </a:t>
            </a:r>
            <a:r>
              <a:rPr sz="1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NRF24L01</a:t>
            </a:r>
            <a:r>
              <a:rPr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on a matching pipe address.</a:t>
            </a:r>
            <a:endParaRPr sz="1800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Converts received strings into </a:t>
            </a:r>
            <a:r>
              <a:rPr sz="1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actions</a:t>
            </a:r>
            <a:r>
              <a:rPr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(forward, reverse, left, right).</a:t>
            </a:r>
            <a:endParaRPr sz="1800">
              <a:solidFill>
                <a:schemeClr val="bg1"/>
              </a:solidFill>
            </a:endParaRPr>
          </a:p>
          <a:p>
            <a:pPr>
              <a:defRPr/>
            </a:pPr>
            <a:r>
              <a:rPr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Defaults to </a:t>
            </a:r>
            <a:r>
              <a:rPr sz="1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stop</a:t>
            </a:r>
            <a:r>
              <a:rPr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if command is unknown or no signal is received.</a:t>
            </a:r>
            <a:endParaRPr/>
          </a:p>
          <a:p>
            <a:pPr marL="0" indent="0">
              <a:buFont typeface="Arial"/>
              <a:buNone/>
              <a:defRPr/>
            </a:pPr>
            <a:endParaRPr lang="en-US" sz="1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GB" sz="2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Transmitter (Handheld Controller)</a:t>
            </a:r>
            <a:endParaRPr lang="en-GB" sz="2400">
              <a:solidFill>
                <a:schemeClr val="accent4"/>
              </a:solidFill>
            </a:endParaRPr>
          </a:p>
          <a:p>
            <a:pPr>
              <a:defRPr/>
            </a:pPr>
            <a:r>
              <a:rPr lang="en-GB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Switches between </a:t>
            </a:r>
            <a:r>
              <a:rPr lang="en-GB" sz="1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3 control modes</a:t>
            </a:r>
            <a:r>
              <a:rPr lang="en-GB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Button, MPU tilt, and Joystick.</a:t>
            </a:r>
            <a:endParaRPr lang="en-GB" sz="1800">
              <a:solidFill>
                <a:schemeClr val="bg1"/>
              </a:solidFill>
            </a:endParaRPr>
          </a:p>
          <a:p>
            <a:pPr>
              <a:defRPr/>
            </a:pPr>
            <a:r>
              <a:rPr lang="en-GB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Reads input and sends: </a:t>
            </a:r>
            <a:r>
              <a:rPr lang="en-GB" sz="1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directional commands</a:t>
            </a:r>
            <a:r>
              <a:rPr lang="en-GB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("up", "down", "left", "right") via </a:t>
            </a:r>
            <a:r>
              <a:rPr lang="en-GB" sz="1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NRF24L01</a:t>
            </a:r>
            <a:r>
              <a:rPr lang="en-GB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1800">
              <a:solidFill>
                <a:schemeClr val="bg1"/>
              </a:solidFill>
            </a:endParaRPr>
          </a:p>
          <a:p>
            <a:pPr>
              <a:defRPr/>
            </a:pPr>
            <a:r>
              <a:rPr lang="en-GB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Displays current mode and action on the </a:t>
            </a:r>
            <a:r>
              <a:rPr lang="en-GB" sz="18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OLED screen</a:t>
            </a:r>
            <a:r>
              <a:rPr lang="en-GB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.</a:t>
            </a:r>
            <a:endParaRPr lang="en-GB" sz="1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 lang="en-US" sz="1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600" b="0" i="0" u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Note:</a:t>
            </a:r>
            <a:endParaRPr/>
          </a:p>
          <a:p>
            <a:pPr>
              <a:defRPr/>
            </a:pPr>
            <a:r>
              <a:rPr lang="en-US"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Ensure both the receiver/transmitter have the identical Device  </a:t>
            </a: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ddress</a:t>
            </a:r>
            <a:endParaRPr lang="en-GB" sz="1800">
              <a:solidFill>
                <a:schemeClr val="bg1"/>
              </a:solidFill>
            </a:endParaRPr>
          </a:p>
        </p:txBody>
      </p:sp>
      <p:pic>
        <p:nvPicPr>
          <p:cNvPr id="1663549616" name="Picture 99338744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004072" y="1626478"/>
            <a:ext cx="3970212" cy="4098028"/>
          </a:xfrm>
          <a:prstGeom prst="rect">
            <a:avLst/>
          </a:prstGeom>
        </p:spPr>
      </p:pic>
      <p:pic>
        <p:nvPicPr>
          <p:cNvPr id="10466148" name="Picture 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088614" name="Title 1"/>
          <p:cNvSpPr>
            <a:spLocks noGrp="1"/>
          </p:cNvSpPr>
          <p:nvPr>
            <p:ph type="title"/>
          </p:nvPr>
        </p:nvSpPr>
        <p:spPr bwMode="auto">
          <a:xfrm>
            <a:off x="10884" y="26165"/>
            <a:ext cx="10515600" cy="947887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Car-2 (Communications)</a:t>
            </a:r>
            <a:endParaRPr/>
          </a:p>
        </p:txBody>
      </p:sp>
      <p:sp>
        <p:nvSpPr>
          <p:cNvPr id="2059059861" name="Content Placeholder 2"/>
          <p:cNvSpPr>
            <a:spLocks noGrp="1"/>
          </p:cNvSpPr>
          <p:nvPr>
            <p:ph idx="1"/>
          </p:nvPr>
        </p:nvSpPr>
        <p:spPr bwMode="auto">
          <a:xfrm>
            <a:off x="380999" y="833607"/>
            <a:ext cx="10003972" cy="568377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endParaRPr lang="en-GB" sz="2400" b="1" i="0" u="none">
              <a:solidFill>
                <a:schemeClr val="accent4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GB" sz="2400" b="1" i="0" u="non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Application Opportunities</a:t>
            </a:r>
            <a:endParaRPr/>
          </a:p>
          <a:p>
            <a:pPr marL="0" indent="0">
              <a:buNone/>
              <a:defRPr/>
            </a:pPr>
            <a:endParaRPr lang="en-US" sz="1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The </a:t>
            </a: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remote control logic learned here is useful to generate </a:t>
            </a:r>
            <a:r>
              <a:rPr lang="en-US" sz="1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Global MAP for SLAM</a:t>
            </a: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algorithms</a:t>
            </a:r>
            <a:endParaRPr/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The remote control of robots during initial stages of </a:t>
            </a:r>
            <a:r>
              <a:rPr lang="en-US" sz="1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Reinforcement Learning</a:t>
            </a:r>
            <a:endParaRPr/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To generate the test data for </a:t>
            </a:r>
            <a:r>
              <a:rPr lang="en-US" sz="18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Imitation Learning</a:t>
            </a:r>
            <a:endParaRPr/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1800">
                <a:solidFill>
                  <a:schemeClr val="bg1"/>
                </a:solidFill>
                <a:latin typeface="Times New Roman"/>
                <a:cs typeface="Times New Roman"/>
              </a:rPr>
              <a:t>To perform a tangle-free calibration of the </a:t>
            </a:r>
            <a:r>
              <a:rPr lang="en-GB" sz="1800" b="1">
                <a:solidFill>
                  <a:schemeClr val="accent5"/>
                </a:solidFill>
                <a:latin typeface="Times New Roman"/>
                <a:cs typeface="Times New Roman"/>
              </a:rPr>
              <a:t>IMU</a:t>
            </a:r>
            <a:r>
              <a:rPr lang="en-GB" sz="1800">
                <a:solidFill>
                  <a:schemeClr val="bg1"/>
                </a:solidFill>
                <a:latin typeface="Times New Roman"/>
                <a:cs typeface="Times New Roman"/>
              </a:rPr>
              <a:t> sensors.</a:t>
            </a:r>
            <a:endParaRPr lang="en-US" sz="1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IOT/Remote </a:t>
            </a:r>
            <a:r>
              <a:rPr lang="en-US" sz="1800" b="1">
                <a:solidFill>
                  <a:schemeClr val="accent5"/>
                </a:solidFill>
                <a:latin typeface="Times New Roman"/>
                <a:cs typeface="Times New Roman"/>
              </a:rPr>
              <a:t>Control/Monitoring/Inspection</a:t>
            </a:r>
            <a:endParaRPr lang="en-GB" sz="1800" b="1">
              <a:solidFill>
                <a:schemeClr val="accent5"/>
              </a:solidFill>
            </a:endParaRPr>
          </a:p>
        </p:txBody>
      </p:sp>
      <p:pic>
        <p:nvPicPr>
          <p:cNvPr id="1954380178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87975" name="Title 1"/>
          <p:cNvSpPr>
            <a:spLocks noGrp="1"/>
          </p:cNvSpPr>
          <p:nvPr>
            <p:ph type="title"/>
          </p:nvPr>
        </p:nvSpPr>
        <p:spPr bwMode="auto">
          <a:xfrm>
            <a:off x="0" y="2766217"/>
            <a:ext cx="12192001" cy="1325562"/>
          </a:xfrm>
        </p:spPr>
        <p:txBody>
          <a:bodyPr/>
          <a:lstStyle/>
          <a:p>
            <a:pPr algn="ctr">
              <a:defRPr/>
            </a:pPr>
            <a:r>
              <a:rPr lang="en-GB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Discuss the Free Connectors, Gesture Sensor for Enhancements</a:t>
            </a:r>
            <a:endParaRPr/>
          </a:p>
        </p:txBody>
      </p:sp>
      <p:pic>
        <p:nvPicPr>
          <p:cNvPr id="1616663631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925189" name="Title 1"/>
          <p:cNvSpPr>
            <a:spLocks noGrp="1"/>
          </p:cNvSpPr>
          <p:nvPr>
            <p:ph type="title"/>
          </p:nvPr>
        </p:nvSpPr>
        <p:spPr bwMode="auto">
          <a:xfrm>
            <a:off x="10884" y="15279"/>
            <a:ext cx="10515600" cy="964435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Navigational Robot Car-2 (Communications)</a:t>
            </a:r>
            <a:endParaRPr/>
          </a:p>
        </p:txBody>
      </p:sp>
      <p:sp>
        <p:nvSpPr>
          <p:cNvPr id="474519575" name="Content Placeholder 2"/>
          <p:cNvSpPr>
            <a:spLocks noGrp="1"/>
          </p:cNvSpPr>
          <p:nvPr>
            <p:ph idx="1"/>
          </p:nvPr>
        </p:nvSpPr>
        <p:spPr bwMode="auto">
          <a:xfrm>
            <a:off x="566057" y="833607"/>
            <a:ext cx="10787741" cy="568377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endParaRPr lang="en-GB" sz="200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GB" sz="2400" b="1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</a:rPr>
              <a:t>Other Features Discussion</a:t>
            </a:r>
            <a:endParaRPr/>
          </a:p>
          <a:p>
            <a:pPr marL="0" indent="0">
              <a:buNone/>
              <a:defRPr/>
            </a:pPr>
            <a:endParaRPr lang="en-US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Gesture Control Sensor</a:t>
            </a:r>
            <a:endParaRPr/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Bluetooth</a:t>
            </a:r>
            <a:endParaRPr/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IR Receiver</a:t>
            </a:r>
            <a:endParaRPr lang="en-GB" sz="1800">
              <a:solidFill>
                <a:schemeClr val="bg1"/>
              </a:solidFill>
            </a:endParaRPr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Free Connectors &amp; Its Uses</a:t>
            </a:r>
            <a:endParaRPr/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lang="en-US" sz="18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Breadboard Extension</a:t>
            </a:r>
            <a:endParaRPr/>
          </a:p>
          <a:p>
            <a:pPr>
              <a:defRPr/>
            </a:pPr>
            <a:endParaRPr lang="en-US" sz="18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24489500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080966" y="0"/>
            <a:ext cx="2100150" cy="5660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36</cp:revision>
  <dcterms:created xsi:type="dcterms:W3CDTF">2025-11-15T20:03:39Z</dcterms:created>
  <dcterms:modified xsi:type="dcterms:W3CDTF">2025-11-28T12:00:02Z</dcterms:modified>
</cp:coreProperties>
</file>