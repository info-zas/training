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0"/>
  </p:notesMasterIdLst>
  <p:sldIdLst>
    <p:sldId id="256" r:id="rId3"/>
    <p:sldId id="257" r:id="rId4"/>
    <p:sldId id="268" r:id="rId5"/>
    <p:sldId id="258" r:id="rId6"/>
    <p:sldId id="259" r:id="rId7"/>
    <p:sldId id="285" r:id="rId8"/>
    <p:sldId id="286" r:id="rId9"/>
    <p:sldId id="277" r:id="rId10"/>
    <p:sldId id="279" r:id="rId11"/>
    <p:sldId id="280" r:id="rId12"/>
    <p:sldId id="296" r:id="rId13"/>
    <p:sldId id="290" r:id="rId14"/>
    <p:sldId id="261" r:id="rId15"/>
    <p:sldId id="262" r:id="rId16"/>
    <p:sldId id="297" r:id="rId17"/>
    <p:sldId id="266" r:id="rId18"/>
    <p:sldId id="267" r:id="rId19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920310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65093321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0795892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57675772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19662778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90466703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27147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790985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98674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AEA457-9731-5871-2AE1-80D3ACA6892E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24589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941552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712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13F677-0E1E-6F44-539B-EB19BF5D0C3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25F0D-D6BC-AC64-CE84-E2BD3A2A2D9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9486543" name="Slide Image Placeholder 1">
            <a:extLst>
              <a:ext uri="{FF2B5EF4-FFF2-40B4-BE49-F238E27FC236}">
                <a16:creationId xmlns:a16="http://schemas.microsoft.com/office/drawing/2014/main" id="{4D2C8E1B-41AB-CFAD-7898-46A60BA4E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30443268" name="Notes Placeholder 2">
            <a:extLst>
              <a:ext uri="{FF2B5EF4-FFF2-40B4-BE49-F238E27FC236}">
                <a16:creationId xmlns:a16="http://schemas.microsoft.com/office/drawing/2014/main" id="{314D34E0-5E8B-F469-E615-8ED4C4EE71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699062" name="Slide Number Placeholder 3">
            <a:extLst>
              <a:ext uri="{FF2B5EF4-FFF2-40B4-BE49-F238E27FC236}">
                <a16:creationId xmlns:a16="http://schemas.microsoft.com/office/drawing/2014/main" id="{2EF5F564-74A1-F36B-72F6-1A6F7536CB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BC9251-113A-7242-B363-A5185817D6B5}" type="slidenum">
              <a:rPr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504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948654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30443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6990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BC9251-113A-7242-B363-A5185817D6B5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5923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5904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35377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468E42F-78DA-4972-9FA0-367C1A1C07E5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917912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18840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476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A97EE7-2B7B-0295-8933-8F1EE8AC5E4B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449733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06432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810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AF8D5E-B600-30DA-3D6D-39339B543051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25880-9E75-CDA2-9F11-2921563D59D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4497339" name="Slide Image Placeholder 1">
            <a:extLst>
              <a:ext uri="{FF2B5EF4-FFF2-40B4-BE49-F238E27FC236}">
                <a16:creationId xmlns:a16="http://schemas.microsoft.com/office/drawing/2014/main" id="{6F7CCB98-7288-1DC4-6E82-60136AF4F3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0643266" name="Notes Placeholder 2">
            <a:extLst>
              <a:ext uri="{FF2B5EF4-FFF2-40B4-BE49-F238E27FC236}">
                <a16:creationId xmlns:a16="http://schemas.microsoft.com/office/drawing/2014/main" id="{188C032A-F28C-4B85-126F-739F852C686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810800" name="Slide Number Placeholder 3">
            <a:extLst>
              <a:ext uri="{FF2B5EF4-FFF2-40B4-BE49-F238E27FC236}">
                <a16:creationId xmlns:a16="http://schemas.microsoft.com/office/drawing/2014/main" id="{0F63890B-A804-BEE3-4105-E627A89C9B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AF8D5E-B600-30DA-3D6D-39339B543051}" type="slidenum">
              <a:rPr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947281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3751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33544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948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AB5CE44-D49C-ED7D-D5AE-A84D4FE6CD14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478304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194267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093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0D45ED-3965-D94D-F468-76B3746F1F32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41392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1315377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47419861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22/11/2025</a:t>
            </a:fld>
            <a:endParaRPr lang="en-GB"/>
          </a:p>
        </p:txBody>
      </p:sp>
      <p:sp>
        <p:nvSpPr>
          <p:cNvPr id="5054164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139145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5593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370059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9955612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22/11/2025</a:t>
            </a:fld>
            <a:endParaRPr lang="en-GB"/>
          </a:p>
        </p:txBody>
      </p:sp>
      <p:sp>
        <p:nvSpPr>
          <p:cNvPr id="13436351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2687380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4166277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982261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62048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22/11/2025</a:t>
            </a:fld>
            <a:endParaRPr lang="en-GB"/>
          </a:p>
        </p:txBody>
      </p:sp>
      <p:sp>
        <p:nvSpPr>
          <p:cNvPr id="96704499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890015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6356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8020220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037110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3588259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22/11/2025</a:t>
            </a:fld>
            <a:endParaRPr lang="en-GB"/>
          </a:p>
        </p:txBody>
      </p:sp>
      <p:sp>
        <p:nvSpPr>
          <p:cNvPr id="106050949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7530105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376965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3918559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211532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8025918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4555336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3980654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22/11/2025</a:t>
            </a:fld>
            <a:endParaRPr lang="en-GB"/>
          </a:p>
        </p:txBody>
      </p:sp>
      <p:sp>
        <p:nvSpPr>
          <p:cNvPr id="174006927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534093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88878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173237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22/11/2025</a:t>
            </a:fld>
            <a:endParaRPr lang="en-GB"/>
          </a:p>
        </p:txBody>
      </p:sp>
      <p:sp>
        <p:nvSpPr>
          <p:cNvPr id="108705771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8641666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394452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22/11/2025</a:t>
            </a:fld>
            <a:endParaRPr lang="en-GB"/>
          </a:p>
        </p:txBody>
      </p:sp>
      <p:sp>
        <p:nvSpPr>
          <p:cNvPr id="96215872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6484123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836080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52513373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1106367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538534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22/11/2025</a:t>
            </a:fld>
            <a:endParaRPr lang="en-GB"/>
          </a:p>
        </p:txBody>
      </p:sp>
      <p:sp>
        <p:nvSpPr>
          <p:cNvPr id="81839340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2395762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83484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8422192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24828603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496320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22/11/2025</a:t>
            </a:fld>
            <a:endParaRPr lang="en-GB"/>
          </a:p>
        </p:txBody>
      </p:sp>
      <p:sp>
        <p:nvSpPr>
          <p:cNvPr id="5225113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2872584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1047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8929488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354851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22/11/2025</a:t>
            </a:fld>
            <a:endParaRPr lang="en-GB"/>
          </a:p>
        </p:txBody>
      </p:sp>
      <p:sp>
        <p:nvSpPr>
          <p:cNvPr id="36878539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4859217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983258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186793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193002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22/11/2025</a:t>
            </a:fld>
            <a:endParaRPr lang="en-GB"/>
          </a:p>
        </p:txBody>
      </p:sp>
      <p:sp>
        <p:nvSpPr>
          <p:cNvPr id="71353770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2630222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69399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70077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42348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67685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0352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5670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50909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421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4737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1629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1272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10403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6944884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2429230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8FDF4E3-76A3-4A80-A70D-6B1FEC2BADEB}" type="datetimeFigureOut">
              <a:rPr lang="en-GB"/>
              <a:t>22/11/2025</a:t>
            </a:fld>
            <a:endParaRPr lang="en-GB"/>
          </a:p>
        </p:txBody>
      </p:sp>
      <p:sp>
        <p:nvSpPr>
          <p:cNvPr id="133902537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8894315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907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4582020" name="Title 1"/>
          <p:cNvSpPr>
            <a:spLocks noGrp="1"/>
          </p:cNvSpPr>
          <p:nvPr>
            <p:ph type="ctrTitle"/>
          </p:nvPr>
        </p:nvSpPr>
        <p:spPr bwMode="auto">
          <a:xfrm>
            <a:off x="0" y="1742849"/>
            <a:ext cx="12192000" cy="2387599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GB" dirty="0">
                <a:solidFill>
                  <a:schemeClr val="bg1"/>
                </a:solidFill>
              </a:rPr>
              <a:t>Navigational Robotics Series 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sz="5400" dirty="0">
                <a:solidFill>
                  <a:schemeClr val="accent4"/>
                </a:solidFill>
              </a:rPr>
              <a:t>Robot Car-2 (Communications)</a:t>
            </a:r>
            <a:endParaRPr dirty="0"/>
          </a:p>
        </p:txBody>
      </p:sp>
      <p:sp>
        <p:nvSpPr>
          <p:cNvPr id="155819903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4130448"/>
            <a:ext cx="9144000" cy="1089704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GB" sz="3200" dirty="0">
                <a:solidFill>
                  <a:schemeClr val="accent5"/>
                </a:solidFill>
              </a:rPr>
              <a:t>Training Slides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5098A5A-7FE3-C0E1-649F-E0F27E0A8AC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037" y="32658"/>
            <a:ext cx="4042963" cy="10897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803132" name="Title 1"/>
          <p:cNvSpPr>
            <a:spLocks noGrp="1"/>
          </p:cNvSpPr>
          <p:nvPr>
            <p:ph type="title"/>
          </p:nvPr>
        </p:nvSpPr>
        <p:spPr bwMode="auto">
          <a:xfrm>
            <a:off x="10883" y="-4987"/>
            <a:ext cx="10515600" cy="1005521"/>
          </a:xfr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chemeClr val="bg1"/>
                </a:solidFill>
              </a:rPr>
              <a:t>Navigational Robot Car-2 (Communications)</a:t>
            </a:r>
            <a:endParaRPr dirty="0"/>
          </a:p>
        </p:txBody>
      </p:sp>
      <p:sp>
        <p:nvSpPr>
          <p:cNvPr id="1943552007" name="TextBox 2"/>
          <p:cNvSpPr txBox="1"/>
          <p:nvPr/>
        </p:nvSpPr>
        <p:spPr bwMode="auto">
          <a:xfrm>
            <a:off x="142875" y="1000534"/>
            <a:ext cx="1190625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endParaRPr lang="en-GB" sz="24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accent2"/>
                </a:solidFill>
              </a:rPr>
              <a:t>Review the Contents in the Box</a:t>
            </a: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endParaRPr lang="en-GB" sz="2400" kern="1200" dirty="0">
              <a:solidFill>
                <a:srgbClr val="F9CB40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rgbClr val="F9CB40"/>
                </a:solidFill>
              </a:rPr>
              <a:t>Review &amp; Discuss the Motor Controller Board, Assembly, Power Supply etc.</a:t>
            </a: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endParaRPr lang="en-GB" sz="2400" kern="1200" dirty="0">
              <a:solidFill>
                <a:srgbClr val="F9CB40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accent2"/>
                </a:solidFill>
              </a:rPr>
              <a:t>Discuss the Health &amp; Safety Precautions</a:t>
            </a: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endParaRPr lang="en-GB" sz="2400" kern="1200" dirty="0">
              <a:solidFill>
                <a:prstClr val="white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accent5"/>
                </a:solidFill>
              </a:rPr>
              <a:t>Practice the Following Lab</a:t>
            </a:r>
          </a:p>
          <a:p>
            <a:pPr marL="800100" lvl="1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bg1"/>
                </a:solidFill>
              </a:rPr>
              <a:t>Initial Setup - Car Basic Movements</a:t>
            </a:r>
          </a:p>
          <a:p>
            <a:pPr marL="800100" lvl="1" indent="-342900">
              <a:buFont typeface="Arial" panose="020B0604020202020204" pitchFamily="34" charset="0"/>
              <a:buChar char="•"/>
              <a:defRPr/>
            </a:pPr>
            <a:r>
              <a:rPr lang="en-GB" sz="2400" dirty="0">
                <a:solidFill>
                  <a:schemeClr val="bg1"/>
                </a:solidFill>
              </a:rPr>
              <a:t>Explore the Remote Control Device: Joystick, Accelerometer &amp; Buttons etc.</a:t>
            </a:r>
            <a:r>
              <a:rPr lang="en-GB" sz="2400" dirty="0">
                <a:solidFill>
                  <a:srgbClr val="F9CB40"/>
                </a:solidFill>
              </a:rPr>
              <a:t> </a:t>
            </a:r>
            <a:endParaRPr lang="en-GB" sz="2400" kern="1200" dirty="0">
              <a:solidFill>
                <a:srgbClr val="F9CB4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  <a:defRPr/>
            </a:pPr>
            <a:endParaRPr lang="en-GB" sz="2400" kern="1200" dirty="0">
              <a:solidFill>
                <a:srgbClr val="F9CB4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accent2"/>
                </a:solidFill>
              </a:rPr>
              <a:t>Review the Features: </a:t>
            </a:r>
          </a:p>
          <a:p>
            <a:pPr marL="800100" lvl="1" indent="-34290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bg1"/>
                </a:solidFill>
              </a:rPr>
              <a:t>Gesture Sensor, Bluetooth and IR </a:t>
            </a:r>
          </a:p>
          <a:p>
            <a:pPr marL="800100" lvl="1" indent="-34290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bg1"/>
                </a:solidFill>
              </a:rPr>
              <a:t>Free Connectors &amp; Breadboard</a:t>
            </a:r>
          </a:p>
          <a:p>
            <a:pPr marL="342900" indent="-342900">
              <a:buFont typeface="Arial"/>
              <a:buChar char="•"/>
              <a:defRPr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653EAEB-0899-3DCA-17C4-E65155D685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4D9883-8000-93B7-18E1-DBCB3F4886D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1993286" name="Title 1">
            <a:extLst>
              <a:ext uri="{FF2B5EF4-FFF2-40B4-BE49-F238E27FC236}">
                <a16:creationId xmlns:a16="http://schemas.microsoft.com/office/drawing/2014/main" id="{62FA7AA6-0DD1-1394-DE47-B2D49AE9E69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0"/>
            <a:ext cx="10515600" cy="1023257"/>
          </a:xfr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chemeClr val="bg1"/>
                </a:solidFill>
              </a:rPr>
              <a:t>Navigational Robot Car-2 (Communications)</a:t>
            </a:r>
            <a:endParaRPr dirty="0"/>
          </a:p>
        </p:txBody>
      </p:sp>
      <p:pic>
        <p:nvPicPr>
          <p:cNvPr id="210370238" name="Picture 210370237">
            <a:extLst>
              <a:ext uri="{FF2B5EF4-FFF2-40B4-BE49-F238E27FC236}">
                <a16:creationId xmlns:a16="http://schemas.microsoft.com/office/drawing/2014/main" id="{2049CA60-53FA-AE01-CDC1-F57026E56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423954" y="1641046"/>
            <a:ext cx="5680962" cy="40688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9E31D98-D1E8-9A2E-B840-52891BA7B37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11065-2C8B-0C2C-D83F-C32ED2EDCE5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53597" y="1641046"/>
            <a:ext cx="3217291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Parts &amp; Components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Arduino Uno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TT DC Motors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TB6612 Motor Driver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OLED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NRF24L01 (Trans/Receiver)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Bluetooth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IR Remote Receiver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Battery Case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Batteries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Battery Charger</a:t>
            </a:r>
          </a:p>
        </p:txBody>
      </p:sp>
    </p:spTree>
    <p:extLst>
      <p:ext uri="{BB962C8B-B14F-4D97-AF65-F5344CB8AC3E}">
        <p14:creationId xmlns:p14="http://schemas.microsoft.com/office/powerpoint/2010/main" val="2926593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1993286" name="Title 1"/>
          <p:cNvSpPr>
            <a:spLocks noGrp="1"/>
          </p:cNvSpPr>
          <p:nvPr>
            <p:ph type="title"/>
          </p:nvPr>
        </p:nvSpPr>
        <p:spPr bwMode="auto">
          <a:xfrm>
            <a:off x="10884" y="0"/>
            <a:ext cx="10515600" cy="1045029"/>
          </a:xfr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chemeClr val="bg1"/>
                </a:solidFill>
              </a:rPr>
              <a:t>Navigational Robot Car-2 (Communications)</a:t>
            </a:r>
            <a:endParaRPr dirty="0"/>
          </a:p>
        </p:txBody>
      </p:sp>
      <p:sp>
        <p:nvSpPr>
          <p:cNvPr id="674434252" name="Content Placeholder 2"/>
          <p:cNvSpPr>
            <a:spLocks noGrp="1"/>
          </p:cNvSpPr>
          <p:nvPr>
            <p:ph idx="1"/>
          </p:nvPr>
        </p:nvSpPr>
        <p:spPr bwMode="auto">
          <a:xfrm>
            <a:off x="380999" y="833607"/>
            <a:ext cx="5944981" cy="568377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0000" lnSpcReduction="15000"/>
          </a:bodyPr>
          <a:lstStyle/>
          <a:p>
            <a:pPr>
              <a:defRPr/>
            </a:pPr>
            <a:endParaRPr lang="en-GB" sz="2000" dirty="0">
              <a:solidFill>
                <a:schemeClr val="bg1"/>
              </a:solidFill>
            </a:endParaRPr>
          </a:p>
          <a:p>
            <a:pPr>
              <a:defRPr/>
            </a:pPr>
            <a:r>
              <a:rPr sz="2000" b="0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Where CAR-2 Fits in Your Learning Path</a:t>
            </a:r>
          </a:p>
          <a:p>
            <a:pPr marL="0" indent="0">
              <a:buFont typeface="Arial"/>
              <a:buNone/>
              <a:defRPr/>
            </a:pPr>
            <a:endParaRPr sz="2000" b="0" i="0" u="none" dirty="0">
              <a:solidFill>
                <a:schemeClr val="bg1"/>
              </a:solidFill>
              <a:latin typeface="Aptos"/>
              <a:ea typeface="Aptos"/>
              <a:cs typeface="Aptos"/>
            </a:endParaRPr>
          </a:p>
          <a:p>
            <a:pPr>
              <a:defRPr/>
            </a:pPr>
            <a:r>
              <a:rPr sz="2000" b="1" i="0" u="none" dirty="0">
                <a:solidFill>
                  <a:schemeClr val="accent5"/>
                </a:solidFill>
                <a:latin typeface="Aptos"/>
                <a:ea typeface="Aptos"/>
                <a:cs typeface="Aptos"/>
              </a:rPr>
              <a:t>CAR-1 (Autonomous Robot – Sensors)</a:t>
            </a:r>
            <a:endParaRPr sz="2000" b="0" i="0" u="none" dirty="0">
              <a:solidFill>
                <a:schemeClr val="accent5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Thinks and drives </a:t>
            </a:r>
            <a:r>
              <a:rPr sz="1600" b="1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by itself</a:t>
            </a:r>
            <a:endParaRPr sz="1600" dirty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Uses </a:t>
            </a:r>
            <a:r>
              <a:rPr sz="1600" b="1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IR, Ultrasonic, Line, Pit</a:t>
            </a:r>
            <a:r>
              <a:rPr sz="1600" b="0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 sensors</a:t>
            </a:r>
            <a:endParaRPr sz="1600" dirty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Has many intelligence modes</a:t>
            </a:r>
            <a:endParaRPr sz="1600" dirty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Focus: </a:t>
            </a:r>
            <a:r>
              <a:rPr sz="1600" b="1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Autonomous navigation + sensor logic</a:t>
            </a:r>
            <a:endParaRPr sz="1600" dirty="0">
              <a:solidFill>
                <a:schemeClr val="bg1"/>
              </a:solidFill>
              <a:latin typeface="Aptos"/>
              <a:cs typeface="Aptos"/>
            </a:endParaRPr>
          </a:p>
          <a:p>
            <a:pPr marL="457200" lvl="1" indent="0">
              <a:buFont typeface="Arial"/>
              <a:buNone/>
              <a:defRPr/>
            </a:pPr>
            <a:endParaRPr sz="1600" dirty="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000" b="1" i="0" u="none" dirty="0">
                <a:solidFill>
                  <a:schemeClr val="accent5"/>
                </a:solidFill>
                <a:latin typeface="Aptos"/>
                <a:ea typeface="Aptos"/>
                <a:cs typeface="Aptos"/>
              </a:rPr>
              <a:t>CAR-2 (Wireless </a:t>
            </a:r>
            <a:r>
              <a:rPr lang="en-GB" sz="2000" b="1" i="0" u="none" dirty="0">
                <a:solidFill>
                  <a:schemeClr val="accent5"/>
                </a:solidFill>
                <a:latin typeface="Aptos"/>
                <a:ea typeface="Aptos"/>
                <a:cs typeface="Aptos"/>
              </a:rPr>
              <a:t>Communications</a:t>
            </a:r>
            <a:r>
              <a:rPr sz="2000" b="1" i="0" u="none" dirty="0">
                <a:solidFill>
                  <a:schemeClr val="accent5"/>
                </a:solidFill>
                <a:latin typeface="Aptos"/>
                <a:ea typeface="Aptos"/>
                <a:cs typeface="Aptos"/>
              </a:rPr>
              <a:t>)</a:t>
            </a:r>
            <a:endParaRPr sz="1600" dirty="0">
              <a:solidFill>
                <a:schemeClr val="accent5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Works like an </a:t>
            </a:r>
            <a:r>
              <a:rPr sz="1600" b="1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RC car</a:t>
            </a:r>
            <a:endParaRPr sz="1600" dirty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Controlled </a:t>
            </a:r>
            <a:r>
              <a:rPr sz="1600" b="1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remotely</a:t>
            </a:r>
            <a:r>
              <a:rPr sz="1600" b="0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 (up/down/left/right)</a:t>
            </a:r>
            <a:endParaRPr sz="1600" dirty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Uses </a:t>
            </a:r>
            <a:r>
              <a:rPr sz="1600" b="1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NRF24L01 wireless module</a:t>
            </a:r>
            <a:endParaRPr lang="en-GB" sz="1600" b="1" i="0" u="none" dirty="0">
              <a:solidFill>
                <a:schemeClr val="bg1"/>
              </a:solidFill>
              <a:latin typeface="Aptos"/>
              <a:ea typeface="Aptos"/>
              <a:cs typeface="Aptos"/>
            </a:endParaRPr>
          </a:p>
          <a:p>
            <a:pPr lvl="1">
              <a:defRPr/>
            </a:pPr>
            <a:r>
              <a:rPr lang="en-GB" sz="1600" b="1" dirty="0">
                <a:solidFill>
                  <a:schemeClr val="bg1"/>
                </a:solidFill>
                <a:latin typeface="Aptos"/>
                <a:cs typeface="Aptos"/>
              </a:rPr>
              <a:t>Also Bluetooth, IR Remote Receiver</a:t>
            </a:r>
            <a:endParaRPr sz="1600" dirty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Shows status on </a:t>
            </a:r>
            <a:r>
              <a:rPr sz="1600" b="1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OLED screen</a:t>
            </a:r>
            <a:endParaRPr sz="1600" dirty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Focus: </a:t>
            </a:r>
            <a:r>
              <a:rPr sz="1600" b="1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Communication systems + control architecture</a:t>
            </a:r>
            <a:endParaRPr lang="en-GB" sz="1600" b="1" i="0" u="none" dirty="0">
              <a:solidFill>
                <a:schemeClr val="bg1"/>
              </a:solidFill>
              <a:latin typeface="Aptos"/>
              <a:ea typeface="Aptos"/>
              <a:cs typeface="Aptos"/>
            </a:endParaRPr>
          </a:p>
          <a:p>
            <a:pPr lvl="1">
              <a:defRPr/>
            </a:pPr>
            <a:r>
              <a:rPr lang="en-GB" sz="1600" b="1" dirty="0">
                <a:solidFill>
                  <a:schemeClr val="bg1"/>
                </a:solidFill>
                <a:latin typeface="Aptos"/>
                <a:cs typeface="Aptos"/>
              </a:rPr>
              <a:t>Applications</a:t>
            </a:r>
            <a:r>
              <a:rPr lang="en-GB" sz="1600" dirty="0">
                <a:solidFill>
                  <a:schemeClr val="bg1"/>
                </a:solidFill>
                <a:latin typeface="Aptos"/>
                <a:cs typeface="Aptos"/>
              </a:rPr>
              <a:t>: SLAM/Manual Remote Control during Initial Stages of RL</a:t>
            </a:r>
            <a:endParaRPr sz="1600" dirty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endParaRPr sz="1600" dirty="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1600" b="1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Why You Need Both</a:t>
            </a:r>
            <a:endParaRPr sz="1600" dirty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CAR-1 teaches </a:t>
            </a:r>
            <a:r>
              <a:rPr sz="1600" b="1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Robot Intelligence</a:t>
            </a:r>
            <a:endParaRPr sz="1600" dirty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1600" b="0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CAR-2 teaches </a:t>
            </a:r>
            <a:r>
              <a:rPr sz="1600" b="1" i="0" u="none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Wireless Control &amp; Real-Time Feedback</a:t>
            </a:r>
            <a:endParaRPr lang="en-GB" dirty="0">
              <a:solidFill>
                <a:schemeClr val="bg1"/>
              </a:solidFill>
            </a:endParaRPr>
          </a:p>
          <a:p>
            <a:pPr>
              <a:defRPr/>
            </a:pPr>
            <a:endParaRPr lang="en-GB" dirty="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 dirty="0"/>
          </a:p>
        </p:txBody>
      </p:sp>
      <p:pic>
        <p:nvPicPr>
          <p:cNvPr id="210370238" name="Picture 210370237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500154" y="1641046"/>
            <a:ext cx="5680962" cy="40688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399E245-5B0B-33B6-38F2-BE36F83D6C8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831404" name="Title 1"/>
          <p:cNvSpPr>
            <a:spLocks noGrp="1"/>
          </p:cNvSpPr>
          <p:nvPr>
            <p:ph type="title"/>
          </p:nvPr>
        </p:nvSpPr>
        <p:spPr bwMode="auto">
          <a:xfrm>
            <a:off x="0" y="2766217"/>
            <a:ext cx="12192001" cy="1325562"/>
          </a:xfrm>
        </p:spPr>
        <p:txBody>
          <a:bodyPr/>
          <a:lstStyle/>
          <a:p>
            <a:pPr algn="ctr">
              <a:defRPr/>
            </a:pPr>
            <a:r>
              <a:rPr lang="en-GB">
                <a:solidFill>
                  <a:schemeClr val="bg1"/>
                </a:solidFill>
              </a:rPr>
              <a:t>Health &amp; Safety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D34CCA-27B3-8C07-9A09-129054FDD7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79E4E-FA60-333C-3D1A-8CAD053BE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6D373-9E99-904D-D16E-B665224A8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1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Health &amp; Safety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1E38AA-00CF-E36F-ED63-4C49F0C3D033}"/>
              </a:ext>
            </a:extLst>
          </p:cNvPr>
          <p:cNvSpPr txBox="1"/>
          <p:nvPr/>
        </p:nvSpPr>
        <p:spPr>
          <a:xfrm>
            <a:off x="207380" y="966334"/>
            <a:ext cx="11004906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Double-check all power connections.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Ensure correct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GND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VCC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wiring for the power supply, OLED, motor drivers, GPS, sensors, and other modules.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the correct input voltage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Battery input should be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between 5V and 12V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only.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Work on a safe surface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the kit on an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insulated table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(e.g., wood) and ensure the surface is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dry and clean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Avoid leaving the kit unattended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keep the system powered on without supervision.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Build and Test Incrementally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Turn on the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microcontroller first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then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build and test the circuit step-by-step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Avoid wiring the entire system at once and powering it without intermediate testing.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Don’t leave Batteries charging unattended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Robotic car is for in-door use only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0184AA-50B1-CE4C-E9DD-FA011DE9E8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Flowchart: Punched Tape 4">
            <a:extLst>
              <a:ext uri="{FF2B5EF4-FFF2-40B4-BE49-F238E27FC236}">
                <a16:creationId xmlns:a16="http://schemas.microsoft.com/office/drawing/2014/main" id="{0CB6ADB2-B4E7-87A4-FDE4-07CE35F85F99}"/>
              </a:ext>
            </a:extLst>
          </p:cNvPr>
          <p:cNvSpPr/>
          <p:nvPr/>
        </p:nvSpPr>
        <p:spPr>
          <a:xfrm>
            <a:off x="8724502" y="4659086"/>
            <a:ext cx="3183918" cy="2046514"/>
          </a:xfrm>
          <a:prstGeom prst="flowChartPunchedTap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Always follow 4-eyes principle when it comes to checking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2400" b="1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VCC &amp; GND</a:t>
            </a:r>
          </a:p>
        </p:txBody>
      </p:sp>
    </p:spTree>
    <p:extLst>
      <p:ext uri="{BB962C8B-B14F-4D97-AF65-F5344CB8AC3E}">
        <p14:creationId xmlns:p14="http://schemas.microsoft.com/office/powerpoint/2010/main" val="3096323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1A33AE-D51B-2F96-4676-908F7AD7F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18152-04F7-357B-E8A9-58F6480AE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66218"/>
            <a:ext cx="12192001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Motor Driver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1C21F7-EA41-F617-CB86-9DE333449E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3786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1E1734-BA8D-A728-86A6-4C409AB6E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58B68-F928-CFA4-F85F-C2BE90537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17827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Car-2 (Communications)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7B936C-7D2C-B080-89A3-F55F02541529}"/>
              </a:ext>
            </a:extLst>
          </p:cNvPr>
          <p:cNvSpPr txBox="1"/>
          <p:nvPr/>
        </p:nvSpPr>
        <p:spPr>
          <a:xfrm>
            <a:off x="1580502" y="1936870"/>
            <a:ext cx="21371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Series: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TT DC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Speed: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130 RPM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Voltage: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6V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EC81E5-821C-1129-A681-F06D2B41F5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AC1337-8DA8-CD90-BFFB-0008B777F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0575" y="3638125"/>
            <a:ext cx="1729890" cy="17679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2B186D4-35C4-55ED-9E68-4B2D699E7CEF}"/>
              </a:ext>
            </a:extLst>
          </p:cNvPr>
          <p:cNvSpPr txBox="1"/>
          <p:nvPr/>
        </p:nvSpPr>
        <p:spPr>
          <a:xfrm>
            <a:off x="7672552" y="1555738"/>
            <a:ext cx="3054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TB 6612 Motor Driver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E853E6-15C1-7A08-B906-C5787A14879A}"/>
              </a:ext>
            </a:extLst>
          </p:cNvPr>
          <p:cNvSpPr txBox="1"/>
          <p:nvPr/>
        </p:nvSpPr>
        <p:spPr>
          <a:xfrm>
            <a:off x="1743719" y="1439805"/>
            <a:ext cx="22961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TT Motor Driver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FA5A33-C5DC-4344-7AE8-77501BC94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9088" y="3429000"/>
            <a:ext cx="3025402" cy="225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163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A08351-2C24-15DA-34F4-4B5FFCEA0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AC8B6-63B7-DD79-27AE-68FE6E975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4CEA33-BBE0-DCA3-5D04-E9F1E3B12102}"/>
              </a:ext>
            </a:extLst>
          </p:cNvPr>
          <p:cNvSpPr txBox="1"/>
          <p:nvPr/>
        </p:nvSpPr>
        <p:spPr>
          <a:xfrm>
            <a:off x="2218913" y="1376183"/>
            <a:ext cx="7754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PIN Details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- TB6612 Motor Driver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and 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TT Motor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solidFill>
                <a:srgbClr val="219EBC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3C713F-8549-EC89-079B-746AC0D3DC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141" y="2118076"/>
            <a:ext cx="3043008" cy="20152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11A9EF-F364-AD8E-72B4-D55D598A2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9089" y="2241697"/>
            <a:ext cx="1729890" cy="17679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498A215-02D3-998C-1585-1B53E7EB4A6C}"/>
              </a:ext>
            </a:extLst>
          </p:cNvPr>
          <p:cNvSpPr txBox="1"/>
          <p:nvPr/>
        </p:nvSpPr>
        <p:spPr>
          <a:xfrm>
            <a:off x="3120569" y="4789301"/>
            <a:ext cx="257294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sng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Left Motor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A-IN1 – Arduino Nano </a:t>
            </a:r>
            <a:r>
              <a:rPr lang="en-GB" kern="1200" dirty="0">
                <a:solidFill>
                  <a:srgbClr val="F9CB40"/>
                </a:solidFill>
                <a:latin typeface="Aptos" panose="02110004020202020204"/>
              </a:rPr>
              <a:t>3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A-IN2 – Arduino Nano 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PWMA – Arduino Nano 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737E37-CC46-2FB4-F668-372703C5733B}"/>
              </a:ext>
            </a:extLst>
          </p:cNvPr>
          <p:cNvSpPr txBox="1"/>
          <p:nvPr/>
        </p:nvSpPr>
        <p:spPr>
          <a:xfrm>
            <a:off x="6954755" y="4789301"/>
            <a:ext cx="262264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sng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Right Motor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B-IN1 – Arduino Nano 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B-IN2 – Arduino Nano 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PWMB – Arduino Nano 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AA3EC2-F41B-5B84-E564-D404B4FC047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840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48D9DF-DDD1-5D9B-D9EA-29DC99C10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AEA69-1B63-169D-5551-C0757319D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66218"/>
            <a:ext cx="12192001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Test Basic Movement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01D505-6CE0-6790-86E0-857A63FB376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24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3551FE-B45B-8AB9-13A2-5458A528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DC9D2-237B-88E5-60CC-8486882CF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1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Initial Setup - Test Basic Movements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CD855-EA62-4709-7945-C7899E2BCD13}"/>
              </a:ext>
            </a:extLst>
          </p:cNvPr>
          <p:cNvSpPr txBox="1"/>
          <p:nvPr/>
        </p:nvSpPr>
        <p:spPr>
          <a:xfrm>
            <a:off x="386373" y="1116130"/>
            <a:ext cx="1157151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 purpose of this exercise is to test basic movements of the robot car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Also to ensure, your program is using the correct allocated PINs for Motor Inputs (IN1/IN2)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A82BDC-6971-9B9E-9978-564CF6DE7118}"/>
              </a:ext>
            </a:extLst>
          </p:cNvPr>
          <p:cNvSpPr txBox="1"/>
          <p:nvPr/>
        </p:nvSpPr>
        <p:spPr>
          <a:xfrm>
            <a:off x="2763247" y="2826753"/>
            <a:ext cx="6020559" cy="313932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 Program has the following 3 major functional blocks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715B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lphaUcPeriod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Pins declaration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Ensure correct pins are defined (see sample program)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B. Setup: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	input/outputs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C. Loop: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	In the loop the car drives forward/left/right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56A503-7DF1-90B2-FC56-D2E8F470B8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881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EA899C-B0C9-CE54-D592-D8471244B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27FC0-3493-B8EA-E476-399A202C4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1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Initial Setup - Test Basic Movements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4327D0-AA16-C616-4B40-2421B883E9D6}"/>
              </a:ext>
            </a:extLst>
          </p:cNvPr>
          <p:cNvSpPr txBox="1"/>
          <p:nvPr/>
        </p:nvSpPr>
        <p:spPr>
          <a:xfrm>
            <a:off x="422818" y="1774094"/>
            <a:ext cx="4884671" cy="230832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// ============== Pin 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Definitions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==========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// Left Motor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#define IN2_L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#define IN1_L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//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Right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Motor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#define IN2_R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#define IN1_R 8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715B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D2FD85-AC52-70E8-3DF3-2CC4DEFAACFF}"/>
              </a:ext>
            </a:extLst>
          </p:cNvPr>
          <p:cNvSpPr txBox="1"/>
          <p:nvPr/>
        </p:nvSpPr>
        <p:spPr>
          <a:xfrm>
            <a:off x="5965371" y="1774094"/>
            <a:ext cx="595448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Please test each direction in </a:t>
            </a: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isolation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715B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742950" lvl="1" indent="-285750" rtl="0">
              <a:buFont typeface="Arial" panose="020B0604020202020204" pitchFamily="34" charset="0"/>
              <a:buChar char="•"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Forward</a:t>
            </a:r>
          </a:p>
          <a:p>
            <a:pPr marL="742950" lvl="1" indent="-285750" rtl="0">
              <a:buFont typeface="Arial" panose="020B0604020202020204" pitchFamily="34" charset="0"/>
              <a:buChar char="•"/>
            </a:pPr>
            <a:r>
              <a:rPr lang="en-GB" sz="2400" kern="1200" dirty="0">
                <a:solidFill>
                  <a:prstClr val="white"/>
                </a:solidFill>
                <a:latin typeface="Aptos" panose="02110004020202020204"/>
              </a:rPr>
              <a:t>Backward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742950" lvl="1" indent="-285750" rtl="0">
              <a:buFont typeface="Arial" panose="020B0604020202020204" pitchFamily="34" charset="0"/>
              <a:buChar char="•"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Left</a:t>
            </a:r>
          </a:p>
          <a:p>
            <a:pPr marL="742950" lvl="1" indent="-285750" rtl="0">
              <a:buFont typeface="Arial" panose="020B0604020202020204" pitchFamily="34" charset="0"/>
              <a:buChar char="•"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Right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EB159F-3A70-E013-1A82-D1B9F62B94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EAA90D6-5743-731C-6EFC-9269AF270D5A}"/>
              </a:ext>
            </a:extLst>
          </p:cNvPr>
          <p:cNvSpPr txBox="1"/>
          <p:nvPr/>
        </p:nvSpPr>
        <p:spPr>
          <a:xfrm>
            <a:off x="832542" y="4617562"/>
            <a:ext cx="102656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If incorrect direction,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then swap IN1/IN2 pins of the corresponding motor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1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Expected Output: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The car moves in the desired direction</a:t>
            </a:r>
          </a:p>
        </p:txBody>
      </p:sp>
    </p:spTree>
    <p:extLst>
      <p:ext uri="{BB962C8B-B14F-4D97-AF65-F5344CB8AC3E}">
        <p14:creationId xmlns:p14="http://schemas.microsoft.com/office/powerpoint/2010/main" val="9328901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9534349" name="Title 1"/>
          <p:cNvSpPr>
            <a:spLocks noGrp="1"/>
          </p:cNvSpPr>
          <p:nvPr>
            <p:ph type="title"/>
          </p:nvPr>
        </p:nvSpPr>
        <p:spPr bwMode="auto">
          <a:xfrm>
            <a:off x="0" y="2766217"/>
            <a:ext cx="12192001" cy="1325562"/>
          </a:xfrm>
        </p:spPr>
        <p:txBody>
          <a:bodyPr/>
          <a:lstStyle/>
          <a:p>
            <a:pPr algn="ctr">
              <a:defRPr/>
            </a:pPr>
            <a:r>
              <a:rPr lang="en-GB" sz="4400" b="0" i="0" u="none" strike="noStrike" cap="none" spc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Remote Setup for: Joystick, Accelerometer and Buttons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CECFB7-3211-E633-A813-FB86F10C3B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475729" name="Title 1"/>
          <p:cNvSpPr>
            <a:spLocks noGrp="1"/>
          </p:cNvSpPr>
          <p:nvPr>
            <p:ph type="title"/>
          </p:nvPr>
        </p:nvSpPr>
        <p:spPr bwMode="auto">
          <a:xfrm>
            <a:off x="10884" y="26165"/>
            <a:ext cx="10515600" cy="947887"/>
          </a:xfr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chemeClr val="bg1"/>
                </a:solidFill>
              </a:rPr>
              <a:t>Navigational Robot Car-2 (Communications)</a:t>
            </a:r>
            <a:endParaRPr dirty="0"/>
          </a:p>
        </p:txBody>
      </p:sp>
      <p:sp>
        <p:nvSpPr>
          <p:cNvPr id="1118141910" name="Content Placeholder 2"/>
          <p:cNvSpPr>
            <a:spLocks noGrp="1"/>
          </p:cNvSpPr>
          <p:nvPr>
            <p:ph idx="1"/>
          </p:nvPr>
        </p:nvSpPr>
        <p:spPr bwMode="auto">
          <a:xfrm>
            <a:off x="380999" y="833607"/>
            <a:ext cx="7413171" cy="568377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None/>
              <a:defRPr/>
            </a:pPr>
            <a:endParaRPr lang="en-GB" sz="2400" b="1" i="0" u="none" dirty="0">
              <a:solidFill>
                <a:schemeClr val="accent4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None/>
              <a:defRPr/>
            </a:pPr>
            <a:r>
              <a:rPr sz="2400" b="1" i="0" u="none" dirty="0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</a:rPr>
              <a:t>Receiver (Car)</a:t>
            </a:r>
            <a:endParaRPr sz="2400" dirty="0">
              <a:solidFill>
                <a:schemeClr val="accent4"/>
              </a:solidFill>
            </a:endParaRPr>
          </a:p>
          <a:p>
            <a:pPr>
              <a:defRPr/>
            </a:pPr>
            <a:r>
              <a:rPr sz="18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Listens for wireless commands using </a:t>
            </a:r>
            <a:r>
              <a:rPr sz="1800" b="1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NRF24L01</a:t>
            </a:r>
            <a:r>
              <a:rPr sz="18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on a matching pipe address.</a:t>
            </a:r>
            <a:endParaRPr sz="1800" dirty="0">
              <a:solidFill>
                <a:schemeClr val="bg1"/>
              </a:solidFill>
            </a:endParaRPr>
          </a:p>
          <a:p>
            <a:pPr>
              <a:defRPr/>
            </a:pPr>
            <a:r>
              <a:rPr sz="18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Converts received strings into </a:t>
            </a:r>
            <a:r>
              <a:rPr sz="1800" b="1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motor actions</a:t>
            </a:r>
            <a:r>
              <a:rPr sz="18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(forward, reverse, left, right).</a:t>
            </a:r>
            <a:endParaRPr sz="1800" dirty="0">
              <a:solidFill>
                <a:schemeClr val="bg1"/>
              </a:solidFill>
            </a:endParaRPr>
          </a:p>
          <a:p>
            <a:pPr>
              <a:defRPr/>
            </a:pPr>
            <a:r>
              <a:rPr sz="18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Defaults to </a:t>
            </a:r>
            <a:r>
              <a:rPr sz="1800" b="1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stop</a:t>
            </a:r>
            <a:r>
              <a:rPr sz="18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if command is unknown or no signal is received.</a:t>
            </a:r>
          </a:p>
          <a:p>
            <a:pPr marL="0" indent="0">
              <a:buFont typeface="Arial"/>
              <a:buNone/>
              <a:defRPr/>
            </a:pPr>
            <a:endParaRPr lang="en-US" sz="1800" b="0" i="0" u="none" dirty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None/>
              <a:defRPr/>
            </a:pPr>
            <a:r>
              <a:rPr lang="en-GB" sz="2400" b="1" dirty="0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</a:rPr>
              <a:t>Transmitter (Handheld Controller)</a:t>
            </a:r>
            <a:endParaRPr lang="en-GB" sz="2400" dirty="0">
              <a:solidFill>
                <a:schemeClr val="accent4"/>
              </a:solidFill>
            </a:endParaRPr>
          </a:p>
          <a:p>
            <a:pPr>
              <a:defRPr/>
            </a:pPr>
            <a:r>
              <a:rPr lang="en-GB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Switches between </a:t>
            </a:r>
            <a:r>
              <a:rPr lang="en-GB" sz="18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3 control modes</a:t>
            </a:r>
            <a:r>
              <a:rPr lang="en-GB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Button, MPU tilt, and Joystick.</a:t>
            </a:r>
            <a:endParaRPr lang="en-GB" sz="1800" dirty="0">
              <a:solidFill>
                <a:schemeClr val="bg1"/>
              </a:solidFill>
            </a:endParaRPr>
          </a:p>
          <a:p>
            <a:pPr>
              <a:defRPr/>
            </a:pPr>
            <a:r>
              <a:rPr lang="en-GB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Reads input and sends: </a:t>
            </a:r>
            <a:r>
              <a:rPr lang="en-GB" sz="18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directional commands</a:t>
            </a:r>
            <a:r>
              <a:rPr lang="en-GB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("up", "down", "left", "right") via </a:t>
            </a:r>
            <a:r>
              <a:rPr lang="en-GB" sz="18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NRF24L01</a:t>
            </a:r>
            <a:r>
              <a:rPr lang="en-GB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lang="en-GB" sz="1800" dirty="0">
              <a:solidFill>
                <a:schemeClr val="bg1"/>
              </a:solidFill>
            </a:endParaRPr>
          </a:p>
          <a:p>
            <a:pPr>
              <a:defRPr/>
            </a:pPr>
            <a:r>
              <a:rPr lang="en-GB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Displays current mode and action on the </a:t>
            </a:r>
            <a:r>
              <a:rPr lang="en-GB" sz="18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OLED screen</a:t>
            </a:r>
            <a:r>
              <a:rPr lang="en-GB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lang="en-GB" sz="1800" dirty="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 lang="en-US" sz="1800" b="0" i="0" u="none" dirty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2600" b="0" i="0" u="none" dirty="0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</a:rPr>
              <a:t>Note:</a:t>
            </a:r>
          </a:p>
          <a:p>
            <a:pPr>
              <a:defRPr/>
            </a:pPr>
            <a:r>
              <a:rPr lang="en-US" sz="18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Ensure both the receiver/transmitter have the identical Device  </a:t>
            </a:r>
            <a:r>
              <a:rPr lang="en-US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</a:t>
            </a:r>
            <a:r>
              <a:rPr lang="en-US" sz="18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ddress</a:t>
            </a:r>
            <a:endParaRPr lang="en-GB" sz="1800" dirty="0">
              <a:solidFill>
                <a:schemeClr val="bg1"/>
              </a:solidFill>
            </a:endParaRPr>
          </a:p>
        </p:txBody>
      </p:sp>
      <p:pic>
        <p:nvPicPr>
          <p:cNvPr id="993387447" name="Picture 99338744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004072" y="1626478"/>
            <a:ext cx="3970212" cy="409802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EDA0E8D-64AA-6186-7982-496C8FD07F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5428FB-89E6-C0A6-A623-C7A4996A3E46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475729" name="Title 1">
            <a:extLst>
              <a:ext uri="{FF2B5EF4-FFF2-40B4-BE49-F238E27FC236}">
                <a16:creationId xmlns:a16="http://schemas.microsoft.com/office/drawing/2014/main" id="{512F0C21-B4DE-98AA-3FC0-FE08AF600B3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26165"/>
            <a:ext cx="10515600" cy="947887"/>
          </a:xfr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chemeClr val="bg1"/>
                </a:solidFill>
              </a:rPr>
              <a:t>Navigational Robot Car-2 (Communications)</a:t>
            </a:r>
            <a:endParaRPr dirty="0"/>
          </a:p>
        </p:txBody>
      </p:sp>
      <p:sp>
        <p:nvSpPr>
          <p:cNvPr id="1118141910" name="Content Placeholder 2">
            <a:extLst>
              <a:ext uri="{FF2B5EF4-FFF2-40B4-BE49-F238E27FC236}">
                <a16:creationId xmlns:a16="http://schemas.microsoft.com/office/drawing/2014/main" id="{FD0946E0-E35B-3258-D055-92B1B4E40CE8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380999" y="833607"/>
            <a:ext cx="10003972" cy="568377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None/>
              <a:defRPr/>
            </a:pPr>
            <a:endParaRPr lang="en-GB" sz="2400" b="1" i="0" u="none" dirty="0">
              <a:solidFill>
                <a:schemeClr val="accent4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None/>
              <a:defRPr/>
            </a:pPr>
            <a:r>
              <a:rPr lang="en-GB" sz="2400" b="1" i="0" u="none" dirty="0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</a:rPr>
              <a:t>Application Opportunities</a:t>
            </a:r>
          </a:p>
          <a:p>
            <a:pPr marL="0" indent="0">
              <a:buNone/>
              <a:defRPr/>
            </a:pPr>
            <a:endParaRPr lang="en-US" sz="1800" b="0" i="0" u="none" dirty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lang="en-US" sz="1800" b="0" i="0" u="none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The </a:t>
            </a:r>
            <a:r>
              <a:rPr lang="en-US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remote control logic learned here is useful to generate </a:t>
            </a:r>
            <a:r>
              <a:rPr lang="en-US" sz="1800" b="1" dirty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Global MAP for SLAM</a:t>
            </a:r>
            <a:r>
              <a:rPr lang="en-US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algorithms</a:t>
            </a:r>
          </a:p>
          <a:p>
            <a:pPr>
              <a:defRPr/>
            </a:pPr>
            <a:endParaRPr lang="en-US" sz="18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The remote control of robots during initial stages of </a:t>
            </a:r>
            <a:r>
              <a:rPr lang="en-US" sz="1800" b="1" dirty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Reinforcement Learning</a:t>
            </a:r>
          </a:p>
          <a:p>
            <a:pPr>
              <a:defRPr/>
            </a:pPr>
            <a:endParaRPr lang="en-US" sz="1800" dirty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lang="en-US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To generate the test data for </a:t>
            </a:r>
            <a:r>
              <a:rPr lang="en-US" sz="1800" b="1" dirty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Imitation Learning</a:t>
            </a:r>
          </a:p>
          <a:p>
            <a:pPr>
              <a:defRPr/>
            </a:pPr>
            <a:endParaRPr lang="en-US" sz="18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1800" dirty="0">
                <a:solidFill>
                  <a:schemeClr val="bg1"/>
                </a:solidFill>
                <a:latin typeface="Times New Roman"/>
                <a:cs typeface="Times New Roman"/>
              </a:rPr>
              <a:t>To perform a tangle-free calibration of the </a:t>
            </a:r>
            <a:r>
              <a:rPr lang="en-GB" sz="1800" b="1" dirty="0">
                <a:solidFill>
                  <a:schemeClr val="accent5"/>
                </a:solidFill>
                <a:latin typeface="Times New Roman"/>
                <a:cs typeface="Times New Roman"/>
              </a:rPr>
              <a:t>IMU</a:t>
            </a:r>
            <a:r>
              <a:rPr lang="en-GB" sz="1800" dirty="0">
                <a:solidFill>
                  <a:schemeClr val="bg1"/>
                </a:solidFill>
                <a:latin typeface="Times New Roman"/>
                <a:cs typeface="Times New Roman"/>
              </a:rPr>
              <a:t> sensors.</a:t>
            </a:r>
            <a:endParaRPr lang="en-US" sz="18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US" sz="18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800" dirty="0">
                <a:solidFill>
                  <a:schemeClr val="bg1"/>
                </a:solidFill>
                <a:latin typeface="Times New Roman"/>
                <a:cs typeface="Times New Roman"/>
              </a:rPr>
              <a:t>IOT/Remote </a:t>
            </a:r>
            <a:r>
              <a:rPr lang="en-US" sz="1800" b="1" dirty="0">
                <a:solidFill>
                  <a:schemeClr val="accent5"/>
                </a:solidFill>
                <a:latin typeface="Times New Roman"/>
                <a:cs typeface="Times New Roman"/>
              </a:rPr>
              <a:t>Control/Monitoring/Inspection</a:t>
            </a:r>
            <a:endParaRPr lang="en-GB" sz="1800" b="1" dirty="0">
              <a:solidFill>
                <a:schemeClr val="accent5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C3AB4C-92EA-7CFD-9E6C-345991258E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854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418518" name="Title 1"/>
          <p:cNvSpPr>
            <a:spLocks noGrp="1"/>
          </p:cNvSpPr>
          <p:nvPr>
            <p:ph type="title"/>
          </p:nvPr>
        </p:nvSpPr>
        <p:spPr bwMode="auto">
          <a:xfrm>
            <a:off x="0" y="2766217"/>
            <a:ext cx="12192001" cy="1325562"/>
          </a:xfrm>
        </p:spPr>
        <p:txBody>
          <a:bodyPr/>
          <a:lstStyle/>
          <a:p>
            <a:pPr algn="ctr"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Discuss the Free Connectors, Gesture Sensor for Enhancements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CFBD81-10D7-79C5-62A9-FDCDAF05BE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1279748" name="Title 1"/>
          <p:cNvSpPr>
            <a:spLocks noGrp="1"/>
          </p:cNvSpPr>
          <p:nvPr>
            <p:ph type="title"/>
          </p:nvPr>
        </p:nvSpPr>
        <p:spPr bwMode="auto">
          <a:xfrm>
            <a:off x="10884" y="15279"/>
            <a:ext cx="10515600" cy="964435"/>
          </a:xfr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chemeClr val="bg1"/>
                </a:solidFill>
              </a:rPr>
              <a:t>Navigational Robot Car-2 (Communications)</a:t>
            </a:r>
            <a:endParaRPr dirty="0"/>
          </a:p>
        </p:txBody>
      </p:sp>
      <p:sp>
        <p:nvSpPr>
          <p:cNvPr id="1194644704" name="Content Placeholder 2"/>
          <p:cNvSpPr>
            <a:spLocks noGrp="1"/>
          </p:cNvSpPr>
          <p:nvPr>
            <p:ph idx="1"/>
          </p:nvPr>
        </p:nvSpPr>
        <p:spPr bwMode="auto">
          <a:xfrm>
            <a:off x="566057" y="833607"/>
            <a:ext cx="10787741" cy="568377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None/>
              <a:defRPr/>
            </a:pPr>
            <a:endParaRPr lang="en-GB" sz="2000" dirty="0">
              <a:solidFill>
                <a:schemeClr val="bg1"/>
              </a:solidFill>
            </a:endParaRPr>
          </a:p>
          <a:p>
            <a:pPr marL="0" indent="0">
              <a:buNone/>
              <a:defRPr/>
            </a:pPr>
            <a:r>
              <a:rPr lang="en-GB" sz="2400" b="1" dirty="0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</a:rPr>
              <a:t>Other Features Discussion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lang="en-US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Gesture Control Sensor</a:t>
            </a:r>
          </a:p>
          <a:p>
            <a:pPr>
              <a:defRPr/>
            </a:pPr>
            <a:endParaRPr lang="en-US" sz="1800" dirty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lang="en-US" sz="1800" dirty="0">
                <a:solidFill>
                  <a:schemeClr val="bg1"/>
                </a:solidFill>
                <a:latin typeface="Times New Roman"/>
                <a:cs typeface="Times New Roman"/>
              </a:rPr>
              <a:t>Bluetooth</a:t>
            </a:r>
          </a:p>
          <a:p>
            <a:pPr>
              <a:defRPr/>
            </a:pPr>
            <a:endParaRPr lang="en-US" sz="18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800" dirty="0">
                <a:solidFill>
                  <a:schemeClr val="bg1"/>
                </a:solidFill>
                <a:latin typeface="Times New Roman"/>
                <a:cs typeface="Times New Roman"/>
              </a:rPr>
              <a:t>IR Receiver</a:t>
            </a:r>
            <a:endParaRPr lang="en-GB" sz="1800" dirty="0">
              <a:solidFill>
                <a:schemeClr val="bg1"/>
              </a:solidFill>
            </a:endParaRPr>
          </a:p>
          <a:p>
            <a:pPr>
              <a:defRPr/>
            </a:pPr>
            <a:endParaRPr lang="en-US" sz="1800" dirty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lang="en-US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Free Connectors &amp; Its Uses</a:t>
            </a:r>
          </a:p>
          <a:p>
            <a:pPr>
              <a:defRPr/>
            </a:pPr>
            <a:endParaRPr lang="en-US" sz="1800" dirty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lang="en-US" sz="18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Breadboard Extension</a:t>
            </a:r>
          </a:p>
          <a:p>
            <a:pPr>
              <a:defRPr/>
            </a:pPr>
            <a:endParaRPr lang="en-US" sz="18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89AE7B-E3B0-231F-6D87-2DD6BE6DC90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842</Words>
  <Application>Microsoft Office PowerPoint</Application>
  <PresentationFormat>Widescreen</PresentationFormat>
  <Paragraphs>171</Paragraphs>
  <Slides>17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Times New Roman</vt:lpstr>
      <vt:lpstr>Office Theme</vt:lpstr>
      <vt:lpstr>1_Office Theme</vt:lpstr>
      <vt:lpstr>Navigational Robotics Series  Robot Car-2 (Communications)</vt:lpstr>
      <vt:lpstr>Navigational Robot Car-2 (Communications)</vt:lpstr>
      <vt:lpstr>Navigational Robot Car-2 (Communications)</vt:lpstr>
      <vt:lpstr>Navigational Robot Car-2 (Communications)</vt:lpstr>
      <vt:lpstr>Health &amp; Safety</vt:lpstr>
      <vt:lpstr>Health &amp; Safety</vt:lpstr>
      <vt:lpstr>Motor Driver</vt:lpstr>
      <vt:lpstr>Navigational Robot Car-2 (Communications)</vt:lpstr>
      <vt:lpstr>Navigational Robot Car-3</vt:lpstr>
      <vt:lpstr>Test Basic Movement</vt:lpstr>
      <vt:lpstr>Initial Setup - Test Basic Movements</vt:lpstr>
      <vt:lpstr>Initial Setup - Test Basic Movements</vt:lpstr>
      <vt:lpstr>Remote Setup for: Joystick, Accelerometer and Buttons</vt:lpstr>
      <vt:lpstr>Navigational Robot Car-2 (Communications)</vt:lpstr>
      <vt:lpstr>Navigational Robot Car-2 (Communications)</vt:lpstr>
      <vt:lpstr>Discuss the Free Connectors, Gesture Sensor for Enhancements</vt:lpstr>
      <vt:lpstr>Navigational Robot Car-2 (Communications)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35</cp:revision>
  <dcterms:created xsi:type="dcterms:W3CDTF">2025-11-15T20:03:39Z</dcterms:created>
  <dcterms:modified xsi:type="dcterms:W3CDTF">2025-11-22T22:39:03Z</dcterms:modified>
</cp:coreProperties>
</file>