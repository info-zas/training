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256" r:id="rId2"/>
    <p:sldId id="259" r:id="rId3"/>
    <p:sldId id="265" r:id="rId4"/>
    <p:sldId id="260" r:id="rId5"/>
    <p:sldId id="284" r:id="rId6"/>
    <p:sldId id="285" r:id="rId7"/>
    <p:sldId id="288" r:id="rId8"/>
    <p:sldId id="286" r:id="rId9"/>
    <p:sldId id="261" r:id="rId10"/>
    <p:sldId id="262" r:id="rId11"/>
    <p:sldId id="263" r:id="rId12"/>
    <p:sldId id="289" r:id="rId13"/>
    <p:sldId id="290" r:id="rId14"/>
    <p:sldId id="276" r:id="rId15"/>
    <p:sldId id="268" r:id="rId16"/>
    <p:sldId id="269" r:id="rId17"/>
    <p:sldId id="264" r:id="rId18"/>
    <p:sldId id="270" r:id="rId19"/>
    <p:sldId id="266" r:id="rId20"/>
    <p:sldId id="271" r:id="rId21"/>
    <p:sldId id="267" r:id="rId22"/>
    <p:sldId id="272" r:id="rId23"/>
    <p:sldId id="273" r:id="rId24"/>
    <p:sldId id="274" r:id="rId25"/>
    <p:sldId id="275" r:id="rId26"/>
    <p:sldId id="287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1166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5ABFD9-D56C-4447-A263-C82CAABC2A2F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EE0A59-7B2B-4876-8FE1-7AA8ED5E32D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8375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1F3BE-512F-A9CE-900D-B6E0068F4D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11E759-8398-1C8B-4F38-3B5F5F3820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9DDE8A-E854-1D1C-8B81-59D304580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02/12/2025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74DB82-9D26-A4A7-DD71-B140CE7BA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CD4B25-EB67-28E5-5C5F-D5789BB885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05031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058F54-B80F-E040-0537-D4AB53684C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05052E-FBAF-9764-17B4-44EEDA19C0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428461-73E6-DA43-A804-1BED2DEDC1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02/12/2025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8C90D2-FEC4-8B98-89A9-8B863F908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2767BA-0170-E4AA-D831-BE5F2B30C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5212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5643F4-DF9D-3089-607F-F630042D2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EC6B38-3C8D-E9B6-AE09-3D4FB3A9E7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D396E3-1754-8F20-FFD6-495F35BE40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02/12/2025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DFECFE-EDD5-4401-2AE2-5CF0BEE561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E226EF-4679-CF6F-CF81-24B227602B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09167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9617A-463C-B0FA-843B-05D55BB41E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C0016E-78F1-F75B-BC93-791E4537663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54ACE3-6B57-CC2B-E335-02B52C0EB5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DBD783-A52E-0064-668C-D393154B0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02/12/2025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6EDF47-CE09-3FD5-8ADD-0A6CFFA9AC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EBE330-F483-EA66-3FEC-34BA5B610C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704251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289D43-5E5B-48DD-A60B-FDDAC693BB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66F32E-5382-7984-7E93-85C8074430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618230-A817-7965-EFCB-0720B4ABC6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4E3800D-524D-E9FD-E4E6-8A0324046CE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E48E2B-8B3B-4A12-8C05-6222B14B48D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E083518-B8B2-5C7F-CD0A-125EFA788F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02/12/2025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B30EBAF-1066-8FE2-60BF-0AD28A94FA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D6C8C0-F362-9C7F-C203-EC0BF19BFC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58566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8A044E-9B9D-6532-38C5-2548C08E35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C5C59B-7D5D-D630-8E28-4022FF7667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02/12/2025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96964E-2C9E-7926-8B63-80F95308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30FA47-9D75-E0FF-8FB3-0F9EF1813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68736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4268972-0D81-CE22-EDE6-5BD70E2B47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02/12/2025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CF470F-F056-E314-B018-2C9E07E7F0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F2BD58-FE18-5B4B-0126-E111600D5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73677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3E1CF6-20E5-C8D0-55EF-0044CFF3BF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B13B3F-0A8A-88D7-368C-2C0D15C33E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D8D0F0-7D28-2713-49F8-A122409C5E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15D5A1-AB6A-3313-6D15-BF77B31EC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02/12/2025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A49E29-6085-AC32-B97C-BE6FFEDD4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397273-FC10-830B-4EE1-EF7CBFF7E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58544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C618FA-A510-D593-C2E8-A943D32C0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CC86480-7067-230A-B3CE-415EF472B5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C3E5E3-C685-17BB-99D4-CCE0E3B57F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7FCBDC-72D1-DA03-EEBB-12C473CA75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02/12/2025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0BEEE8-F749-3928-8336-8F0490C7F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D2A82A-58B8-B13C-BD66-5D340CA18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60907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8F1B81-8671-ED96-E3F5-C681FFE3E9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EFCA56-3F75-07CB-9FB7-F0F7B78EA9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9CC168-4ABB-D666-29C9-347EFF502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02/12/2025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D4C89C-E42B-0302-ED96-48D8638BE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BBADE0-9275-B9E0-72CF-A481D81CB9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01352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FACC2B5-AAB4-6939-855D-759D3FB8B1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E0E091-D309-3C53-FAA0-94D42F52B9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5CD9BE-9D56-0A3B-FC8E-767BBF1A30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02/12/2025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2BC3CD-7309-6765-72C1-5982459D64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7D70F7-1F47-1B7A-7B20-44E99C13A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020761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80E771D-197D-29E2-0B81-12A4FAE2B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9599D2-8F60-BB7F-534F-CDB425A41B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4CE3F2-2023-C212-377A-F9A16C0525D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02/12/2025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59B2B7-BC4C-BF5C-4319-2E83B888FD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2C4DCB-AAB0-5D1A-3349-E5C5C3E40D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03122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E1084-B5DC-32D0-70C8-1C1F01656A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122363"/>
            <a:ext cx="12192000" cy="2387600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ZAS Robotic Products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429A87-03D8-FA02-3B18-72CD3764F3E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en-GB" sz="3200" dirty="0">
                <a:solidFill>
                  <a:schemeClr val="accent4"/>
                </a:solidFill>
              </a:rPr>
              <a:t>Familiarisation Training to Faculty</a:t>
            </a:r>
          </a:p>
          <a:p>
            <a:r>
              <a:rPr lang="en-GB" sz="3200" dirty="0">
                <a:solidFill>
                  <a:schemeClr val="accent5"/>
                </a:solidFill>
              </a:rPr>
              <a:t>Training Schedule</a:t>
            </a:r>
          </a:p>
          <a:p>
            <a:r>
              <a:rPr lang="en-GB" sz="3200" dirty="0">
                <a:solidFill>
                  <a:schemeClr val="accent1"/>
                </a:solidFill>
              </a:rPr>
              <a:t>(5</a:t>
            </a:r>
            <a:r>
              <a:rPr lang="en-GB" sz="3200" baseline="30000" dirty="0">
                <a:solidFill>
                  <a:schemeClr val="accent1"/>
                </a:solidFill>
              </a:rPr>
              <a:t>th</a:t>
            </a:r>
            <a:r>
              <a:rPr lang="en-GB" sz="3200" dirty="0">
                <a:solidFill>
                  <a:schemeClr val="accent1"/>
                </a:solidFill>
              </a:rPr>
              <a:t> and 6</a:t>
            </a:r>
            <a:r>
              <a:rPr lang="en-GB" sz="3200" baseline="30000" dirty="0">
                <a:solidFill>
                  <a:schemeClr val="accent1"/>
                </a:solidFill>
              </a:rPr>
              <a:t>th</a:t>
            </a:r>
            <a:r>
              <a:rPr lang="en-GB" sz="3200" dirty="0">
                <a:solidFill>
                  <a:schemeClr val="accent1"/>
                </a:solidFill>
              </a:rPr>
              <a:t> Dec 2025)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029D131-2A2A-10D9-EBBF-422D12CD6A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6071" y="156102"/>
            <a:ext cx="4042963" cy="1089705"/>
          </a:xfrm>
          <a:prstGeom prst="rect">
            <a:avLst/>
          </a:prstGeom>
        </p:spPr>
      </p:pic>
      <p:pic>
        <p:nvPicPr>
          <p:cNvPr id="1026" name="Picture 2" descr="IIITDM Kurnool - IEEE Open">
            <a:extLst>
              <a:ext uri="{FF2B5EF4-FFF2-40B4-BE49-F238E27FC236}">
                <a16:creationId xmlns:a16="http://schemas.microsoft.com/office/drawing/2014/main" id="{1CD27F7C-20E9-6381-8FFE-8C01E9F1A82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6811" t="16259" r="27143" b="18939"/>
          <a:stretch>
            <a:fillRect/>
          </a:stretch>
        </p:blipFill>
        <p:spPr bwMode="auto">
          <a:xfrm>
            <a:off x="4953000" y="0"/>
            <a:ext cx="1545772" cy="15290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AFCB6ED-BB1D-49AD-0133-35AC73C3CD1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825" y="188758"/>
            <a:ext cx="3149206" cy="1168254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BF15C5-BEB0-F2AA-E4DC-F162756B69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dirty="0"/>
              <a:t>02/12/2025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C79841-B489-755A-1EA5-9DA1BB86AC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z="1600" smtClean="0"/>
              <a:t>1</a:t>
            </a:fld>
            <a:endParaRPr lang="en-GB" sz="1600" dirty="0"/>
          </a:p>
        </p:txBody>
      </p:sp>
    </p:spTree>
    <p:extLst>
      <p:ext uri="{BB962C8B-B14F-4D97-AF65-F5344CB8AC3E}">
        <p14:creationId xmlns:p14="http://schemas.microsoft.com/office/powerpoint/2010/main" val="8808891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BC2B6E-D05B-1DCF-7DAB-CE12D5C767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6B7805-5ACA-D39F-930B-28CFB9DC24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Faculty Training Agenda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7BC67D7-A4A4-25CA-A18F-15D145C56EBC}"/>
              </a:ext>
            </a:extLst>
          </p:cNvPr>
          <p:cNvCxnSpPr/>
          <p:nvPr/>
        </p:nvCxnSpPr>
        <p:spPr>
          <a:xfrm>
            <a:off x="1164771" y="2046514"/>
            <a:ext cx="9840686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F426B43-D8CA-0851-6251-4DB240779F91}"/>
              </a:ext>
            </a:extLst>
          </p:cNvPr>
          <p:cNvCxnSpPr/>
          <p:nvPr/>
        </p:nvCxnSpPr>
        <p:spPr>
          <a:xfrm>
            <a:off x="2743200" y="2046514"/>
            <a:ext cx="0" cy="36000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E41AE7C-CA6F-C6D5-EF10-5562F1F9865C}"/>
              </a:ext>
            </a:extLst>
          </p:cNvPr>
          <p:cNvCxnSpPr/>
          <p:nvPr/>
        </p:nvCxnSpPr>
        <p:spPr>
          <a:xfrm>
            <a:off x="6008914" y="2046514"/>
            <a:ext cx="0" cy="36000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4E6BEB6-0982-1421-9BA7-E615CD0E7342}"/>
              </a:ext>
            </a:extLst>
          </p:cNvPr>
          <p:cNvCxnSpPr/>
          <p:nvPr/>
        </p:nvCxnSpPr>
        <p:spPr>
          <a:xfrm>
            <a:off x="6749142" y="2046514"/>
            <a:ext cx="0" cy="36000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0436AC1-40E0-68B4-D6DF-AD1C7CEE5C55}"/>
              </a:ext>
            </a:extLst>
          </p:cNvPr>
          <p:cNvCxnSpPr/>
          <p:nvPr/>
        </p:nvCxnSpPr>
        <p:spPr>
          <a:xfrm>
            <a:off x="1164771" y="2046514"/>
            <a:ext cx="0" cy="36000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CBB51BF-5CA8-9A88-5C49-72AE7F71D081}"/>
              </a:ext>
            </a:extLst>
          </p:cNvPr>
          <p:cNvSpPr txBox="1"/>
          <p:nvPr/>
        </p:nvSpPr>
        <p:spPr>
          <a:xfrm>
            <a:off x="827979" y="1652449"/>
            <a:ext cx="673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9 AM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F171AFA-A450-F235-7601-1CD7257E2262}"/>
              </a:ext>
            </a:extLst>
          </p:cNvPr>
          <p:cNvSpPr txBox="1"/>
          <p:nvPr/>
        </p:nvSpPr>
        <p:spPr>
          <a:xfrm>
            <a:off x="2344693" y="1652449"/>
            <a:ext cx="797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10 AM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A45728A-59CB-53BB-2CF2-2E11759F3A4A}"/>
              </a:ext>
            </a:extLst>
          </p:cNvPr>
          <p:cNvSpPr txBox="1"/>
          <p:nvPr/>
        </p:nvSpPr>
        <p:spPr>
          <a:xfrm>
            <a:off x="5610407" y="1650745"/>
            <a:ext cx="797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12 AM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D542515-99BB-0007-CB1D-AEE96FFE0355}"/>
              </a:ext>
            </a:extLst>
          </p:cNvPr>
          <p:cNvSpPr txBox="1"/>
          <p:nvPr/>
        </p:nvSpPr>
        <p:spPr>
          <a:xfrm>
            <a:off x="6488552" y="1650745"/>
            <a:ext cx="673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1 PM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8D2A2A4-8FC7-64FD-3F52-BA0F7EEC1FB4}"/>
              </a:ext>
            </a:extLst>
          </p:cNvPr>
          <p:cNvCxnSpPr/>
          <p:nvPr/>
        </p:nvCxnSpPr>
        <p:spPr>
          <a:xfrm>
            <a:off x="9067799" y="2046514"/>
            <a:ext cx="0" cy="36000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FCDF9788-0F0F-79AF-4A2D-0F9A53A68D20}"/>
              </a:ext>
            </a:extLst>
          </p:cNvPr>
          <p:cNvSpPr txBox="1"/>
          <p:nvPr/>
        </p:nvSpPr>
        <p:spPr>
          <a:xfrm>
            <a:off x="8715108" y="1650745"/>
            <a:ext cx="6703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3 PM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BC361AB-A858-1F5C-A8C8-611AE59325A8}"/>
              </a:ext>
            </a:extLst>
          </p:cNvPr>
          <p:cNvCxnSpPr/>
          <p:nvPr/>
        </p:nvCxnSpPr>
        <p:spPr>
          <a:xfrm>
            <a:off x="11005457" y="2046514"/>
            <a:ext cx="0" cy="36000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FB771402-9CF2-19D5-01EC-39558EACD8A6}"/>
              </a:ext>
            </a:extLst>
          </p:cNvPr>
          <p:cNvSpPr txBox="1"/>
          <p:nvPr/>
        </p:nvSpPr>
        <p:spPr>
          <a:xfrm>
            <a:off x="10603270" y="1650745"/>
            <a:ext cx="6703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5 PM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EB27495-5A5B-E8D1-D76A-AC86E3D35E65}"/>
              </a:ext>
            </a:extLst>
          </p:cNvPr>
          <p:cNvCxnSpPr/>
          <p:nvPr/>
        </p:nvCxnSpPr>
        <p:spPr>
          <a:xfrm>
            <a:off x="1948543" y="2122714"/>
            <a:ext cx="0" cy="664029"/>
          </a:xfrm>
          <a:prstGeom prst="straightConnector1">
            <a:avLst/>
          </a:prstGeom>
          <a:ln w="57150">
            <a:solidFill>
              <a:schemeClr val="accent4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A411A37-611F-C179-87CB-C2D261558B25}"/>
              </a:ext>
            </a:extLst>
          </p:cNvPr>
          <p:cNvCxnSpPr/>
          <p:nvPr/>
        </p:nvCxnSpPr>
        <p:spPr>
          <a:xfrm>
            <a:off x="4321629" y="2160813"/>
            <a:ext cx="0" cy="664029"/>
          </a:xfrm>
          <a:prstGeom prst="straightConnector1">
            <a:avLst/>
          </a:prstGeom>
          <a:ln w="57150">
            <a:solidFill>
              <a:schemeClr val="accent4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C8D05A0-3522-CEC5-4081-4DB5307AAE77}"/>
              </a:ext>
            </a:extLst>
          </p:cNvPr>
          <p:cNvCxnSpPr/>
          <p:nvPr/>
        </p:nvCxnSpPr>
        <p:spPr>
          <a:xfrm>
            <a:off x="6407420" y="2182583"/>
            <a:ext cx="0" cy="664029"/>
          </a:xfrm>
          <a:prstGeom prst="straightConnector1">
            <a:avLst/>
          </a:prstGeom>
          <a:ln w="57150">
            <a:solidFill>
              <a:schemeClr val="accent4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2255FF1-C2BB-0346-0641-30E11617D968}"/>
              </a:ext>
            </a:extLst>
          </p:cNvPr>
          <p:cNvCxnSpPr/>
          <p:nvPr/>
        </p:nvCxnSpPr>
        <p:spPr>
          <a:xfrm>
            <a:off x="7898763" y="2182583"/>
            <a:ext cx="0" cy="664029"/>
          </a:xfrm>
          <a:prstGeom prst="straightConnector1">
            <a:avLst/>
          </a:prstGeom>
          <a:ln w="57150">
            <a:solidFill>
              <a:schemeClr val="accent4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7E51CA6-3625-3289-2F91-A1F3A8E1D173}"/>
              </a:ext>
            </a:extLst>
          </p:cNvPr>
          <p:cNvCxnSpPr/>
          <p:nvPr/>
        </p:nvCxnSpPr>
        <p:spPr>
          <a:xfrm>
            <a:off x="10021477" y="2160812"/>
            <a:ext cx="0" cy="664029"/>
          </a:xfrm>
          <a:prstGeom prst="straightConnector1">
            <a:avLst/>
          </a:prstGeom>
          <a:ln w="57150">
            <a:solidFill>
              <a:schemeClr val="accent4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E755C5F6-66CE-D216-7583-B7DE8FD56CBA}"/>
              </a:ext>
            </a:extLst>
          </p:cNvPr>
          <p:cNvSpPr txBox="1"/>
          <p:nvPr/>
        </p:nvSpPr>
        <p:spPr>
          <a:xfrm>
            <a:off x="1187725" y="2971800"/>
            <a:ext cx="15216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Introductions</a:t>
            </a:r>
          </a:p>
          <a:p>
            <a:r>
              <a:rPr lang="en-GB" dirty="0">
                <a:solidFill>
                  <a:schemeClr val="bg1"/>
                </a:solidFill>
              </a:rPr>
              <a:t>Brief Talk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32C20C7-B50B-9F93-F7DB-127D92752922}"/>
              </a:ext>
            </a:extLst>
          </p:cNvPr>
          <p:cNvSpPr txBox="1"/>
          <p:nvPr/>
        </p:nvSpPr>
        <p:spPr>
          <a:xfrm>
            <a:off x="3827263" y="2971800"/>
            <a:ext cx="9887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Sensors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B1D5647-A9A3-8397-6C8E-5621B20F5F9C}"/>
              </a:ext>
            </a:extLst>
          </p:cNvPr>
          <p:cNvSpPr txBox="1"/>
          <p:nvPr/>
        </p:nvSpPr>
        <p:spPr>
          <a:xfrm>
            <a:off x="5836611" y="2971800"/>
            <a:ext cx="8036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accent4"/>
                </a:solidFill>
              </a:rPr>
              <a:t>Lunch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FE65E41-1FD5-2505-E4AC-4B7BD60E4F13}"/>
              </a:ext>
            </a:extLst>
          </p:cNvPr>
          <p:cNvSpPr txBox="1"/>
          <p:nvPr/>
        </p:nvSpPr>
        <p:spPr>
          <a:xfrm>
            <a:off x="7404397" y="2971800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Motion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B16ECED-8402-155C-ACC5-B37CEA8D496C}"/>
              </a:ext>
            </a:extLst>
          </p:cNvPr>
          <p:cNvSpPr txBox="1"/>
          <p:nvPr/>
        </p:nvSpPr>
        <p:spPr>
          <a:xfrm>
            <a:off x="9153124" y="2971800"/>
            <a:ext cx="19125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Communications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E5BFC602-A6C4-144D-A292-7CD6D719921B}"/>
              </a:ext>
            </a:extLst>
          </p:cNvPr>
          <p:cNvCxnSpPr/>
          <p:nvPr/>
        </p:nvCxnSpPr>
        <p:spPr>
          <a:xfrm>
            <a:off x="3827263" y="3918856"/>
            <a:ext cx="445429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933CE5C4-4F1F-E2EC-C7A2-588329674194}"/>
              </a:ext>
            </a:extLst>
          </p:cNvPr>
          <p:cNvCxnSpPr/>
          <p:nvPr/>
        </p:nvCxnSpPr>
        <p:spPr>
          <a:xfrm>
            <a:off x="1055922" y="5075840"/>
            <a:ext cx="9840686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113F2C15-5B61-998E-8F75-39CC3266E919}"/>
              </a:ext>
            </a:extLst>
          </p:cNvPr>
          <p:cNvCxnSpPr/>
          <p:nvPr/>
        </p:nvCxnSpPr>
        <p:spPr>
          <a:xfrm>
            <a:off x="2634351" y="5075840"/>
            <a:ext cx="0" cy="36000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6F0ADD5-D251-2971-D518-AC61DBE6F26A}"/>
              </a:ext>
            </a:extLst>
          </p:cNvPr>
          <p:cNvCxnSpPr/>
          <p:nvPr/>
        </p:nvCxnSpPr>
        <p:spPr>
          <a:xfrm>
            <a:off x="5900065" y="5075840"/>
            <a:ext cx="0" cy="36000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D16B9806-E09F-7AC6-ACFE-A66740286B12}"/>
              </a:ext>
            </a:extLst>
          </p:cNvPr>
          <p:cNvCxnSpPr/>
          <p:nvPr/>
        </p:nvCxnSpPr>
        <p:spPr>
          <a:xfrm>
            <a:off x="6640293" y="5075840"/>
            <a:ext cx="0" cy="36000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DDE1959E-BD7F-F39D-602C-9A8FBB33896B}"/>
              </a:ext>
            </a:extLst>
          </p:cNvPr>
          <p:cNvCxnSpPr/>
          <p:nvPr/>
        </p:nvCxnSpPr>
        <p:spPr>
          <a:xfrm>
            <a:off x="1055922" y="5075840"/>
            <a:ext cx="0" cy="36000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CD2AD592-8436-179D-C63C-643BA135E862}"/>
              </a:ext>
            </a:extLst>
          </p:cNvPr>
          <p:cNvSpPr txBox="1"/>
          <p:nvPr/>
        </p:nvSpPr>
        <p:spPr>
          <a:xfrm>
            <a:off x="719130" y="4681775"/>
            <a:ext cx="673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9 AM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6F94138-1978-C221-634E-E1035BB8D774}"/>
              </a:ext>
            </a:extLst>
          </p:cNvPr>
          <p:cNvSpPr txBox="1"/>
          <p:nvPr/>
        </p:nvSpPr>
        <p:spPr>
          <a:xfrm>
            <a:off x="2235844" y="4681775"/>
            <a:ext cx="9861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9.30 AM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35C9F66-8BD2-CE14-3A24-763BADBA905A}"/>
              </a:ext>
            </a:extLst>
          </p:cNvPr>
          <p:cNvSpPr txBox="1"/>
          <p:nvPr/>
        </p:nvSpPr>
        <p:spPr>
          <a:xfrm>
            <a:off x="5501558" y="4680071"/>
            <a:ext cx="797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12 AM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36FA00C-FAD3-B59B-7480-3217D1B7416A}"/>
              </a:ext>
            </a:extLst>
          </p:cNvPr>
          <p:cNvSpPr txBox="1"/>
          <p:nvPr/>
        </p:nvSpPr>
        <p:spPr>
          <a:xfrm>
            <a:off x="6379703" y="4680071"/>
            <a:ext cx="673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1 PM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1B383828-F2E1-2DE8-4F32-54AFE1786EC0}"/>
              </a:ext>
            </a:extLst>
          </p:cNvPr>
          <p:cNvCxnSpPr/>
          <p:nvPr/>
        </p:nvCxnSpPr>
        <p:spPr>
          <a:xfrm>
            <a:off x="8958950" y="5075840"/>
            <a:ext cx="0" cy="36000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682FAE92-03FF-59E0-11DD-5F4F1AC5EA1C}"/>
              </a:ext>
            </a:extLst>
          </p:cNvPr>
          <p:cNvSpPr txBox="1"/>
          <p:nvPr/>
        </p:nvSpPr>
        <p:spPr>
          <a:xfrm>
            <a:off x="8606259" y="4680071"/>
            <a:ext cx="6703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3 PM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4DB04BD7-70E4-376A-7D9D-E1EA74566766}"/>
              </a:ext>
            </a:extLst>
          </p:cNvPr>
          <p:cNvCxnSpPr/>
          <p:nvPr/>
        </p:nvCxnSpPr>
        <p:spPr>
          <a:xfrm>
            <a:off x="10896608" y="5075840"/>
            <a:ext cx="0" cy="36000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E17EF4C9-330E-7F67-D38C-5D1C2DB89E5E}"/>
              </a:ext>
            </a:extLst>
          </p:cNvPr>
          <p:cNvSpPr txBox="1"/>
          <p:nvPr/>
        </p:nvSpPr>
        <p:spPr>
          <a:xfrm>
            <a:off x="10494421" y="4680071"/>
            <a:ext cx="6703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5 PM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1CB18B37-1E0C-A84A-E6E3-E350FA6DB56B}"/>
              </a:ext>
            </a:extLst>
          </p:cNvPr>
          <p:cNvCxnSpPr/>
          <p:nvPr/>
        </p:nvCxnSpPr>
        <p:spPr>
          <a:xfrm>
            <a:off x="1839694" y="5152040"/>
            <a:ext cx="0" cy="664029"/>
          </a:xfrm>
          <a:prstGeom prst="straightConnector1">
            <a:avLst/>
          </a:prstGeom>
          <a:ln w="57150">
            <a:solidFill>
              <a:schemeClr val="accent4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35683723-AC05-0D0F-EA1A-58E269B12E51}"/>
              </a:ext>
            </a:extLst>
          </p:cNvPr>
          <p:cNvCxnSpPr/>
          <p:nvPr/>
        </p:nvCxnSpPr>
        <p:spPr>
          <a:xfrm>
            <a:off x="4212780" y="5190139"/>
            <a:ext cx="0" cy="664029"/>
          </a:xfrm>
          <a:prstGeom prst="straightConnector1">
            <a:avLst/>
          </a:prstGeom>
          <a:ln w="57150">
            <a:solidFill>
              <a:schemeClr val="accent4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8E60FA6F-03C8-BA93-F1C8-E90589C624F7}"/>
              </a:ext>
            </a:extLst>
          </p:cNvPr>
          <p:cNvCxnSpPr/>
          <p:nvPr/>
        </p:nvCxnSpPr>
        <p:spPr>
          <a:xfrm>
            <a:off x="6298571" y="5211909"/>
            <a:ext cx="0" cy="664029"/>
          </a:xfrm>
          <a:prstGeom prst="straightConnector1">
            <a:avLst/>
          </a:prstGeom>
          <a:ln w="57150">
            <a:solidFill>
              <a:schemeClr val="accent4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9E86DE4B-9CFC-90BE-08FC-7E7D78FF6D5D}"/>
              </a:ext>
            </a:extLst>
          </p:cNvPr>
          <p:cNvCxnSpPr/>
          <p:nvPr/>
        </p:nvCxnSpPr>
        <p:spPr>
          <a:xfrm>
            <a:off x="7789914" y="5211909"/>
            <a:ext cx="0" cy="664029"/>
          </a:xfrm>
          <a:prstGeom prst="straightConnector1">
            <a:avLst/>
          </a:prstGeom>
          <a:ln w="57150">
            <a:solidFill>
              <a:schemeClr val="accent4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16525A87-FAB0-8FAA-80E6-9A805B19CF8F}"/>
              </a:ext>
            </a:extLst>
          </p:cNvPr>
          <p:cNvCxnSpPr/>
          <p:nvPr/>
        </p:nvCxnSpPr>
        <p:spPr>
          <a:xfrm>
            <a:off x="9912628" y="5190138"/>
            <a:ext cx="0" cy="664029"/>
          </a:xfrm>
          <a:prstGeom prst="straightConnector1">
            <a:avLst/>
          </a:prstGeom>
          <a:ln w="57150">
            <a:solidFill>
              <a:schemeClr val="accent4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3F853E59-0199-57AE-840B-28B830E8127A}"/>
              </a:ext>
            </a:extLst>
          </p:cNvPr>
          <p:cNvSpPr txBox="1"/>
          <p:nvPr/>
        </p:nvSpPr>
        <p:spPr>
          <a:xfrm>
            <a:off x="1078876" y="6001126"/>
            <a:ext cx="8982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Re-cap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9CB71B6-973E-5F25-C1B6-073534FD6957}"/>
              </a:ext>
            </a:extLst>
          </p:cNvPr>
          <p:cNvSpPr txBox="1"/>
          <p:nvPr/>
        </p:nvSpPr>
        <p:spPr>
          <a:xfrm>
            <a:off x="3718414" y="6001126"/>
            <a:ext cx="15409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Robotic Car-1</a:t>
            </a:r>
          </a:p>
          <a:p>
            <a:r>
              <a:rPr lang="en-GB" dirty="0">
                <a:solidFill>
                  <a:schemeClr val="bg1"/>
                </a:solidFill>
              </a:rPr>
              <a:t>(Sensors)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5CF1B77-32E3-BBDF-F199-EFB58943C1B9}"/>
              </a:ext>
            </a:extLst>
          </p:cNvPr>
          <p:cNvSpPr txBox="1"/>
          <p:nvPr/>
        </p:nvSpPr>
        <p:spPr>
          <a:xfrm>
            <a:off x="5727762" y="6001126"/>
            <a:ext cx="8036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accent4"/>
                </a:solidFill>
              </a:rPr>
              <a:t>Lunch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7DA9EC8-27F3-10AE-1AA1-75500A9B4F2F}"/>
              </a:ext>
            </a:extLst>
          </p:cNvPr>
          <p:cNvSpPr txBox="1"/>
          <p:nvPr/>
        </p:nvSpPr>
        <p:spPr>
          <a:xfrm>
            <a:off x="7295548" y="6001126"/>
            <a:ext cx="15583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Robotic Car-2</a:t>
            </a:r>
          </a:p>
          <a:p>
            <a:r>
              <a:rPr lang="en-GB" dirty="0">
                <a:solidFill>
                  <a:schemeClr val="bg1"/>
                </a:solidFill>
              </a:rPr>
              <a:t>(Comms.)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82E235C-1938-378B-4B14-0100F43D25BD}"/>
              </a:ext>
            </a:extLst>
          </p:cNvPr>
          <p:cNvSpPr txBox="1"/>
          <p:nvPr/>
        </p:nvSpPr>
        <p:spPr>
          <a:xfrm>
            <a:off x="9044275" y="6001126"/>
            <a:ext cx="22393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Robotic Car-3</a:t>
            </a:r>
          </a:p>
          <a:p>
            <a:r>
              <a:rPr lang="en-GB" dirty="0">
                <a:solidFill>
                  <a:schemeClr val="bg1"/>
                </a:solidFill>
              </a:rPr>
              <a:t>(Encoders/IMU/GPS)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A441AF2-4954-F142-1A0F-CAA1F631B9CA}"/>
              </a:ext>
            </a:extLst>
          </p:cNvPr>
          <p:cNvSpPr txBox="1"/>
          <p:nvPr/>
        </p:nvSpPr>
        <p:spPr>
          <a:xfrm>
            <a:off x="5727762" y="1121229"/>
            <a:ext cx="11029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5"/>
                </a:solidFill>
              </a:rPr>
              <a:t>Day-1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D2FEF55-B1C5-995D-11E3-B833A9AFAFF5}"/>
              </a:ext>
            </a:extLst>
          </p:cNvPr>
          <p:cNvSpPr txBox="1"/>
          <p:nvPr/>
        </p:nvSpPr>
        <p:spPr>
          <a:xfrm>
            <a:off x="5722412" y="4130414"/>
            <a:ext cx="112639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5"/>
                </a:solidFill>
              </a:rPr>
              <a:t>Day-2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FCC9547-6FCF-4CA0-E532-D47631217F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65FC61-E0CD-AC63-070D-8D68D8CFE7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02/12/2025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6F3989-4D9D-555F-3A54-5E6EDE6158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934133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9C575F-A4C3-EAB4-75AD-D99CBB82E8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478F38-9591-4EA9-FC02-E5F8709B1E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934155"/>
            <a:ext cx="12192000" cy="1325563"/>
          </a:xfrm>
        </p:spPr>
        <p:txBody>
          <a:bodyPr/>
          <a:lstStyle/>
          <a:p>
            <a:pPr algn="ctr"/>
            <a:r>
              <a:rPr lang="en-GB" dirty="0">
                <a:solidFill>
                  <a:schemeClr val="accent1"/>
                </a:solidFill>
              </a:rPr>
              <a:t>Design Philosophy</a:t>
            </a:r>
            <a:br>
              <a:rPr lang="en-GB" dirty="0">
                <a:solidFill>
                  <a:schemeClr val="accent1"/>
                </a:solidFill>
              </a:rPr>
            </a:br>
            <a:r>
              <a:rPr lang="en-GB" dirty="0">
                <a:solidFill>
                  <a:schemeClr val="accent1"/>
                </a:solidFill>
              </a:rPr>
              <a:t>(Day-1: 9 AM to 10 AM)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94A897-ED93-BC53-EB21-303C06F40A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02/12/2025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E13F42-8600-5ADE-0F49-B6E1AC662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0707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E98146-E13A-78F6-9F51-D22818F61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E39BB3-BB17-CF43-9DD8-009B2F4DC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Design Philosophy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58E4C43-608E-6781-2269-617A078F4855}"/>
              </a:ext>
            </a:extLst>
          </p:cNvPr>
          <p:cNvSpPr txBox="1"/>
          <p:nvPr/>
        </p:nvSpPr>
        <p:spPr>
          <a:xfrm>
            <a:off x="859971" y="1864861"/>
            <a:ext cx="10678886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6000" dirty="0">
                <a:solidFill>
                  <a:schemeClr val="bg1"/>
                </a:solidFill>
              </a:rPr>
              <a:t>In Robotics, </a:t>
            </a:r>
            <a:r>
              <a:rPr lang="en-GB" sz="6000" b="1" dirty="0">
                <a:solidFill>
                  <a:schemeClr val="accent4"/>
                </a:solidFill>
              </a:rPr>
              <a:t>true understanding is achieved not through theory</a:t>
            </a:r>
            <a:r>
              <a:rPr lang="en-GB" sz="6000" dirty="0">
                <a:solidFill>
                  <a:schemeClr val="bg1"/>
                </a:solidFill>
              </a:rPr>
              <a:t>, </a:t>
            </a:r>
            <a:r>
              <a:rPr lang="en-GB" sz="6000" dirty="0">
                <a:solidFill>
                  <a:schemeClr val="accent5"/>
                </a:solidFill>
              </a:rPr>
              <a:t>but through practical application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8D27FDC-0E02-FE0B-4A8B-0F43DEC28F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38BE16-2A25-CE72-3B31-C9A5128B62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02/12/2025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0D1AD60-0A1F-3B6A-EE45-4462EB44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743156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1F54FD7-7BAF-20C6-7BD8-8B4BD2C03C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57FFBA-FD79-120E-9AB2-E1692D0022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Doing Robotics - Challenges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240777F-019A-1D36-E76D-397EAFDD7174}"/>
              </a:ext>
            </a:extLst>
          </p:cNvPr>
          <p:cNvSpPr txBox="1"/>
          <p:nvPr/>
        </p:nvSpPr>
        <p:spPr>
          <a:xfrm>
            <a:off x="448190" y="1037547"/>
            <a:ext cx="8402365" cy="56938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5"/>
                </a:solidFill>
              </a:rPr>
              <a:t>Common Issues: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chemeClr val="bg1"/>
                </a:solidFill>
              </a:rPr>
              <a:t>Finding &amp; Sourcing Challenges; 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chemeClr val="bg1"/>
                </a:solidFill>
              </a:rPr>
              <a:t>Incomplete &amp; Unreliable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chemeClr val="bg1"/>
                </a:solidFill>
              </a:rPr>
              <a:t>Incompatible Issues as Complexity Increases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chemeClr val="bg1"/>
                </a:solidFill>
              </a:rPr>
              <a:t>Advanced Robotics – Import Tariffs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chemeClr val="bg1"/>
                </a:solidFill>
              </a:rPr>
              <a:t>Black Box Products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chemeClr val="bg1"/>
                </a:solidFill>
              </a:rPr>
              <a:t>Unstructured 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chemeClr val="bg1"/>
                </a:solidFill>
              </a:rPr>
              <a:t>Documentation &amp; Support Almost Non-Existent</a:t>
            </a:r>
            <a:endParaRPr lang="en-GB" sz="2800" b="1" dirty="0">
              <a:solidFill>
                <a:schemeClr val="accent4"/>
              </a:solidFill>
            </a:endParaRPr>
          </a:p>
          <a:p>
            <a:r>
              <a:rPr lang="en-GB" sz="2800" b="1" dirty="0">
                <a:solidFill>
                  <a:schemeClr val="accent4"/>
                </a:solidFill>
              </a:rPr>
              <a:t>Consequences of the Above Issues: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chemeClr val="bg1"/>
                </a:solidFill>
              </a:rPr>
              <a:t>Learning Remains Shallow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chemeClr val="bg1"/>
                </a:solidFill>
              </a:rPr>
              <a:t>Giving-up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chemeClr val="bg1"/>
                </a:solidFill>
              </a:rPr>
              <a:t>Challenging Projects are Not Executed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chemeClr val="bg1"/>
                </a:solidFill>
              </a:rPr>
              <a:t>Missed Career Opportunities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B8044D8-0F7A-ECD3-4409-75586978C4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147B5D-1C4D-3655-8E14-F62BE20DC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02/12/2025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4CD4F1-42C9-76D4-13DE-9E12262083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54306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374B20-643B-E6C6-7D3B-1CAAF352F4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B46078-47EC-5B68-C3FC-0F99D38E3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Doing Robotics - Challenges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5293B02-988B-EA07-C3D2-0808880471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363F03F-371A-6D60-BA2F-3C9E902DDD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08051"/>
            <a:ext cx="12192000" cy="5441897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A8C77E-05B8-F958-BAF4-8B78C4F06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02/12/2025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622C7C-7AE1-0E90-D408-86E67CF7AF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889404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E541FF8-D928-E391-BB67-10004205F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F9DC49-C440-4697-4828-4A4FD3E9EC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Design Philosophy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976FC7-8CCF-05CD-B35F-050055197057}"/>
              </a:ext>
            </a:extLst>
          </p:cNvPr>
          <p:cNvSpPr txBox="1"/>
          <p:nvPr/>
        </p:nvSpPr>
        <p:spPr>
          <a:xfrm>
            <a:off x="631370" y="987827"/>
            <a:ext cx="10896601" cy="57554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b="1" dirty="0">
                <a:solidFill>
                  <a:schemeClr val="accent5"/>
                </a:solidFill>
              </a:rPr>
              <a:t>Core Philosophy: Building for Mastery</a:t>
            </a:r>
          </a:p>
          <a:p>
            <a:r>
              <a:rPr lang="en-GB" sz="2400" b="1" dirty="0">
                <a:solidFill>
                  <a:schemeClr val="accent4"/>
                </a:solidFill>
              </a:rPr>
              <a:t>Prioritize Deep Understanding:</a:t>
            </a:r>
            <a:r>
              <a:rPr lang="en-GB" sz="2400" dirty="0">
                <a:solidFill>
                  <a:schemeClr val="bg1"/>
                </a:solidFill>
              </a:rPr>
              <a:t> Deconstruct systems rather than relying on 'Black Box' or pre-packaged solutions.</a:t>
            </a:r>
          </a:p>
          <a:p>
            <a:endParaRPr lang="en-GB" sz="2400" dirty="0">
              <a:solidFill>
                <a:schemeClr val="bg1"/>
              </a:solidFill>
            </a:endParaRPr>
          </a:p>
          <a:p>
            <a:r>
              <a:rPr lang="en-GB" sz="2400" b="1" dirty="0">
                <a:solidFill>
                  <a:schemeClr val="accent4"/>
                </a:solidFill>
              </a:rPr>
              <a:t>Bridge Theory to Application:</a:t>
            </a:r>
            <a:r>
              <a:rPr lang="en-GB" sz="2400" dirty="0">
                <a:solidFill>
                  <a:schemeClr val="bg1"/>
                </a:solidFill>
              </a:rPr>
              <a:t> Solidify foundational concepts by rapidly moving from theory to practical implementation.</a:t>
            </a:r>
          </a:p>
          <a:p>
            <a:endParaRPr lang="en-GB" sz="2400" b="1" dirty="0">
              <a:solidFill>
                <a:schemeClr val="accent4"/>
              </a:solidFill>
            </a:endParaRPr>
          </a:p>
          <a:p>
            <a:r>
              <a:rPr lang="en-GB" sz="2400" b="1" dirty="0">
                <a:solidFill>
                  <a:schemeClr val="accent4"/>
                </a:solidFill>
              </a:rPr>
              <a:t>Master Modular Design:</a:t>
            </a:r>
            <a:r>
              <a:rPr lang="en-GB" sz="2400" dirty="0">
                <a:solidFill>
                  <a:schemeClr val="bg1"/>
                </a:solidFill>
              </a:rPr>
              <a:t> Learn system configuration by actively adding, replacing, and integrating individual components.</a:t>
            </a:r>
          </a:p>
          <a:p>
            <a:endParaRPr lang="en-GB" sz="2400" b="1" dirty="0">
              <a:solidFill>
                <a:schemeClr val="accent4"/>
              </a:solidFill>
            </a:endParaRPr>
          </a:p>
          <a:p>
            <a:r>
              <a:rPr lang="en-GB" sz="2400" b="1" dirty="0">
                <a:solidFill>
                  <a:schemeClr val="accent4"/>
                </a:solidFill>
              </a:rPr>
              <a:t>Maximize Resource Efficiency:</a:t>
            </a:r>
            <a:r>
              <a:rPr lang="en-GB" sz="2400" dirty="0">
                <a:solidFill>
                  <a:schemeClr val="bg1"/>
                </a:solidFill>
              </a:rPr>
              <a:t> Develop projects using reusable and adaptable components across different prototypes.</a:t>
            </a:r>
          </a:p>
          <a:p>
            <a:endParaRPr lang="en-GB" sz="2400" b="1" dirty="0">
              <a:solidFill>
                <a:schemeClr val="accent4"/>
              </a:solidFill>
            </a:endParaRPr>
          </a:p>
          <a:p>
            <a:r>
              <a:rPr lang="en-GB" sz="2400" b="1" dirty="0">
                <a:solidFill>
                  <a:schemeClr val="accent4"/>
                </a:solidFill>
              </a:rPr>
              <a:t>Ensure Accessible Innovation:</a:t>
            </a:r>
            <a:r>
              <a:rPr lang="en-GB" sz="2400" dirty="0">
                <a:solidFill>
                  <a:schemeClr val="bg1"/>
                </a:solidFill>
              </a:rPr>
              <a:t> Maintain low-cost, high-impact projects to make learning widely accessible.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E887CA-1CB7-C351-8798-F0C7D44FCF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18DCD27-86EA-0122-0C00-4A9F9FC588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02/12/2025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645EDB-08C7-2AF7-EF16-D7E4D2BD8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38420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5D45EF-4149-E98E-AB80-67F824FCE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D1CC32-E421-9DB7-F032-0EBB091296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Design Philosophy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A0FE7A-B297-87A5-FC06-9F4B03ECD697}"/>
              </a:ext>
            </a:extLst>
          </p:cNvPr>
          <p:cNvSpPr txBox="1"/>
          <p:nvPr/>
        </p:nvSpPr>
        <p:spPr>
          <a:xfrm>
            <a:off x="587829" y="1499455"/>
            <a:ext cx="10983686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b="1" dirty="0">
                <a:solidFill>
                  <a:schemeClr val="accent5"/>
                </a:solidFill>
              </a:rPr>
              <a:t>Mandatory Lab Protocol</a:t>
            </a:r>
          </a:p>
          <a:p>
            <a:endParaRPr lang="en-GB" sz="3200" b="1" dirty="0">
              <a:solidFill>
                <a:schemeClr val="accent5"/>
              </a:solidFill>
            </a:endParaRPr>
          </a:p>
          <a:p>
            <a:r>
              <a:rPr lang="en-GB" sz="2400" b="1" dirty="0">
                <a:solidFill>
                  <a:schemeClr val="accent4"/>
                </a:solidFill>
              </a:rPr>
              <a:t>Strict Adherence to Safety:</a:t>
            </a:r>
            <a:r>
              <a:rPr lang="en-GB" sz="2400" dirty="0">
                <a:solidFill>
                  <a:schemeClr val="bg1"/>
                </a:solidFill>
              </a:rPr>
              <a:t> Uphold all health and safety procedures, regardless of the perceived low voltage or current of the equipment.</a:t>
            </a:r>
          </a:p>
          <a:p>
            <a:endParaRPr lang="en-GB" sz="2400" b="1" dirty="0">
              <a:solidFill>
                <a:schemeClr val="accent4"/>
              </a:solidFill>
            </a:endParaRPr>
          </a:p>
          <a:p>
            <a:r>
              <a:rPr lang="en-GB" sz="2400" b="1" dirty="0">
                <a:solidFill>
                  <a:schemeClr val="accent4"/>
                </a:solidFill>
              </a:rPr>
              <a:t>Implement the 'Four-Eyes Principle':</a:t>
            </a:r>
            <a:r>
              <a:rPr lang="en-GB" sz="2400" dirty="0">
                <a:solidFill>
                  <a:schemeClr val="bg1"/>
                </a:solidFill>
              </a:rPr>
              <a:t> Before engaging battery power, ensure critical system checks are independently verified by a second person.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D643809-F485-FC50-EC31-A10FAE0490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F13E14-0FCB-37F8-DDAE-BEA0E5E70C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02/12/2025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704D96-58D9-EE54-8FFA-8014EA6331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963820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FC41105-E123-B9EB-A359-3B1A8FCA2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BBE6C9-99CB-7945-811D-A05708B515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Design Philosophy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5D695F2-7897-9EDA-2552-BACAAD123616}"/>
              </a:ext>
            </a:extLst>
          </p:cNvPr>
          <p:cNvSpPr/>
          <p:nvPr/>
        </p:nvSpPr>
        <p:spPr>
          <a:xfrm>
            <a:off x="1306286" y="2100943"/>
            <a:ext cx="2688771" cy="153488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/>
              <a:t>Foundational</a:t>
            </a:r>
          </a:p>
          <a:p>
            <a:pPr algn="ctr"/>
            <a:r>
              <a:rPr lang="en-GB" dirty="0"/>
              <a:t>(15 Lessons/Labs)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0D5D825-FB01-989E-495F-E91C0C0C8E12}"/>
              </a:ext>
            </a:extLst>
          </p:cNvPr>
          <p:cNvSpPr/>
          <p:nvPr/>
        </p:nvSpPr>
        <p:spPr>
          <a:xfrm>
            <a:off x="4751614" y="2100943"/>
            <a:ext cx="2688771" cy="153488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Take Home</a:t>
            </a:r>
          </a:p>
          <a:p>
            <a:pPr algn="ctr"/>
            <a:r>
              <a:rPr lang="en-GB" dirty="0"/>
              <a:t>Projects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843F2A8-4DC5-12EA-4AAF-8B7A80286E34}"/>
              </a:ext>
            </a:extLst>
          </p:cNvPr>
          <p:cNvSpPr/>
          <p:nvPr/>
        </p:nvSpPr>
        <p:spPr>
          <a:xfrm>
            <a:off x="8196942" y="2100943"/>
            <a:ext cx="2688771" cy="153488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Capstone </a:t>
            </a:r>
          </a:p>
          <a:p>
            <a:pPr algn="ctr"/>
            <a:r>
              <a:rPr lang="en-GB" dirty="0"/>
              <a:t>Projects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1DDE92-3319-4CC1-2DDE-C1468469E682}"/>
              </a:ext>
            </a:extLst>
          </p:cNvPr>
          <p:cNvSpPr txBox="1"/>
          <p:nvPr/>
        </p:nvSpPr>
        <p:spPr>
          <a:xfrm>
            <a:off x="1306286" y="1611086"/>
            <a:ext cx="204940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accent4"/>
                </a:solidFill>
              </a:rPr>
              <a:t>Each Product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153757-876B-66FC-4F54-657C1E44F54C}"/>
              </a:ext>
            </a:extLst>
          </p:cNvPr>
          <p:cNvSpPr txBox="1"/>
          <p:nvPr/>
        </p:nvSpPr>
        <p:spPr>
          <a:xfrm>
            <a:off x="1306286" y="5040086"/>
            <a:ext cx="957942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Staff would  introduce the lab lesson, give a demo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Students follow the instructions and conduct the experiment under the supervision of staff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34A013-C117-7F1E-0175-5DB75C64E7FD}"/>
              </a:ext>
            </a:extLst>
          </p:cNvPr>
          <p:cNvSpPr txBox="1"/>
          <p:nvPr/>
        </p:nvSpPr>
        <p:spPr>
          <a:xfrm>
            <a:off x="1306285" y="4426021"/>
            <a:ext cx="40509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accent5"/>
                </a:solidFill>
              </a:rPr>
              <a:t>Foundational Lessons/Labs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B392A1D-0C28-6B7C-8618-B45E2D67E956}"/>
              </a:ext>
            </a:extLst>
          </p:cNvPr>
          <p:cNvCxnSpPr/>
          <p:nvPr/>
        </p:nvCxnSpPr>
        <p:spPr>
          <a:xfrm>
            <a:off x="1502229" y="4158343"/>
            <a:ext cx="218802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6108EA4-3FEC-C3B1-52DF-7443ED44E806}"/>
              </a:ext>
            </a:extLst>
          </p:cNvPr>
          <p:cNvCxnSpPr>
            <a:cxnSpLocks/>
          </p:cNvCxnSpPr>
          <p:nvPr/>
        </p:nvCxnSpPr>
        <p:spPr>
          <a:xfrm>
            <a:off x="5001986" y="4158343"/>
            <a:ext cx="569867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00DC291-77D3-5690-8E44-4EA639DEC611}"/>
              </a:ext>
            </a:extLst>
          </p:cNvPr>
          <p:cNvSpPr txBox="1"/>
          <p:nvPr/>
        </p:nvSpPr>
        <p:spPr>
          <a:xfrm>
            <a:off x="1279750" y="3672673"/>
            <a:ext cx="27418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solidFill>
                  <a:schemeClr val="accent5"/>
                </a:solidFill>
              </a:rPr>
              <a:t>Staff Responsibility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CE840E-1B16-607D-F514-9B8DFA7427CF}"/>
              </a:ext>
            </a:extLst>
          </p:cNvPr>
          <p:cNvSpPr txBox="1"/>
          <p:nvPr/>
        </p:nvSpPr>
        <p:spPr>
          <a:xfrm>
            <a:off x="5575954" y="3700865"/>
            <a:ext cx="45507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solidFill>
                  <a:schemeClr val="accent4"/>
                </a:solidFill>
              </a:rPr>
              <a:t>Students Initiative/Responsibility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83B58ED-037C-D57D-E569-A0962C39C2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E1CC65A4-E0C4-A508-DC8D-FA98683813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02/12/2025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7C54D92A-6128-A7C7-0DC5-4CE5C77546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95854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38B6FE-5F05-D0CC-8713-90D7C0840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CD6148-E4FA-8B16-C215-EB630D0E46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Design Philosophy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4189A3-F00F-2263-A53F-A90C54011540}"/>
              </a:ext>
            </a:extLst>
          </p:cNvPr>
          <p:cNvSpPr txBox="1"/>
          <p:nvPr/>
        </p:nvSpPr>
        <p:spPr>
          <a:xfrm>
            <a:off x="250372" y="1320575"/>
            <a:ext cx="31329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chemeClr val="accent5"/>
                </a:solidFill>
              </a:rPr>
              <a:t>Products Series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098B1B9-2C1D-FB89-A21E-2C6D13FAFC85}"/>
              </a:ext>
            </a:extLst>
          </p:cNvPr>
          <p:cNvSpPr/>
          <p:nvPr/>
        </p:nvSpPr>
        <p:spPr>
          <a:xfrm>
            <a:off x="990600" y="2231573"/>
            <a:ext cx="2394695" cy="132556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Sensors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D0E8DB6-7524-EE47-6A17-5B375CE86D46}"/>
              </a:ext>
            </a:extLst>
          </p:cNvPr>
          <p:cNvSpPr/>
          <p:nvPr/>
        </p:nvSpPr>
        <p:spPr>
          <a:xfrm>
            <a:off x="5040085" y="2231572"/>
            <a:ext cx="2394695" cy="132556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Motion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48BD9EB-12F9-A922-D87B-1D41D861CC0F}"/>
              </a:ext>
            </a:extLst>
          </p:cNvPr>
          <p:cNvSpPr/>
          <p:nvPr/>
        </p:nvSpPr>
        <p:spPr>
          <a:xfrm>
            <a:off x="9089571" y="2231571"/>
            <a:ext cx="2394695" cy="132556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Communications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0E10E44-CFBE-EE41-3E62-E8B437148EA5}"/>
              </a:ext>
            </a:extLst>
          </p:cNvPr>
          <p:cNvSpPr txBox="1"/>
          <p:nvPr/>
        </p:nvSpPr>
        <p:spPr>
          <a:xfrm>
            <a:off x="4554952" y="1771354"/>
            <a:ext cx="33649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accent4"/>
                </a:solidFill>
              </a:rPr>
              <a:t>Foundational Products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D552F823-F4CD-9AE7-9C90-8219790D6F06}"/>
              </a:ext>
            </a:extLst>
          </p:cNvPr>
          <p:cNvSpPr/>
          <p:nvPr/>
        </p:nvSpPr>
        <p:spPr>
          <a:xfrm>
            <a:off x="990600" y="4659086"/>
            <a:ext cx="2394695" cy="132556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Robot Car-1</a:t>
            </a:r>
          </a:p>
          <a:p>
            <a:pPr algn="ctr"/>
            <a:r>
              <a:rPr lang="en-GB" dirty="0"/>
              <a:t>(Sensors)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9D54BE3C-1583-80CA-F3FF-B0BAB7550BAE}"/>
              </a:ext>
            </a:extLst>
          </p:cNvPr>
          <p:cNvSpPr/>
          <p:nvPr/>
        </p:nvSpPr>
        <p:spPr>
          <a:xfrm>
            <a:off x="5040085" y="4659085"/>
            <a:ext cx="2394695" cy="132556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Robot Car-2</a:t>
            </a:r>
          </a:p>
          <a:p>
            <a:pPr algn="ctr"/>
            <a:r>
              <a:rPr lang="en-GB" dirty="0"/>
              <a:t>(Comms.)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464FDD1D-D2D0-1869-447A-965BD9EF08EE}"/>
              </a:ext>
            </a:extLst>
          </p:cNvPr>
          <p:cNvSpPr/>
          <p:nvPr/>
        </p:nvSpPr>
        <p:spPr>
          <a:xfrm>
            <a:off x="9089571" y="4659084"/>
            <a:ext cx="2394695" cy="132556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Robot Car-3</a:t>
            </a:r>
          </a:p>
          <a:p>
            <a:pPr algn="ctr"/>
            <a:r>
              <a:rPr lang="en-GB" dirty="0"/>
              <a:t>(Encoders/GPS/IMU)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F6366F-1BAC-B243-8F2A-C058DB5A1382}"/>
              </a:ext>
            </a:extLst>
          </p:cNvPr>
          <p:cNvSpPr txBox="1"/>
          <p:nvPr/>
        </p:nvSpPr>
        <p:spPr>
          <a:xfrm>
            <a:off x="4597416" y="4258277"/>
            <a:ext cx="29971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accent4"/>
                </a:solidFill>
              </a:rPr>
              <a:t>Navigational Robots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DA186A8-A322-AA8C-FD33-F56EEE9E23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989DE5-2714-1655-4051-E78CE90003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02/12/2025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1406DC-247F-FDFB-F99E-71A1033CC9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82460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ABA46D-D8E0-7CE0-E0AA-2F87BD125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C387D6-A5D8-968A-2CAD-D7029105B2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Design Philosophy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F58017-F28D-BC11-72B2-9FC35E726575}"/>
              </a:ext>
            </a:extLst>
          </p:cNvPr>
          <p:cNvSpPr txBox="1"/>
          <p:nvPr/>
        </p:nvSpPr>
        <p:spPr>
          <a:xfrm>
            <a:off x="783771" y="1314407"/>
            <a:ext cx="71937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accent4"/>
                </a:solidFill>
              </a:rPr>
              <a:t>Avoid Blackbox Approach to Lay Firm Foundations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7773D7E-03FD-4E3E-406A-2FA52495A1A8}"/>
              </a:ext>
            </a:extLst>
          </p:cNvPr>
          <p:cNvSpPr txBox="1"/>
          <p:nvPr/>
        </p:nvSpPr>
        <p:spPr>
          <a:xfrm>
            <a:off x="783771" y="1964353"/>
            <a:ext cx="10721397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solidFill>
                  <a:schemeClr val="accent5"/>
                </a:solidFill>
              </a:rPr>
              <a:t>Sensors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Conduct all 15 lessons/labs on both the </a:t>
            </a:r>
            <a:r>
              <a:rPr lang="en-GB" sz="2400" dirty="0">
                <a:solidFill>
                  <a:schemeClr val="accent4"/>
                </a:solidFill>
              </a:rPr>
              <a:t>Bread Board</a:t>
            </a:r>
            <a:r>
              <a:rPr lang="en-GB" sz="2400" dirty="0">
                <a:solidFill>
                  <a:schemeClr val="bg1"/>
                </a:solidFill>
              </a:rPr>
              <a:t> and </a:t>
            </a:r>
            <a:r>
              <a:rPr lang="en-GB" sz="2400" dirty="0">
                <a:solidFill>
                  <a:schemeClr val="accent5"/>
                </a:solidFill>
              </a:rPr>
              <a:t>Creative Board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r>
              <a:rPr lang="en-GB" sz="2400" dirty="0">
                <a:solidFill>
                  <a:schemeClr val="accent5"/>
                </a:solidFill>
              </a:rPr>
              <a:t>Motion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Conduct DC Motor &amp; Stepper Motor labs on a </a:t>
            </a:r>
            <a:r>
              <a:rPr lang="en-GB" sz="2400" dirty="0">
                <a:solidFill>
                  <a:schemeClr val="accent4"/>
                </a:solidFill>
              </a:rPr>
              <a:t>Bread Board</a:t>
            </a:r>
            <a:r>
              <a:rPr lang="en-GB" sz="2400" dirty="0">
                <a:solidFill>
                  <a:schemeClr val="bg1"/>
                </a:solidFill>
              </a:rPr>
              <a:t> and </a:t>
            </a:r>
            <a:r>
              <a:rPr lang="en-GB" sz="2400" dirty="0">
                <a:solidFill>
                  <a:schemeClr val="accent5"/>
                </a:solidFill>
              </a:rPr>
              <a:t>Creative Board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Remaining Lessons/Labs on the </a:t>
            </a:r>
            <a:r>
              <a:rPr lang="en-GB" sz="2400" dirty="0">
                <a:solidFill>
                  <a:schemeClr val="accent5"/>
                </a:solidFill>
              </a:rPr>
              <a:t>Creative Board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r>
              <a:rPr lang="en-GB" sz="2400" dirty="0">
                <a:solidFill>
                  <a:schemeClr val="accent5"/>
                </a:solidFill>
              </a:rPr>
              <a:t>Communications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Conduct NRF &amp; LoRa labs on a </a:t>
            </a:r>
            <a:r>
              <a:rPr lang="en-GB" sz="2400" dirty="0">
                <a:solidFill>
                  <a:schemeClr val="accent4"/>
                </a:solidFill>
              </a:rPr>
              <a:t>Bread Board </a:t>
            </a:r>
            <a:r>
              <a:rPr lang="en-GB" sz="2400" dirty="0">
                <a:solidFill>
                  <a:schemeClr val="bg1"/>
                </a:solidFill>
              </a:rPr>
              <a:t>and </a:t>
            </a:r>
            <a:r>
              <a:rPr lang="en-GB" sz="2400" dirty="0">
                <a:solidFill>
                  <a:schemeClr val="accent5"/>
                </a:solidFill>
              </a:rPr>
              <a:t>Creative Board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Remaining Lessons/Labs on the </a:t>
            </a:r>
            <a:r>
              <a:rPr lang="en-GB" sz="2400" dirty="0">
                <a:solidFill>
                  <a:schemeClr val="accent5"/>
                </a:solidFill>
              </a:rPr>
              <a:t>Creative Board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4031DE6-D871-79D4-1C9C-96AB83BA88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63C0B1-7FDA-B11C-3382-79F79D2629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02/12/2025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384BCB-1FAF-2CB2-894F-79F03DD6F2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91787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C78A98-309D-D217-5A5F-156CDBE432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BFC51F-1337-07F1-AC4C-00476E07B6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Tools Recommended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0CA63F7-C6E0-06E8-D73F-5433E13CA5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5A0FF4B-ECAE-2F5C-E83B-9C07868291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1901100"/>
              </p:ext>
            </p:extLst>
          </p:nvPr>
        </p:nvGraphicFramePr>
        <p:xfrm>
          <a:off x="435429" y="1138921"/>
          <a:ext cx="11286669" cy="509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62223">
                  <a:extLst>
                    <a:ext uri="{9D8B030D-6E8A-4147-A177-3AD203B41FA5}">
                      <a16:colId xmlns:a16="http://schemas.microsoft.com/office/drawing/2014/main" val="1939397217"/>
                    </a:ext>
                  </a:extLst>
                </a:gridCol>
                <a:gridCol w="1707309">
                  <a:extLst>
                    <a:ext uri="{9D8B030D-6E8A-4147-A177-3AD203B41FA5}">
                      <a16:colId xmlns:a16="http://schemas.microsoft.com/office/drawing/2014/main" val="3552057915"/>
                    </a:ext>
                  </a:extLst>
                </a:gridCol>
                <a:gridCol w="5817137">
                  <a:extLst>
                    <a:ext uri="{9D8B030D-6E8A-4147-A177-3AD203B41FA5}">
                      <a16:colId xmlns:a16="http://schemas.microsoft.com/office/drawing/2014/main" val="247272047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Name (Tool/Hardware)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Specifications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838748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Screws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M2/M2.5/M3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Length: 6mm, 8mm and 10mm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78168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Washers &amp; Nuts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M2/M2.5/M3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Nylon and/or metal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24893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Standoffs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M2/M2.5/M3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Length: 10mm, 12mm, 20mm, 25mm, and 30mm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82878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Screw Drivers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M2/M2.5/M3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Hex, Philips, Flat Head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50071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Jumper Cables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Dupont, JST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Stock of cables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19627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 err="1"/>
                        <a:t>Multimeter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Digital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18233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Soldering Station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Weller or Hacko brand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19277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Plastic Containers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For organising the components, PCB Boards etc.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10862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Inventory List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Due to small components highly recommended to keep a strict registry of components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61049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Magnifying Lens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To read small prints on PCBs &amp; Components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03715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Batteries &amp; Battery Charger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Large storage and large capacity chargers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29749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Cutting pliers, scissors, etc.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7125785"/>
                  </a:ext>
                </a:extLst>
              </a:tr>
            </a:tbl>
          </a:graphicData>
        </a:graphic>
      </p:graphicFrame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E87E399-7C8B-93FB-2077-9989E0235E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02/12/2025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CBA3D7F-D091-C2E8-417D-2E5DADE1A2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07338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079D49-9492-60D3-90E8-1B518FD49C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82838-7D45-88A5-D3F2-18150972E2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Routine Restock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4C46F09-F1B4-9462-3FA1-BA9524E90E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D74852D-728A-DF3B-FACA-D38859119E35}"/>
              </a:ext>
            </a:extLst>
          </p:cNvPr>
          <p:cNvSpPr txBox="1"/>
          <p:nvPr/>
        </p:nvSpPr>
        <p:spPr>
          <a:xfrm>
            <a:off x="735301" y="1320575"/>
            <a:ext cx="1076001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chemeClr val="accent1"/>
                </a:solidFill>
              </a:rPr>
              <a:t>Look out for new types of sensors &amp; purchase them to extend the AI &amp; Robotics lab capabilities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chemeClr val="accent1"/>
                </a:solidFill>
              </a:rPr>
              <a:t>Replace/restock damaged sensors at regular intervals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43B2F02-B903-DE9D-422E-3DA067A84E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02/12/2025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48C2A0-1F87-381B-2391-BAC57B37F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88207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C312A2-E328-D3FC-0F32-E498D1CEB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F6D100-9B44-EBA2-5A4B-205B48CC16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934155"/>
            <a:ext cx="12192000" cy="1325563"/>
          </a:xfrm>
        </p:spPr>
        <p:txBody>
          <a:bodyPr/>
          <a:lstStyle/>
          <a:p>
            <a:pPr algn="ctr"/>
            <a:r>
              <a:rPr lang="en-GB" dirty="0">
                <a:solidFill>
                  <a:schemeClr val="accent1"/>
                </a:solidFill>
              </a:rPr>
              <a:t>Sensors</a:t>
            </a:r>
            <a:br>
              <a:rPr lang="en-GB" dirty="0">
                <a:solidFill>
                  <a:schemeClr val="accent1"/>
                </a:solidFill>
              </a:rPr>
            </a:br>
            <a:r>
              <a:rPr lang="en-GB" dirty="0">
                <a:solidFill>
                  <a:schemeClr val="accent1"/>
                </a:solidFill>
              </a:rPr>
              <a:t>(Day-1: 10 AM to 12 PM)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616A267-B597-4C4C-3D70-028157180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02/12/2025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DE434B-4D30-8DAA-ABD5-8ABA119E5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12343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DD7E49-AA00-681B-0F72-5E521F9B5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50A92C-4DB1-066B-E3AE-6FD3CDA219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Sensors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5C1E47D-2E0C-92B6-960A-7B8ACF4DCD57}"/>
              </a:ext>
            </a:extLst>
          </p:cNvPr>
          <p:cNvSpPr txBox="1"/>
          <p:nvPr/>
        </p:nvSpPr>
        <p:spPr>
          <a:xfrm>
            <a:off x="10884" y="977675"/>
            <a:ext cx="12170232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b="1" dirty="0">
                <a:solidFill>
                  <a:schemeClr val="accent4"/>
                </a:solidFill>
              </a:rPr>
              <a:t>Review the Contents in the Box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Review &amp; Discuss the Sensors Creative Board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Discuss the Health &amp; Safety Precautions, Power Supply and Sensor Modules V/G Pins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Conduct the Following Labs on both the </a:t>
            </a:r>
            <a:r>
              <a:rPr lang="en-GB" sz="2400" dirty="0">
                <a:solidFill>
                  <a:schemeClr val="accent4"/>
                </a:solidFill>
              </a:rPr>
              <a:t>Bread Board</a:t>
            </a:r>
            <a:r>
              <a:rPr lang="en-GB" sz="2400" dirty="0">
                <a:solidFill>
                  <a:schemeClr val="bg1"/>
                </a:solidFill>
              </a:rPr>
              <a:t> and </a:t>
            </a:r>
            <a:r>
              <a:rPr lang="en-GB" sz="2400" dirty="0">
                <a:solidFill>
                  <a:schemeClr val="accent5"/>
                </a:solidFill>
              </a:rPr>
              <a:t>Creative Board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OLED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Ultrasonic Sensor</a:t>
            </a:r>
            <a:endParaRPr lang="en-GB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Discuss the </a:t>
            </a:r>
            <a:r>
              <a:rPr lang="en-GB" sz="2400" u="sng" dirty="0">
                <a:solidFill>
                  <a:schemeClr val="accent1"/>
                </a:solidFill>
              </a:rPr>
              <a:t>Bread Board</a:t>
            </a:r>
            <a:r>
              <a:rPr lang="en-GB" sz="2400" u="sng" dirty="0">
                <a:solidFill>
                  <a:schemeClr val="bg1"/>
                </a:solidFill>
              </a:rPr>
              <a:t> feature of the </a:t>
            </a:r>
            <a:r>
              <a:rPr lang="en-GB" sz="2400" u="sng" dirty="0">
                <a:solidFill>
                  <a:schemeClr val="accent5"/>
                </a:solidFill>
              </a:rPr>
              <a:t>Creative Board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u="sng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Discuss the Free Connector Concept of </a:t>
            </a:r>
            <a:r>
              <a:rPr lang="en-GB" sz="2400" u="sng" dirty="0">
                <a:solidFill>
                  <a:schemeClr val="accent5"/>
                </a:solidFill>
              </a:rPr>
              <a:t>Creative Board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Conduct the Following Lab on the </a:t>
            </a:r>
            <a:r>
              <a:rPr lang="en-GB" sz="2400" u="sng" dirty="0">
                <a:solidFill>
                  <a:schemeClr val="accent1"/>
                </a:solidFill>
              </a:rPr>
              <a:t>Bread Board</a:t>
            </a:r>
            <a:r>
              <a:rPr lang="en-GB" sz="2400" u="sng" dirty="0">
                <a:solidFill>
                  <a:schemeClr val="bg1"/>
                </a:solidFill>
              </a:rPr>
              <a:t> feature of the </a:t>
            </a:r>
            <a:r>
              <a:rPr lang="en-GB" sz="2400" u="sng" dirty="0">
                <a:solidFill>
                  <a:schemeClr val="accent5"/>
                </a:solidFill>
              </a:rPr>
              <a:t>Creative Board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Gas Sensor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OLED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0702879-BC7B-9ED8-7837-393D44C671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F15ECA-0188-D4B8-42EA-FA7D96FA74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02/12/2025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82090A-F48B-F6DE-46B8-DEFFA92EB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69237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6C26D95-808E-AFCF-2CB7-B6F0823C1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C4AD3A-8ACE-5F1F-A089-6E49F25BFC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934155"/>
            <a:ext cx="12192000" cy="1325563"/>
          </a:xfrm>
        </p:spPr>
        <p:txBody>
          <a:bodyPr/>
          <a:lstStyle/>
          <a:p>
            <a:pPr algn="ctr"/>
            <a:r>
              <a:rPr lang="en-GB" dirty="0">
                <a:solidFill>
                  <a:schemeClr val="accent1"/>
                </a:solidFill>
              </a:rPr>
              <a:t>Motion</a:t>
            </a:r>
            <a:br>
              <a:rPr lang="en-GB" dirty="0">
                <a:solidFill>
                  <a:schemeClr val="accent1"/>
                </a:solidFill>
              </a:rPr>
            </a:br>
            <a:r>
              <a:rPr lang="en-GB" dirty="0">
                <a:solidFill>
                  <a:schemeClr val="accent1"/>
                </a:solidFill>
              </a:rPr>
              <a:t>(Day-1: 1 PM to 3 PM)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74D2E5-50C5-5B63-531F-FED61FF75B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02/12/2025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E4F891-D427-E505-95D5-DEA685C75E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410536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F681BD-7BBB-877C-DF26-A67D0773B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3E3FA3-F13E-2E6F-9FB3-D6768582DF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Motion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3349F5-019B-F31A-E1ED-462C2A8733A0}"/>
              </a:ext>
            </a:extLst>
          </p:cNvPr>
          <p:cNvSpPr txBox="1"/>
          <p:nvPr/>
        </p:nvSpPr>
        <p:spPr>
          <a:xfrm>
            <a:off x="10885" y="1102861"/>
            <a:ext cx="12170232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b="1" dirty="0">
                <a:solidFill>
                  <a:schemeClr val="accent4"/>
                </a:solidFill>
              </a:rPr>
              <a:t>Review the Contents in the Box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Review &amp; Discuss the Motion Creative Board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Discuss the Health &amp; Safety Precautions, Power Supply and Sensor Modules V/G Pins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Conduct the Following Labs on both the </a:t>
            </a:r>
            <a:r>
              <a:rPr lang="en-GB" sz="2400" dirty="0">
                <a:solidFill>
                  <a:schemeClr val="accent4"/>
                </a:solidFill>
              </a:rPr>
              <a:t>Bread Board</a:t>
            </a:r>
            <a:r>
              <a:rPr lang="en-GB" sz="2400" dirty="0">
                <a:solidFill>
                  <a:schemeClr val="bg1"/>
                </a:solidFill>
              </a:rPr>
              <a:t> and </a:t>
            </a:r>
            <a:r>
              <a:rPr lang="en-GB" sz="2400" dirty="0">
                <a:solidFill>
                  <a:schemeClr val="accent5"/>
                </a:solidFill>
              </a:rPr>
              <a:t>Creative Board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DC Motor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Conduct the Following Labs on the </a:t>
            </a:r>
            <a:r>
              <a:rPr lang="en-GB" sz="2400" dirty="0">
                <a:solidFill>
                  <a:schemeClr val="accent5"/>
                </a:solidFill>
              </a:rPr>
              <a:t>Creative Board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DC Motor Encoder – Ticks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DC Motor Encoder – PID Controller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Discuss the </a:t>
            </a:r>
            <a:r>
              <a:rPr lang="en-GB" sz="2400" u="sng" dirty="0">
                <a:solidFill>
                  <a:schemeClr val="accent1"/>
                </a:solidFill>
              </a:rPr>
              <a:t>Bread Board</a:t>
            </a:r>
            <a:r>
              <a:rPr lang="en-GB" sz="2400" u="sng" dirty="0">
                <a:solidFill>
                  <a:schemeClr val="bg1"/>
                </a:solidFill>
              </a:rPr>
              <a:t> feature of the </a:t>
            </a:r>
            <a:r>
              <a:rPr lang="en-GB" sz="2400" u="sng" dirty="0">
                <a:solidFill>
                  <a:schemeClr val="accent5"/>
                </a:solidFill>
              </a:rPr>
              <a:t>Creative Board &amp; Free Connector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CAD4EDE-DB76-7975-F261-3BC60C9E62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EF1D22-AA60-0CDE-F16F-0F1D372203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02/12/2025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9C4459-D7F6-E257-CA81-50A9957972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13712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07A9717-9443-18BB-035E-4D4CC73D1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2450A7-CD1C-FDE8-E6A1-9EC3AEA70F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934155"/>
            <a:ext cx="12192000" cy="1325563"/>
          </a:xfrm>
        </p:spPr>
        <p:txBody>
          <a:bodyPr/>
          <a:lstStyle/>
          <a:p>
            <a:pPr algn="ctr"/>
            <a:r>
              <a:rPr lang="en-GB" dirty="0">
                <a:solidFill>
                  <a:schemeClr val="accent1"/>
                </a:solidFill>
              </a:rPr>
              <a:t>Communications</a:t>
            </a:r>
            <a:br>
              <a:rPr lang="en-GB" dirty="0">
                <a:solidFill>
                  <a:schemeClr val="accent1"/>
                </a:solidFill>
              </a:rPr>
            </a:br>
            <a:r>
              <a:rPr lang="en-GB" dirty="0">
                <a:solidFill>
                  <a:schemeClr val="accent1"/>
                </a:solidFill>
              </a:rPr>
              <a:t>(Day-1: 3 PM to 5 PM)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36396A-060B-CBA3-D093-779F479363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02/12/2025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81A61F-6B3D-98B2-1194-AAC5062090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261559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BE29D4-CF24-9712-0C15-07EA836BA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F24C2-4D49-091F-4E2E-E1259B6046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Communications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BA5D58-D7BD-496E-AA57-62A506799CA3}"/>
              </a:ext>
            </a:extLst>
          </p:cNvPr>
          <p:cNvSpPr txBox="1"/>
          <p:nvPr/>
        </p:nvSpPr>
        <p:spPr>
          <a:xfrm>
            <a:off x="142875" y="1000535"/>
            <a:ext cx="11906250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b="1" dirty="0">
                <a:solidFill>
                  <a:schemeClr val="accent4"/>
                </a:solidFill>
              </a:rPr>
              <a:t>Review the Contents in the Box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Review &amp; Discuss the Communication Creative Board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Discuss the Health &amp; Safety Precautions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Conduct the Following Labs on both the </a:t>
            </a:r>
            <a:r>
              <a:rPr lang="en-GB" sz="2400" dirty="0">
                <a:solidFill>
                  <a:schemeClr val="accent4"/>
                </a:solidFill>
              </a:rPr>
              <a:t>Bread Board</a:t>
            </a:r>
            <a:r>
              <a:rPr lang="en-GB" sz="2400" dirty="0">
                <a:solidFill>
                  <a:schemeClr val="bg1"/>
                </a:solidFill>
              </a:rPr>
              <a:t> and </a:t>
            </a:r>
            <a:r>
              <a:rPr lang="en-GB" sz="2400" dirty="0">
                <a:solidFill>
                  <a:schemeClr val="accent5"/>
                </a:solidFill>
              </a:rPr>
              <a:t>Creative Board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RFID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Conduct the Following Labs on the </a:t>
            </a:r>
            <a:r>
              <a:rPr lang="en-GB" sz="2400" dirty="0">
                <a:solidFill>
                  <a:schemeClr val="accent5"/>
                </a:solidFill>
              </a:rPr>
              <a:t>Creative Board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NRF24L01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Discuss the SD Card module and practice memory card insertion/removal/formatting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Discuss the </a:t>
            </a:r>
            <a:r>
              <a:rPr lang="en-GB" sz="2400" u="sng" dirty="0">
                <a:solidFill>
                  <a:schemeClr val="accent1"/>
                </a:solidFill>
              </a:rPr>
              <a:t>Bread Board</a:t>
            </a:r>
            <a:r>
              <a:rPr lang="en-GB" sz="2400" u="sng" dirty="0">
                <a:solidFill>
                  <a:schemeClr val="bg1"/>
                </a:solidFill>
              </a:rPr>
              <a:t> of the </a:t>
            </a:r>
            <a:r>
              <a:rPr lang="en-GB" sz="2400" u="sng" dirty="0">
                <a:solidFill>
                  <a:schemeClr val="accent5"/>
                </a:solidFill>
              </a:rPr>
              <a:t>Creative Board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13F4DC-70C3-5490-8CA9-BEE2911EB2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F9D729-CFC4-9D53-15DA-22AA993104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02/12/2025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E2CE88-26B4-687B-16FC-1CF4219A5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66238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C7D19D-B2CF-F8AE-0F28-E3AB3A5EA9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88FD4-0073-8E3B-4079-DD2304EB41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934155"/>
            <a:ext cx="12192000" cy="1325563"/>
          </a:xfrm>
        </p:spPr>
        <p:txBody>
          <a:bodyPr/>
          <a:lstStyle/>
          <a:p>
            <a:pPr algn="ctr"/>
            <a:r>
              <a:rPr lang="en-GB" dirty="0">
                <a:solidFill>
                  <a:schemeClr val="accent1"/>
                </a:solidFill>
              </a:rPr>
              <a:t>Robot Car-1</a:t>
            </a:r>
            <a:br>
              <a:rPr lang="en-GB" dirty="0">
                <a:solidFill>
                  <a:schemeClr val="accent1"/>
                </a:solidFill>
              </a:rPr>
            </a:br>
            <a:r>
              <a:rPr lang="en-GB" dirty="0">
                <a:solidFill>
                  <a:schemeClr val="accent1"/>
                </a:solidFill>
              </a:rPr>
              <a:t>(Day-2: 9.30 AM to 12 PM)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6CFB962-D8CC-4893-0F3B-DF2F941F97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02/12/2025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B8712C-5311-782E-743F-DC16C70B9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16191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6A7405-F2C3-19D4-191D-778D09D7C4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7C001C-8D46-D10A-2DC5-E898A62615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Navigational Robot Car-1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79669D-D00B-A06F-DD64-BAA628E3D946}"/>
              </a:ext>
            </a:extLst>
          </p:cNvPr>
          <p:cNvSpPr txBox="1"/>
          <p:nvPr/>
        </p:nvSpPr>
        <p:spPr>
          <a:xfrm>
            <a:off x="142875" y="1000535"/>
            <a:ext cx="11906250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b="1" dirty="0">
                <a:solidFill>
                  <a:schemeClr val="accent4"/>
                </a:solidFill>
              </a:rPr>
              <a:t>Review the Contents in the Box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Review &amp; Discuss the Motor Controller Board, Assembly, Power Supply etc.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Discuss the Health &amp; Safety Precautions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Practice the Following Lab</a:t>
            </a:r>
            <a:endParaRPr lang="en-GB" sz="2400" dirty="0">
              <a:solidFill>
                <a:schemeClr val="accent5"/>
              </a:solidFill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Car Basic Movements; how to correct directions (by swapping the pins)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Practice the IR Sensor Calibration</a:t>
            </a:r>
            <a:endParaRPr lang="en-GB" sz="2400" dirty="0">
              <a:solidFill>
                <a:schemeClr val="accent5"/>
              </a:solidFill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Practice the Edge or IR Obstacle Mode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1C72A67-20EF-4D59-9457-012B0891DE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2EE867-B3AF-C286-A60F-210E54797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02/12/2025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DB784F-3C09-F3A5-C4C8-C7D8DB55D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6492795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6B8719-C813-1640-56C9-6156B0AD7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C8A08-6C02-438B-DB5E-D1D5C594B1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934155"/>
            <a:ext cx="12192000" cy="1325563"/>
          </a:xfrm>
        </p:spPr>
        <p:txBody>
          <a:bodyPr/>
          <a:lstStyle/>
          <a:p>
            <a:pPr algn="ctr"/>
            <a:r>
              <a:rPr lang="en-GB" dirty="0">
                <a:solidFill>
                  <a:schemeClr val="accent1"/>
                </a:solidFill>
              </a:rPr>
              <a:t>Robot Car-2</a:t>
            </a:r>
            <a:br>
              <a:rPr lang="en-GB" dirty="0">
                <a:solidFill>
                  <a:schemeClr val="accent1"/>
                </a:solidFill>
              </a:rPr>
            </a:br>
            <a:r>
              <a:rPr lang="en-GB" dirty="0">
                <a:solidFill>
                  <a:schemeClr val="accent1"/>
                </a:solidFill>
              </a:rPr>
              <a:t>(Day-2: 1 PM to 3 PM)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312B4E-9DF7-BFDD-A51A-90B86B51DB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02/12/2025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D0300C-7DB8-86BF-446D-1B8E04634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293925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E84758D-B044-65C7-020E-4A076E274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FD7767-459B-DA1B-0866-BA47D620A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Navigational Robot Car-2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656C9E-F22D-3625-74C9-F59ACC161F8B}"/>
              </a:ext>
            </a:extLst>
          </p:cNvPr>
          <p:cNvSpPr txBox="1"/>
          <p:nvPr/>
        </p:nvSpPr>
        <p:spPr>
          <a:xfrm>
            <a:off x="142875" y="1000535"/>
            <a:ext cx="11906250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b="1" dirty="0">
                <a:solidFill>
                  <a:schemeClr val="accent4"/>
                </a:solidFill>
              </a:rPr>
              <a:t>Review the Contents in the Box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Review &amp; Discuss the Motor Controller Board, Assembly, Power Supply etc.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Discuss the Health &amp; Safety Precautions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Practice the Following Lab</a:t>
            </a:r>
            <a:endParaRPr lang="en-GB" sz="2400" dirty="0">
              <a:solidFill>
                <a:schemeClr val="accent5"/>
              </a:solidFill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Car Basic Movements; how to correct directions (by swapping the pins)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Practice the Remote Setup for: Joystick, Accelerometer and Buttons</a:t>
            </a:r>
            <a:endParaRPr lang="en-GB" sz="2400" dirty="0">
              <a:solidFill>
                <a:schemeClr val="accent5"/>
              </a:solidFill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Discuss the Free Connectors, Gesture Sensor for Enhancements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329BB16-B275-B221-B022-0CD08667BC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5B2D7F-1308-087D-93BF-D762FC6960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02/12/2025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58BE62-4299-930B-40D5-60DB83CEBE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8873829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2C05EA-BFC7-BC6B-F5F8-E9E9B311D7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182EE5-5AEF-AB38-4FD1-BB34AEEDEE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934155"/>
            <a:ext cx="12192000" cy="1325563"/>
          </a:xfrm>
        </p:spPr>
        <p:txBody>
          <a:bodyPr/>
          <a:lstStyle/>
          <a:p>
            <a:pPr algn="ctr"/>
            <a:r>
              <a:rPr lang="en-GB" dirty="0">
                <a:solidFill>
                  <a:schemeClr val="accent1"/>
                </a:solidFill>
              </a:rPr>
              <a:t>Robot Car-3</a:t>
            </a:r>
            <a:br>
              <a:rPr lang="en-GB" dirty="0">
                <a:solidFill>
                  <a:schemeClr val="accent1"/>
                </a:solidFill>
              </a:rPr>
            </a:br>
            <a:r>
              <a:rPr lang="en-GB" dirty="0">
                <a:solidFill>
                  <a:schemeClr val="accent1"/>
                </a:solidFill>
              </a:rPr>
              <a:t>(Day-2: 3 PM to 5 PM)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FF36056-CF47-E2D4-EC9E-C9DDF98EAD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02/12/2025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7B3A3B-29AB-338B-7F54-9D81C5DFF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2334698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8FD04A-6AE2-1C7A-8B20-9697E653E2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A1BFCA-59AF-2C1C-495B-6A13ACA398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Navigational Robot Car-3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7CF12A-3D73-F375-4F60-DD4414E671EA}"/>
              </a:ext>
            </a:extLst>
          </p:cNvPr>
          <p:cNvSpPr txBox="1"/>
          <p:nvPr/>
        </p:nvSpPr>
        <p:spPr>
          <a:xfrm>
            <a:off x="142875" y="1000535"/>
            <a:ext cx="11906250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b="1" dirty="0">
                <a:solidFill>
                  <a:schemeClr val="accent4"/>
                </a:solidFill>
              </a:rPr>
              <a:t>Review the Contents in the Box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Review &amp; Discuss the Motor Controller Board, Assembly, Power Supply etc.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Discuss the Health &amp; Safety Precautions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Practice the Following Lab</a:t>
            </a:r>
            <a:endParaRPr lang="en-GB" sz="2400" dirty="0">
              <a:solidFill>
                <a:schemeClr val="accent5"/>
              </a:solidFill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Car Basic Movements; how to correct directions (by swapping the pins)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Constant Speed via PID Controller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Read &amp; Display – GPS (Discuss the importance of removing GPS module while uploading)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Read &amp; Display – Digital Compass Bearing</a:t>
            </a:r>
          </a:p>
          <a:p>
            <a:pPr lvl="1"/>
            <a:endParaRPr lang="en-GB" sz="2400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DE3AB7C-9620-6343-F3BD-7C62890B8F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F484CBC-4E47-B204-AF1B-CB0B4668A7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02/12/2025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518F08-404B-206D-4256-06CA8E50DA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93974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C37D3D6-2E5B-62B1-6993-9DD9AE050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1FEE45-CA3D-0209-9015-DEC9BD5E15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</p:spPr>
        <p:txBody>
          <a:bodyPr/>
          <a:lstStyle/>
          <a:p>
            <a:r>
              <a:rPr lang="en-GB" dirty="0">
                <a:solidFill>
                  <a:schemeClr val="accent1"/>
                </a:solidFill>
              </a:rPr>
              <a:t>Q&amp;A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BC09462-9672-5184-FF59-0C816AEEBB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02/12/2025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86D96F-27A4-62D6-7569-44CEA7A429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2963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ZASRobotics">
      <a:dk1>
        <a:sysClr val="windowText" lastClr="000000"/>
      </a:dk1>
      <a:lt1>
        <a:sysClr val="window" lastClr="FFFFFF"/>
      </a:lt1>
      <a:dk2>
        <a:srgbClr val="0E2841"/>
      </a:dk2>
      <a:lt2>
        <a:srgbClr val="8ECAE6"/>
      </a:lt2>
      <a:accent1>
        <a:srgbClr val="219EBC"/>
      </a:accent1>
      <a:accent2>
        <a:srgbClr val="8ECAE6"/>
      </a:accent2>
      <a:accent3>
        <a:srgbClr val="023047"/>
      </a:accent3>
      <a:accent4>
        <a:srgbClr val="FF715B"/>
      </a:accent4>
      <a:accent5>
        <a:srgbClr val="F9CB4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1158</Words>
  <Application>Microsoft Office PowerPoint</Application>
  <PresentationFormat>Widescreen</PresentationFormat>
  <Paragraphs>292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0" baseType="lpstr">
      <vt:lpstr>Aptos</vt:lpstr>
      <vt:lpstr>Aptos Display</vt:lpstr>
      <vt:lpstr>Arial</vt:lpstr>
      <vt:lpstr>Office Theme</vt:lpstr>
      <vt:lpstr>ZAS Robotic Products</vt:lpstr>
      <vt:lpstr>Faculty Training Agenda</vt:lpstr>
      <vt:lpstr>Design Philosophy (Day-1: 9 AM to 10 AM)</vt:lpstr>
      <vt:lpstr>Design Philosophy</vt:lpstr>
      <vt:lpstr>Doing Robotics - Challenges</vt:lpstr>
      <vt:lpstr>Doing Robotics - Challenges</vt:lpstr>
      <vt:lpstr>Design Philosophy</vt:lpstr>
      <vt:lpstr>Design Philosophy</vt:lpstr>
      <vt:lpstr>Design Philosophy</vt:lpstr>
      <vt:lpstr>Design Philosophy</vt:lpstr>
      <vt:lpstr>Design Philosophy</vt:lpstr>
      <vt:lpstr>Tools Recommended</vt:lpstr>
      <vt:lpstr>Routine Restock</vt:lpstr>
      <vt:lpstr>Sensors (Day-1: 10 AM to 12 PM)</vt:lpstr>
      <vt:lpstr>Sensors</vt:lpstr>
      <vt:lpstr>Motion (Day-1: 1 PM to 3 PM)</vt:lpstr>
      <vt:lpstr>Motion</vt:lpstr>
      <vt:lpstr>Communications (Day-1: 3 PM to 5 PM)</vt:lpstr>
      <vt:lpstr>Communications</vt:lpstr>
      <vt:lpstr>Robot Car-1 (Day-2: 9.30 AM to 12 PM)</vt:lpstr>
      <vt:lpstr>Navigational Robot Car-1</vt:lpstr>
      <vt:lpstr>Robot Car-2 (Day-2: 1 PM to 3 PM)</vt:lpstr>
      <vt:lpstr>Navigational Robot Car-2</vt:lpstr>
      <vt:lpstr>Robot Car-3 (Day-2: 3 PM to 5 PM)</vt:lpstr>
      <vt:lpstr>Navigational Robot Car-3</vt:lpstr>
      <vt:lpstr>Q&amp;A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Fakruddin Mohammed</dc:creator>
  <cp:lastModifiedBy>Fakruddin Mohammed</cp:lastModifiedBy>
  <cp:revision>65</cp:revision>
  <dcterms:created xsi:type="dcterms:W3CDTF">2025-11-15T15:19:24Z</dcterms:created>
  <dcterms:modified xsi:type="dcterms:W3CDTF">2025-12-02T17:52:07Z</dcterms:modified>
</cp:coreProperties>
</file>