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0" r:id="rId5"/>
    <p:sldId id="284" r:id="rId6"/>
    <p:sldId id="285" r:id="rId7"/>
    <p:sldId id="288" r:id="rId8"/>
    <p:sldId id="286" r:id="rId9"/>
    <p:sldId id="261" r:id="rId10"/>
    <p:sldId id="262" r:id="rId11"/>
    <p:sldId id="263" r:id="rId12"/>
    <p:sldId id="276" r:id="rId13"/>
    <p:sldId id="268" r:id="rId14"/>
    <p:sldId id="269" r:id="rId15"/>
    <p:sldId id="264" r:id="rId16"/>
    <p:sldId id="270" r:id="rId17"/>
    <p:sldId id="266" r:id="rId18"/>
    <p:sldId id="271" r:id="rId19"/>
    <p:sldId id="267" r:id="rId20"/>
    <p:sldId id="272" r:id="rId21"/>
    <p:sldId id="273" r:id="rId22"/>
    <p:sldId id="274" r:id="rId23"/>
    <p:sldId id="275" r:id="rId24"/>
    <p:sldId id="2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50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2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91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42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85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7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367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85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09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13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7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31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Familiarisation Training to Faculty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Training Schedule</a:t>
            </a:r>
          </a:p>
          <a:p>
            <a:r>
              <a:rPr lang="en-GB" sz="3200" dirty="0">
                <a:solidFill>
                  <a:schemeClr val="accent1"/>
                </a:solidFill>
              </a:rPr>
              <a:t>(5</a:t>
            </a:r>
            <a:r>
              <a:rPr lang="en-GB" sz="3200" baseline="30000" dirty="0">
                <a:solidFill>
                  <a:schemeClr val="accent1"/>
                </a:solidFill>
              </a:rPr>
              <a:t>th</a:t>
            </a:r>
            <a:r>
              <a:rPr lang="en-GB" sz="3200" dirty="0">
                <a:solidFill>
                  <a:schemeClr val="accent1"/>
                </a:solidFill>
              </a:rPr>
              <a:t> and 6</a:t>
            </a:r>
            <a:r>
              <a:rPr lang="en-GB" sz="3200" baseline="30000" dirty="0">
                <a:solidFill>
                  <a:schemeClr val="accent1"/>
                </a:solidFill>
              </a:rPr>
              <a:t>th</a:t>
            </a:r>
            <a:r>
              <a:rPr lang="en-GB" sz="3200" dirty="0">
                <a:solidFill>
                  <a:schemeClr val="accent1"/>
                </a:solidFill>
              </a:rPr>
              <a:t> Dec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  <p:pic>
        <p:nvPicPr>
          <p:cNvPr id="1026" name="Picture 2" descr="IIITDM Kurnool - IEEE Open">
            <a:extLst>
              <a:ext uri="{FF2B5EF4-FFF2-40B4-BE49-F238E27FC236}">
                <a16:creationId xmlns:a16="http://schemas.microsoft.com/office/drawing/2014/main" id="{1CD27F7C-20E9-6381-8FFE-8C01E9F1A8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811" t="16259" r="27143" b="18939"/>
          <a:stretch>
            <a:fillRect/>
          </a:stretch>
        </p:blipFill>
        <p:spPr bwMode="auto">
          <a:xfrm>
            <a:off x="4953000" y="0"/>
            <a:ext cx="1545772" cy="152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CB6ED-BB1D-49AD-0133-35AC73C3CD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25" y="188758"/>
            <a:ext cx="3149206" cy="116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C2B6E-D05B-1DCF-7DAB-CE12D5C7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7805-5ACA-D39F-930B-28CFB9DC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Faculty Training Agenda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BC67D7-A4A4-25CA-A18F-15D145C56EBC}"/>
              </a:ext>
            </a:extLst>
          </p:cNvPr>
          <p:cNvCxnSpPr/>
          <p:nvPr/>
        </p:nvCxnSpPr>
        <p:spPr>
          <a:xfrm>
            <a:off x="1164771" y="2046514"/>
            <a:ext cx="984068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426B43-D8CA-0851-6251-4DB240779F91}"/>
              </a:ext>
            </a:extLst>
          </p:cNvPr>
          <p:cNvCxnSpPr/>
          <p:nvPr/>
        </p:nvCxnSpPr>
        <p:spPr>
          <a:xfrm>
            <a:off x="2743200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41AE7C-CA6F-C6D5-EF10-5562F1F9865C}"/>
              </a:ext>
            </a:extLst>
          </p:cNvPr>
          <p:cNvCxnSpPr/>
          <p:nvPr/>
        </p:nvCxnSpPr>
        <p:spPr>
          <a:xfrm>
            <a:off x="6008914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E6BEB6-0982-1421-9BA7-E615CD0E7342}"/>
              </a:ext>
            </a:extLst>
          </p:cNvPr>
          <p:cNvCxnSpPr/>
          <p:nvPr/>
        </p:nvCxnSpPr>
        <p:spPr>
          <a:xfrm>
            <a:off x="6749142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436AC1-40E0-68B4-D6DF-AD1C7CEE5C55}"/>
              </a:ext>
            </a:extLst>
          </p:cNvPr>
          <p:cNvCxnSpPr/>
          <p:nvPr/>
        </p:nvCxnSpPr>
        <p:spPr>
          <a:xfrm>
            <a:off x="1164771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BB51BF-5CA8-9A88-5C49-72AE7F71D081}"/>
              </a:ext>
            </a:extLst>
          </p:cNvPr>
          <p:cNvSpPr txBox="1"/>
          <p:nvPr/>
        </p:nvSpPr>
        <p:spPr>
          <a:xfrm>
            <a:off x="827979" y="1652449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 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71AFA-A450-F235-7601-1CD7257E2262}"/>
              </a:ext>
            </a:extLst>
          </p:cNvPr>
          <p:cNvSpPr txBox="1"/>
          <p:nvPr/>
        </p:nvSpPr>
        <p:spPr>
          <a:xfrm>
            <a:off x="2344693" y="1652449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10 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5728A-59CB-53BB-2CF2-2E11759F3A4A}"/>
              </a:ext>
            </a:extLst>
          </p:cNvPr>
          <p:cNvSpPr txBox="1"/>
          <p:nvPr/>
        </p:nvSpPr>
        <p:spPr>
          <a:xfrm>
            <a:off x="5610407" y="1650745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12 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42515-99BB-0007-CB1D-AEE96FFE0355}"/>
              </a:ext>
            </a:extLst>
          </p:cNvPr>
          <p:cNvSpPr txBox="1"/>
          <p:nvPr/>
        </p:nvSpPr>
        <p:spPr>
          <a:xfrm>
            <a:off x="6488552" y="1650745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 PM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D2A2A4-8FC7-64FD-3F52-BA0F7EEC1FB4}"/>
              </a:ext>
            </a:extLst>
          </p:cNvPr>
          <p:cNvCxnSpPr/>
          <p:nvPr/>
        </p:nvCxnSpPr>
        <p:spPr>
          <a:xfrm>
            <a:off x="9067799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DF9788-0F0F-79AF-4A2D-0F9A53A68D20}"/>
              </a:ext>
            </a:extLst>
          </p:cNvPr>
          <p:cNvSpPr txBox="1"/>
          <p:nvPr/>
        </p:nvSpPr>
        <p:spPr>
          <a:xfrm>
            <a:off x="8715108" y="165074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 PM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C361AB-A858-1F5C-A8C8-611AE59325A8}"/>
              </a:ext>
            </a:extLst>
          </p:cNvPr>
          <p:cNvCxnSpPr/>
          <p:nvPr/>
        </p:nvCxnSpPr>
        <p:spPr>
          <a:xfrm>
            <a:off x="11005457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771402-9CF2-19D5-01EC-39558EACD8A6}"/>
              </a:ext>
            </a:extLst>
          </p:cNvPr>
          <p:cNvSpPr txBox="1"/>
          <p:nvPr/>
        </p:nvSpPr>
        <p:spPr>
          <a:xfrm>
            <a:off x="10603270" y="165074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 PM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B27495-5A5B-E8D1-D76A-AC86E3D35E65}"/>
              </a:ext>
            </a:extLst>
          </p:cNvPr>
          <p:cNvCxnSpPr/>
          <p:nvPr/>
        </p:nvCxnSpPr>
        <p:spPr>
          <a:xfrm>
            <a:off x="1948543" y="2122714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411A37-611F-C179-87CB-C2D261558B25}"/>
              </a:ext>
            </a:extLst>
          </p:cNvPr>
          <p:cNvCxnSpPr/>
          <p:nvPr/>
        </p:nvCxnSpPr>
        <p:spPr>
          <a:xfrm>
            <a:off x="4321629" y="2160813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8D05A0-3522-CEC5-4081-4DB5307AAE77}"/>
              </a:ext>
            </a:extLst>
          </p:cNvPr>
          <p:cNvCxnSpPr/>
          <p:nvPr/>
        </p:nvCxnSpPr>
        <p:spPr>
          <a:xfrm>
            <a:off x="6407420" y="2182583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255FF1-C2BB-0346-0641-30E11617D968}"/>
              </a:ext>
            </a:extLst>
          </p:cNvPr>
          <p:cNvCxnSpPr/>
          <p:nvPr/>
        </p:nvCxnSpPr>
        <p:spPr>
          <a:xfrm>
            <a:off x="7898763" y="2182583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E51CA6-3625-3289-2F91-A1F3A8E1D173}"/>
              </a:ext>
            </a:extLst>
          </p:cNvPr>
          <p:cNvCxnSpPr/>
          <p:nvPr/>
        </p:nvCxnSpPr>
        <p:spPr>
          <a:xfrm>
            <a:off x="10021477" y="2160812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755C5F6-66CE-D216-7583-B7DE8FD56CBA}"/>
              </a:ext>
            </a:extLst>
          </p:cNvPr>
          <p:cNvSpPr txBox="1"/>
          <p:nvPr/>
        </p:nvSpPr>
        <p:spPr>
          <a:xfrm>
            <a:off x="1187725" y="2971800"/>
            <a:ext cx="1521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Introductions</a:t>
            </a:r>
          </a:p>
          <a:p>
            <a:r>
              <a:rPr lang="en-GB" dirty="0">
                <a:solidFill>
                  <a:schemeClr val="bg1"/>
                </a:solidFill>
              </a:rPr>
              <a:t>Brief Talk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2C20C7-B50B-9F93-F7DB-127D92752922}"/>
              </a:ext>
            </a:extLst>
          </p:cNvPr>
          <p:cNvSpPr txBox="1"/>
          <p:nvPr/>
        </p:nvSpPr>
        <p:spPr>
          <a:xfrm>
            <a:off x="3827263" y="2971800"/>
            <a:ext cx="988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1D5647-A9A3-8397-6C8E-5621B20F5F9C}"/>
              </a:ext>
            </a:extLst>
          </p:cNvPr>
          <p:cNvSpPr txBox="1"/>
          <p:nvPr/>
        </p:nvSpPr>
        <p:spPr>
          <a:xfrm>
            <a:off x="5836611" y="2971800"/>
            <a:ext cx="80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Lunch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E65E41-1FD5-2505-E4AC-4B7BD60E4F13}"/>
              </a:ext>
            </a:extLst>
          </p:cNvPr>
          <p:cNvSpPr txBox="1"/>
          <p:nvPr/>
        </p:nvSpPr>
        <p:spPr>
          <a:xfrm>
            <a:off x="7404397" y="29718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Motion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16ECED-8402-155C-ACC5-B37CEA8D496C}"/>
              </a:ext>
            </a:extLst>
          </p:cNvPr>
          <p:cNvSpPr txBox="1"/>
          <p:nvPr/>
        </p:nvSpPr>
        <p:spPr>
          <a:xfrm>
            <a:off x="9153124" y="2971800"/>
            <a:ext cx="191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Communications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BFC602-A6C4-144D-A292-7CD6D719921B}"/>
              </a:ext>
            </a:extLst>
          </p:cNvPr>
          <p:cNvCxnSpPr/>
          <p:nvPr/>
        </p:nvCxnSpPr>
        <p:spPr>
          <a:xfrm>
            <a:off x="3827263" y="3918856"/>
            <a:ext cx="445429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33CE5C4-4F1F-E2EC-C7A2-588329674194}"/>
              </a:ext>
            </a:extLst>
          </p:cNvPr>
          <p:cNvCxnSpPr/>
          <p:nvPr/>
        </p:nvCxnSpPr>
        <p:spPr>
          <a:xfrm>
            <a:off x="1055922" y="5075840"/>
            <a:ext cx="984068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3F2C15-5B61-998E-8F75-39CC3266E919}"/>
              </a:ext>
            </a:extLst>
          </p:cNvPr>
          <p:cNvCxnSpPr/>
          <p:nvPr/>
        </p:nvCxnSpPr>
        <p:spPr>
          <a:xfrm>
            <a:off x="2634351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F0ADD5-D251-2971-D518-AC61DBE6F26A}"/>
              </a:ext>
            </a:extLst>
          </p:cNvPr>
          <p:cNvCxnSpPr/>
          <p:nvPr/>
        </p:nvCxnSpPr>
        <p:spPr>
          <a:xfrm>
            <a:off x="5900065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16B9806-E09F-7AC6-ACFE-A66740286B12}"/>
              </a:ext>
            </a:extLst>
          </p:cNvPr>
          <p:cNvCxnSpPr/>
          <p:nvPr/>
        </p:nvCxnSpPr>
        <p:spPr>
          <a:xfrm>
            <a:off x="6640293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DE1959E-BD7F-F39D-602C-9A8FBB33896B}"/>
              </a:ext>
            </a:extLst>
          </p:cNvPr>
          <p:cNvCxnSpPr/>
          <p:nvPr/>
        </p:nvCxnSpPr>
        <p:spPr>
          <a:xfrm>
            <a:off x="1055922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D2AD592-8436-179D-C63C-643BA135E862}"/>
              </a:ext>
            </a:extLst>
          </p:cNvPr>
          <p:cNvSpPr txBox="1"/>
          <p:nvPr/>
        </p:nvSpPr>
        <p:spPr>
          <a:xfrm>
            <a:off x="719130" y="4681775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 AM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F94138-1978-C221-634E-E1035BB8D774}"/>
              </a:ext>
            </a:extLst>
          </p:cNvPr>
          <p:cNvSpPr txBox="1"/>
          <p:nvPr/>
        </p:nvSpPr>
        <p:spPr>
          <a:xfrm>
            <a:off x="2235844" y="468177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9.30 AM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5C9F66-8BD2-CE14-3A24-763BADBA905A}"/>
              </a:ext>
            </a:extLst>
          </p:cNvPr>
          <p:cNvSpPr txBox="1"/>
          <p:nvPr/>
        </p:nvSpPr>
        <p:spPr>
          <a:xfrm>
            <a:off x="5501558" y="4680071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12 AM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6FA00C-FAD3-B59B-7480-3217D1B7416A}"/>
              </a:ext>
            </a:extLst>
          </p:cNvPr>
          <p:cNvSpPr txBox="1"/>
          <p:nvPr/>
        </p:nvSpPr>
        <p:spPr>
          <a:xfrm>
            <a:off x="6379703" y="4680071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 PM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383828-F2E1-2DE8-4F32-54AFE1786EC0}"/>
              </a:ext>
            </a:extLst>
          </p:cNvPr>
          <p:cNvCxnSpPr/>
          <p:nvPr/>
        </p:nvCxnSpPr>
        <p:spPr>
          <a:xfrm>
            <a:off x="8958950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82FAE92-03FF-59E0-11DD-5F4F1AC5EA1C}"/>
              </a:ext>
            </a:extLst>
          </p:cNvPr>
          <p:cNvSpPr txBox="1"/>
          <p:nvPr/>
        </p:nvSpPr>
        <p:spPr>
          <a:xfrm>
            <a:off x="8606259" y="468007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 PM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DB04BD7-70E4-376A-7D9D-E1EA74566766}"/>
              </a:ext>
            </a:extLst>
          </p:cNvPr>
          <p:cNvCxnSpPr/>
          <p:nvPr/>
        </p:nvCxnSpPr>
        <p:spPr>
          <a:xfrm>
            <a:off x="10896608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17EF4C9-330E-7F67-D38C-5D1C2DB89E5E}"/>
              </a:ext>
            </a:extLst>
          </p:cNvPr>
          <p:cNvSpPr txBox="1"/>
          <p:nvPr/>
        </p:nvSpPr>
        <p:spPr>
          <a:xfrm>
            <a:off x="10494421" y="468007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 PM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B18B37-1E0C-A84A-E6E3-E350FA6DB56B}"/>
              </a:ext>
            </a:extLst>
          </p:cNvPr>
          <p:cNvCxnSpPr/>
          <p:nvPr/>
        </p:nvCxnSpPr>
        <p:spPr>
          <a:xfrm>
            <a:off x="1839694" y="5152040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683723-AC05-0D0F-EA1A-58E269B12E51}"/>
              </a:ext>
            </a:extLst>
          </p:cNvPr>
          <p:cNvCxnSpPr/>
          <p:nvPr/>
        </p:nvCxnSpPr>
        <p:spPr>
          <a:xfrm>
            <a:off x="4212780" y="5190139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60FA6F-03C8-BA93-F1C8-E90589C624F7}"/>
              </a:ext>
            </a:extLst>
          </p:cNvPr>
          <p:cNvCxnSpPr/>
          <p:nvPr/>
        </p:nvCxnSpPr>
        <p:spPr>
          <a:xfrm>
            <a:off x="6298571" y="5211909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86DE4B-9CFC-90BE-08FC-7E7D78FF6D5D}"/>
              </a:ext>
            </a:extLst>
          </p:cNvPr>
          <p:cNvCxnSpPr/>
          <p:nvPr/>
        </p:nvCxnSpPr>
        <p:spPr>
          <a:xfrm>
            <a:off x="7789914" y="5211909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6525A87-FAB0-8FAA-80E6-9A805B19CF8F}"/>
              </a:ext>
            </a:extLst>
          </p:cNvPr>
          <p:cNvCxnSpPr/>
          <p:nvPr/>
        </p:nvCxnSpPr>
        <p:spPr>
          <a:xfrm>
            <a:off x="9912628" y="5190138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F853E59-0199-57AE-840B-28B830E8127A}"/>
              </a:ext>
            </a:extLst>
          </p:cNvPr>
          <p:cNvSpPr txBox="1"/>
          <p:nvPr/>
        </p:nvSpPr>
        <p:spPr>
          <a:xfrm>
            <a:off x="1078876" y="6001126"/>
            <a:ext cx="89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Re-cap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CB71B6-973E-5F25-C1B6-073534FD6957}"/>
              </a:ext>
            </a:extLst>
          </p:cNvPr>
          <p:cNvSpPr txBox="1"/>
          <p:nvPr/>
        </p:nvSpPr>
        <p:spPr>
          <a:xfrm>
            <a:off x="3718414" y="6001126"/>
            <a:ext cx="1540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Robotic Car-1</a:t>
            </a:r>
          </a:p>
          <a:p>
            <a:r>
              <a:rPr lang="en-GB" dirty="0">
                <a:solidFill>
                  <a:schemeClr val="bg1"/>
                </a:solidFill>
              </a:rPr>
              <a:t>(Sensors)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CF1B77-32E3-BBDF-F199-EFB58943C1B9}"/>
              </a:ext>
            </a:extLst>
          </p:cNvPr>
          <p:cNvSpPr txBox="1"/>
          <p:nvPr/>
        </p:nvSpPr>
        <p:spPr>
          <a:xfrm>
            <a:off x="5727762" y="6001126"/>
            <a:ext cx="80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Lunch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DA9EC8-27F3-10AE-1AA1-75500A9B4F2F}"/>
              </a:ext>
            </a:extLst>
          </p:cNvPr>
          <p:cNvSpPr txBox="1"/>
          <p:nvPr/>
        </p:nvSpPr>
        <p:spPr>
          <a:xfrm>
            <a:off x="7295548" y="6001126"/>
            <a:ext cx="1558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Robotic Car-2</a:t>
            </a:r>
          </a:p>
          <a:p>
            <a:r>
              <a:rPr lang="en-GB" dirty="0">
                <a:solidFill>
                  <a:schemeClr val="bg1"/>
                </a:solidFill>
              </a:rPr>
              <a:t>(Comms.)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2E235C-1938-378B-4B14-0100F43D25BD}"/>
              </a:ext>
            </a:extLst>
          </p:cNvPr>
          <p:cNvSpPr txBox="1"/>
          <p:nvPr/>
        </p:nvSpPr>
        <p:spPr>
          <a:xfrm>
            <a:off x="9044275" y="6001126"/>
            <a:ext cx="2239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Robotic Car-3</a:t>
            </a:r>
          </a:p>
          <a:p>
            <a:r>
              <a:rPr lang="en-GB" dirty="0">
                <a:solidFill>
                  <a:schemeClr val="bg1"/>
                </a:solidFill>
              </a:rPr>
              <a:t>(Encoders/IMU/GPS)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441AF2-4954-F142-1A0F-CAA1F631B9CA}"/>
              </a:ext>
            </a:extLst>
          </p:cNvPr>
          <p:cNvSpPr txBox="1"/>
          <p:nvPr/>
        </p:nvSpPr>
        <p:spPr>
          <a:xfrm>
            <a:off x="5727762" y="1121229"/>
            <a:ext cx="1102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5"/>
                </a:solidFill>
              </a:rPr>
              <a:t>Day-1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2FEF55-B1C5-995D-11E3-B833A9AFAFF5}"/>
              </a:ext>
            </a:extLst>
          </p:cNvPr>
          <p:cNvSpPr txBox="1"/>
          <p:nvPr/>
        </p:nvSpPr>
        <p:spPr>
          <a:xfrm>
            <a:off x="5722412" y="4130414"/>
            <a:ext cx="1126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5"/>
                </a:solidFill>
              </a:rPr>
              <a:t>Day-2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CC9547-6FCF-4CA0-E532-D47631217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1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C575F-A4C3-EAB4-75AD-D99CBB82E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8F38-9591-4EA9-FC02-E5F8709B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Design Philosophy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9 AM to 10 AM)</a:t>
            </a:r>
          </a:p>
        </p:txBody>
      </p:sp>
    </p:spTree>
    <p:extLst>
      <p:ext uri="{BB962C8B-B14F-4D97-AF65-F5344CB8AC3E}">
        <p14:creationId xmlns:p14="http://schemas.microsoft.com/office/powerpoint/2010/main" val="48070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98146-E13A-78F6-9F51-D22818F6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9BB3-BB17-CF43-9DD8-009B2F4D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8E4C43-608E-6781-2269-617A078F4855}"/>
              </a:ext>
            </a:extLst>
          </p:cNvPr>
          <p:cNvSpPr txBox="1"/>
          <p:nvPr/>
        </p:nvSpPr>
        <p:spPr>
          <a:xfrm>
            <a:off x="859971" y="1864861"/>
            <a:ext cx="106788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>
                <a:solidFill>
                  <a:schemeClr val="bg1"/>
                </a:solidFill>
              </a:rPr>
              <a:t>In Robotics, </a:t>
            </a:r>
            <a:r>
              <a:rPr lang="en-GB" sz="6000" b="1" dirty="0">
                <a:solidFill>
                  <a:schemeClr val="accent4"/>
                </a:solidFill>
              </a:rPr>
              <a:t>true understanding is achieved not through theory</a:t>
            </a:r>
            <a:r>
              <a:rPr lang="en-GB" sz="6000" dirty="0">
                <a:solidFill>
                  <a:schemeClr val="bg1"/>
                </a:solidFill>
              </a:rPr>
              <a:t>, </a:t>
            </a:r>
            <a:r>
              <a:rPr lang="en-GB" sz="6000" dirty="0">
                <a:solidFill>
                  <a:schemeClr val="accent5"/>
                </a:solidFill>
              </a:rPr>
              <a:t>but through practical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27FDC-0E02-FE0B-4A8B-0F43DEC28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1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54FD7-7BAF-20C6-7BD8-8B4BD2C0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FFBA-FD79-120E-9AB2-E1692D00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Doing Robotics - Challenges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40777F-019A-1D36-E76D-397EAFDD7174}"/>
              </a:ext>
            </a:extLst>
          </p:cNvPr>
          <p:cNvSpPr txBox="1"/>
          <p:nvPr/>
        </p:nvSpPr>
        <p:spPr>
          <a:xfrm>
            <a:off x="448190" y="1037547"/>
            <a:ext cx="8402365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5"/>
                </a:solidFill>
              </a:rPr>
              <a:t>Common Issues: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Finding &amp; Sourcing Challenges;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Incomplete &amp; Unreliable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Incompatible Issues as Complexity Increases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Advanced Robotics – Import Tariffs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Black Box Products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Unstructured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Documentation &amp; Support Almost Non-Existent</a:t>
            </a:r>
            <a:endParaRPr lang="en-GB" sz="2800" b="1" dirty="0">
              <a:solidFill>
                <a:schemeClr val="accent4"/>
              </a:solidFill>
            </a:endParaRPr>
          </a:p>
          <a:p>
            <a:r>
              <a:rPr lang="en-GB" sz="2800" b="1" dirty="0">
                <a:solidFill>
                  <a:schemeClr val="accent4"/>
                </a:solidFill>
              </a:rPr>
              <a:t>Consequences of the Above Issues: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Learning Remains Shallow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Giving-up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Challenging Projects are Not Executed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Missed Career Opportunities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044D8-0F7A-ECD3-4409-75586978C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3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74B20-643B-E6C6-7D3B-1CAAF352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6078-47EC-5B68-C3FC-0F99D38E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Doing Robotics - Challenges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93B02-988B-EA07-C3D2-080888047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63F03F-371A-6D60-BA2F-3C9E902DD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8051"/>
            <a:ext cx="12192000" cy="544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4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41FF8-D928-E391-BB67-10004205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DC49-C440-4697-4828-4A4FD3E9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76FC7-8CCF-05CD-B35F-050055197057}"/>
              </a:ext>
            </a:extLst>
          </p:cNvPr>
          <p:cNvSpPr txBox="1"/>
          <p:nvPr/>
        </p:nvSpPr>
        <p:spPr>
          <a:xfrm>
            <a:off x="631370" y="987827"/>
            <a:ext cx="1089660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accent5"/>
                </a:solidFill>
              </a:rPr>
              <a:t>Core Philosophy: Building for Mastery</a:t>
            </a:r>
          </a:p>
          <a:p>
            <a:r>
              <a:rPr lang="en-GB" sz="2400" b="1" dirty="0">
                <a:solidFill>
                  <a:schemeClr val="accent4"/>
                </a:solidFill>
              </a:rPr>
              <a:t>Prioritize Deep Understanding:</a:t>
            </a:r>
            <a:r>
              <a:rPr lang="en-GB" sz="2400" dirty="0">
                <a:solidFill>
                  <a:schemeClr val="bg1"/>
                </a:solidFill>
              </a:rPr>
              <a:t> Deconstruct systems rather than relying on 'Black Box' or pre-packaged solutions.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Bridge Theory to Application:</a:t>
            </a:r>
            <a:r>
              <a:rPr lang="en-GB" sz="2400" dirty="0">
                <a:solidFill>
                  <a:schemeClr val="bg1"/>
                </a:solidFill>
              </a:rPr>
              <a:t> Solidify foundational concepts by rapidly moving from theory to practical implementation.</a:t>
            </a:r>
          </a:p>
          <a:p>
            <a:endParaRPr lang="en-GB" sz="2400" b="1" dirty="0">
              <a:solidFill>
                <a:schemeClr val="accent4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Master Modular Design:</a:t>
            </a:r>
            <a:r>
              <a:rPr lang="en-GB" sz="2400" dirty="0">
                <a:solidFill>
                  <a:schemeClr val="bg1"/>
                </a:solidFill>
              </a:rPr>
              <a:t> Learn system configuration by actively adding, replacing, and integrating individual components.</a:t>
            </a:r>
          </a:p>
          <a:p>
            <a:endParaRPr lang="en-GB" sz="2400" b="1" dirty="0">
              <a:solidFill>
                <a:schemeClr val="accent4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Maximize Resource Efficiency:</a:t>
            </a:r>
            <a:r>
              <a:rPr lang="en-GB" sz="2400" dirty="0">
                <a:solidFill>
                  <a:schemeClr val="bg1"/>
                </a:solidFill>
              </a:rPr>
              <a:t> Develop projects using reusable and adaptable components across different prototypes.</a:t>
            </a:r>
          </a:p>
          <a:p>
            <a:endParaRPr lang="en-GB" sz="2400" b="1" dirty="0">
              <a:solidFill>
                <a:schemeClr val="accent4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Ensure Accessible Innovation:</a:t>
            </a:r>
            <a:r>
              <a:rPr lang="en-GB" sz="2400" dirty="0">
                <a:solidFill>
                  <a:schemeClr val="bg1"/>
                </a:solidFill>
              </a:rPr>
              <a:t> Maintain low-cost, high-impact projects to make learning widely accessible.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887CA-1CB7-C351-8798-F0C7D44FC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4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D45EF-4149-E98E-AB80-67F824FC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CC32-E421-9DB7-F032-0EBB0912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0FE7A-B297-87A5-FC06-9F4B03ECD697}"/>
              </a:ext>
            </a:extLst>
          </p:cNvPr>
          <p:cNvSpPr txBox="1"/>
          <p:nvPr/>
        </p:nvSpPr>
        <p:spPr>
          <a:xfrm>
            <a:off x="587829" y="1499455"/>
            <a:ext cx="109836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accent5"/>
                </a:solidFill>
              </a:rPr>
              <a:t>Mandatory Lab Protocol</a:t>
            </a:r>
          </a:p>
          <a:p>
            <a:endParaRPr lang="en-GB" sz="3200" b="1" dirty="0">
              <a:solidFill>
                <a:schemeClr val="accent5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Strict Adherence to Safety:</a:t>
            </a:r>
            <a:r>
              <a:rPr lang="en-GB" sz="2400" dirty="0">
                <a:solidFill>
                  <a:schemeClr val="bg1"/>
                </a:solidFill>
              </a:rPr>
              <a:t> Uphold all health and safety procedures, regardless of the perceived low voltage or current of the equipment.</a:t>
            </a:r>
          </a:p>
          <a:p>
            <a:endParaRPr lang="en-GB" sz="2400" b="1" dirty="0">
              <a:solidFill>
                <a:schemeClr val="accent4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Implement the 'Four-Eyes Principle':</a:t>
            </a:r>
            <a:r>
              <a:rPr lang="en-GB" sz="2400" dirty="0">
                <a:solidFill>
                  <a:schemeClr val="bg1"/>
                </a:solidFill>
              </a:rPr>
              <a:t> Before engaging battery power, ensure critical system checks are independently verified by a second person.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43809-F485-FC50-EC31-A10FAE049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8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41105-E123-B9EB-A359-3B1A8FCA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E6C9-99CB-7945-811D-A05708B5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D695F2-7897-9EDA-2552-BACAAD123616}"/>
              </a:ext>
            </a:extLst>
          </p:cNvPr>
          <p:cNvSpPr/>
          <p:nvPr/>
        </p:nvSpPr>
        <p:spPr>
          <a:xfrm>
            <a:off x="1306286" y="2100943"/>
            <a:ext cx="2688771" cy="1534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Foundational</a:t>
            </a:r>
          </a:p>
          <a:p>
            <a:pPr algn="ctr"/>
            <a:r>
              <a:rPr lang="en-GB" dirty="0"/>
              <a:t>(15 Lessons/Labs)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D5D825-FB01-989E-495F-E91C0C0C8E12}"/>
              </a:ext>
            </a:extLst>
          </p:cNvPr>
          <p:cNvSpPr/>
          <p:nvPr/>
        </p:nvSpPr>
        <p:spPr>
          <a:xfrm>
            <a:off x="4751614" y="2100943"/>
            <a:ext cx="2688771" cy="1534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Take Home</a:t>
            </a:r>
          </a:p>
          <a:p>
            <a:pPr algn="ctr"/>
            <a:r>
              <a:rPr lang="en-GB" dirty="0"/>
              <a:t>Projects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43F2A8-4DC5-12EA-4AAF-8B7A80286E34}"/>
              </a:ext>
            </a:extLst>
          </p:cNvPr>
          <p:cNvSpPr/>
          <p:nvPr/>
        </p:nvSpPr>
        <p:spPr>
          <a:xfrm>
            <a:off x="8196942" y="2100943"/>
            <a:ext cx="2688771" cy="1534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Capstone </a:t>
            </a:r>
          </a:p>
          <a:p>
            <a:pPr algn="ctr"/>
            <a:r>
              <a:rPr lang="en-GB" dirty="0"/>
              <a:t>Projects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DDE92-3319-4CC1-2DDE-C1468469E682}"/>
              </a:ext>
            </a:extLst>
          </p:cNvPr>
          <p:cNvSpPr txBox="1"/>
          <p:nvPr/>
        </p:nvSpPr>
        <p:spPr>
          <a:xfrm>
            <a:off x="1306286" y="1611086"/>
            <a:ext cx="204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Each Product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153757-876B-66FC-4F54-657C1E44F54C}"/>
              </a:ext>
            </a:extLst>
          </p:cNvPr>
          <p:cNvSpPr txBox="1"/>
          <p:nvPr/>
        </p:nvSpPr>
        <p:spPr>
          <a:xfrm>
            <a:off x="1306286" y="5040086"/>
            <a:ext cx="9579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Staff would  introduce the lab lesson, give a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Students follow the instructions and conduct the experiment under the supervision of staff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4A013-C117-7F1E-0175-5DB75C64E7FD}"/>
              </a:ext>
            </a:extLst>
          </p:cNvPr>
          <p:cNvSpPr txBox="1"/>
          <p:nvPr/>
        </p:nvSpPr>
        <p:spPr>
          <a:xfrm>
            <a:off x="1306285" y="4426021"/>
            <a:ext cx="4050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5"/>
                </a:solidFill>
              </a:rPr>
              <a:t>Foundational Lessons/Labs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92A1D-0C28-6B7C-8618-B45E2D67E956}"/>
              </a:ext>
            </a:extLst>
          </p:cNvPr>
          <p:cNvCxnSpPr/>
          <p:nvPr/>
        </p:nvCxnSpPr>
        <p:spPr>
          <a:xfrm>
            <a:off x="1502229" y="4158343"/>
            <a:ext cx="21880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108EA4-3FEC-C3B1-52DF-7443ED44E806}"/>
              </a:ext>
            </a:extLst>
          </p:cNvPr>
          <p:cNvCxnSpPr>
            <a:cxnSpLocks/>
          </p:cNvCxnSpPr>
          <p:nvPr/>
        </p:nvCxnSpPr>
        <p:spPr>
          <a:xfrm>
            <a:off x="5001986" y="4158343"/>
            <a:ext cx="56986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0DC291-77D3-5690-8E44-4EA639DEC611}"/>
              </a:ext>
            </a:extLst>
          </p:cNvPr>
          <p:cNvSpPr txBox="1"/>
          <p:nvPr/>
        </p:nvSpPr>
        <p:spPr>
          <a:xfrm>
            <a:off x="1279750" y="3672673"/>
            <a:ext cx="2741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5"/>
                </a:solidFill>
              </a:rPr>
              <a:t>Staff Responsibility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E840E-1B16-607D-F514-9B8DFA7427CF}"/>
              </a:ext>
            </a:extLst>
          </p:cNvPr>
          <p:cNvSpPr txBox="1"/>
          <p:nvPr/>
        </p:nvSpPr>
        <p:spPr>
          <a:xfrm>
            <a:off x="5575954" y="3700865"/>
            <a:ext cx="4550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4"/>
                </a:solidFill>
              </a:rPr>
              <a:t>Students Initiative/Responsibility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B58ED-037C-D57D-E569-A0962C39C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8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8B6FE-5F05-D0CC-8713-90D7C084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6148-E4FA-8B16-C215-EB630D0E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189A3-F00F-2263-A53F-A90C54011540}"/>
              </a:ext>
            </a:extLst>
          </p:cNvPr>
          <p:cNvSpPr txBox="1"/>
          <p:nvPr/>
        </p:nvSpPr>
        <p:spPr>
          <a:xfrm>
            <a:off x="250372" y="1320575"/>
            <a:ext cx="3132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accent5"/>
                </a:solidFill>
              </a:rPr>
              <a:t>Products Series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98B1B9-2C1D-FB89-A21E-2C6D13FAFC85}"/>
              </a:ext>
            </a:extLst>
          </p:cNvPr>
          <p:cNvSpPr/>
          <p:nvPr/>
        </p:nvSpPr>
        <p:spPr>
          <a:xfrm>
            <a:off x="990600" y="2231573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Sensors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0E8DB6-7524-EE47-6A17-5B375CE86D46}"/>
              </a:ext>
            </a:extLst>
          </p:cNvPr>
          <p:cNvSpPr/>
          <p:nvPr/>
        </p:nvSpPr>
        <p:spPr>
          <a:xfrm>
            <a:off x="5040085" y="2231572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8BD9EB-12F9-A922-D87B-1D41D861CC0F}"/>
              </a:ext>
            </a:extLst>
          </p:cNvPr>
          <p:cNvSpPr/>
          <p:nvPr/>
        </p:nvSpPr>
        <p:spPr>
          <a:xfrm>
            <a:off x="9089571" y="2231571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Communications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E10E44-CFBE-EE41-3E62-E8B437148EA5}"/>
              </a:ext>
            </a:extLst>
          </p:cNvPr>
          <p:cNvSpPr txBox="1"/>
          <p:nvPr/>
        </p:nvSpPr>
        <p:spPr>
          <a:xfrm>
            <a:off x="4554952" y="1771354"/>
            <a:ext cx="336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Foundational Products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52F823-F4CD-9AE7-9C90-8219790D6F06}"/>
              </a:ext>
            </a:extLst>
          </p:cNvPr>
          <p:cNvSpPr/>
          <p:nvPr/>
        </p:nvSpPr>
        <p:spPr>
          <a:xfrm>
            <a:off x="990600" y="4659086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Robot Car-1</a:t>
            </a:r>
          </a:p>
          <a:p>
            <a:pPr algn="ctr"/>
            <a:r>
              <a:rPr lang="en-GB" dirty="0"/>
              <a:t>(Sensors)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54BE3C-1583-80CA-F3FF-B0BAB7550BAE}"/>
              </a:ext>
            </a:extLst>
          </p:cNvPr>
          <p:cNvSpPr/>
          <p:nvPr/>
        </p:nvSpPr>
        <p:spPr>
          <a:xfrm>
            <a:off x="5040085" y="4659085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Robot Car-2</a:t>
            </a:r>
          </a:p>
          <a:p>
            <a:pPr algn="ctr"/>
            <a:r>
              <a:rPr lang="en-GB" dirty="0"/>
              <a:t>(Comms.)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4FDD1D-D2D0-1869-447A-965BD9EF08EE}"/>
              </a:ext>
            </a:extLst>
          </p:cNvPr>
          <p:cNvSpPr/>
          <p:nvPr/>
        </p:nvSpPr>
        <p:spPr>
          <a:xfrm>
            <a:off x="9089571" y="4659084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Robot Car-3</a:t>
            </a:r>
          </a:p>
          <a:p>
            <a:pPr algn="ctr"/>
            <a:r>
              <a:rPr lang="en-GB" dirty="0"/>
              <a:t>(Encoders/GPS/IMU)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6366F-1BAC-B243-8F2A-C058DB5A1382}"/>
              </a:ext>
            </a:extLst>
          </p:cNvPr>
          <p:cNvSpPr txBox="1"/>
          <p:nvPr/>
        </p:nvSpPr>
        <p:spPr>
          <a:xfrm>
            <a:off x="4597416" y="4258277"/>
            <a:ext cx="2997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Navigational Robots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186A8-A322-AA8C-FD33-F56EEE9E2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4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BA46D-D8E0-7CE0-E0AA-2F87BD12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87D6-A5D8-968A-2CAD-D7029105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58017-F28D-BC11-72B2-9FC35E726575}"/>
              </a:ext>
            </a:extLst>
          </p:cNvPr>
          <p:cNvSpPr txBox="1"/>
          <p:nvPr/>
        </p:nvSpPr>
        <p:spPr>
          <a:xfrm>
            <a:off x="783771" y="1314407"/>
            <a:ext cx="719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Avoid Blackbox Approach to Lay Firm Foundations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3D7E-03FD-4E3E-406A-2FA52495A1A8}"/>
              </a:ext>
            </a:extLst>
          </p:cNvPr>
          <p:cNvSpPr txBox="1"/>
          <p:nvPr/>
        </p:nvSpPr>
        <p:spPr>
          <a:xfrm>
            <a:off x="783771" y="1964353"/>
            <a:ext cx="1072139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5"/>
                </a:solidFill>
              </a:rPr>
              <a:t>Sensors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all 15 lessons/labs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r>
              <a:rPr lang="en-GB" sz="2400" dirty="0">
                <a:solidFill>
                  <a:schemeClr val="accent5"/>
                </a:solidFill>
              </a:rPr>
              <a:t>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DC Motor &amp; Stepper Motor labs on a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Remaining Lessons/Labs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r>
              <a:rPr lang="en-GB" sz="2400" dirty="0">
                <a:solidFill>
                  <a:schemeClr val="accent5"/>
                </a:solidFill>
              </a:rPr>
              <a:t>Communications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NRF &amp; LoRa labs on a </a:t>
            </a:r>
            <a:r>
              <a:rPr lang="en-GB" sz="2400" dirty="0">
                <a:solidFill>
                  <a:schemeClr val="accent4"/>
                </a:solidFill>
              </a:rPr>
              <a:t>Bread Board </a:t>
            </a:r>
            <a:r>
              <a:rPr lang="en-GB" sz="2400" dirty="0">
                <a:solidFill>
                  <a:schemeClr val="bg1"/>
                </a:solidFill>
              </a:rPr>
              <a:t>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Remaining Lessons/Labs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31DE6-D871-79D4-1C9C-96AB83BA8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7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312A2-E328-D3FC-0F32-E498D1CE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D100-9B44-EBA2-5A4B-205B48CC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Sensors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10 AM to 12 PM)</a:t>
            </a:r>
          </a:p>
        </p:txBody>
      </p:sp>
    </p:spTree>
    <p:extLst>
      <p:ext uri="{BB962C8B-B14F-4D97-AF65-F5344CB8AC3E}">
        <p14:creationId xmlns:p14="http://schemas.microsoft.com/office/powerpoint/2010/main" val="3551234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D7E49-AA00-681B-0F72-5E521F9B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A92C-4DB1-066B-E3AE-6FD3CDA2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1E47D-2E0C-92B6-960A-7B8ACF4DCD57}"/>
              </a:ext>
            </a:extLst>
          </p:cNvPr>
          <p:cNvSpPr txBox="1"/>
          <p:nvPr/>
        </p:nvSpPr>
        <p:spPr>
          <a:xfrm>
            <a:off x="10884" y="977675"/>
            <a:ext cx="121702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Sensors 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Precautions, Power Supply and Sensor Modules V/G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OLED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Ultrasonic Sensor</a:t>
            </a: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feature of the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u="sng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Free Connector Concept of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 on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feature of the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Gas Sensor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02879-BC7B-9ED8-7837-393D44C67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2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26D95-808E-AFCF-2CB7-B6F0823C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AD3A-8ACE-5F1F-A089-6E49F25B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Motion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1 PM to 3 PM)</a:t>
            </a:r>
          </a:p>
        </p:txBody>
      </p:sp>
    </p:spTree>
    <p:extLst>
      <p:ext uri="{BB962C8B-B14F-4D97-AF65-F5344CB8AC3E}">
        <p14:creationId xmlns:p14="http://schemas.microsoft.com/office/powerpoint/2010/main" val="3841053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681BD-7BBB-877C-DF26-A67D0773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3FA3-F13E-2E6F-9FB3-D6768582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Motion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349F5-019B-F31A-E1ED-462C2A8733A0}"/>
              </a:ext>
            </a:extLst>
          </p:cNvPr>
          <p:cNvSpPr txBox="1"/>
          <p:nvPr/>
        </p:nvSpPr>
        <p:spPr>
          <a:xfrm>
            <a:off x="10885" y="1102861"/>
            <a:ext cx="121702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Motion 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Precautions, Power Supply and Sensor Modules V/G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DC Motor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DC Motor Encoder – Ticks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DC Motor Encoder – PID Controller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feature of the </a:t>
            </a:r>
            <a:r>
              <a:rPr lang="en-GB" sz="2400" u="sng" dirty="0">
                <a:solidFill>
                  <a:schemeClr val="accent5"/>
                </a:solidFill>
              </a:rPr>
              <a:t>Creative Board &amp; Free Connector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D4EDE-DB76-7975-F261-3BC60C9E6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71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A9717-9443-18BB-035E-4D4CC73D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50A7-CD1C-FDE8-E6A1-9EC3AEA7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Communications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3 PM to 5 PM)</a:t>
            </a:r>
          </a:p>
        </p:txBody>
      </p:sp>
    </p:spTree>
    <p:extLst>
      <p:ext uri="{BB962C8B-B14F-4D97-AF65-F5344CB8AC3E}">
        <p14:creationId xmlns:p14="http://schemas.microsoft.com/office/powerpoint/2010/main" val="4126155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29D4-CF24-9712-0C15-07EA836B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24C2-4D49-091F-4E2E-E1259B60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Communications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A5D58-D7BD-496E-AA57-62A506799CA3}"/>
              </a:ext>
            </a:extLst>
          </p:cNvPr>
          <p:cNvSpPr txBox="1"/>
          <p:nvPr/>
        </p:nvSpPr>
        <p:spPr>
          <a:xfrm>
            <a:off x="142875" y="1000535"/>
            <a:ext cx="119062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Communication 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RFID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NRF24L01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SD Card module and practice memory card insertion/removal/formatting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of the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3F4DC-70C3-5490-8CA9-BEE2911EB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23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7D19D-B2CF-F8AE-0F28-E3AB3A5E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8FD4-0073-8E3B-4079-DD2304EB4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Robot Car-1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(Day-2: 9.30 AM to 12 PM)</a:t>
            </a:r>
          </a:p>
        </p:txBody>
      </p:sp>
    </p:spTree>
    <p:extLst>
      <p:ext uri="{BB962C8B-B14F-4D97-AF65-F5344CB8AC3E}">
        <p14:creationId xmlns:p14="http://schemas.microsoft.com/office/powerpoint/2010/main" val="2181619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A7405-F2C3-19D4-191D-778D09D7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001C-8D46-D10A-2DC5-E898A626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9669D-D00B-A06F-DD64-BAA628E3D946}"/>
              </a:ext>
            </a:extLst>
          </p:cNvPr>
          <p:cNvSpPr txBox="1"/>
          <p:nvPr/>
        </p:nvSpPr>
        <p:spPr>
          <a:xfrm>
            <a:off x="142875" y="1000535"/>
            <a:ext cx="119062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Motor Controller Board, Assembly, Power Supply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Following Lab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Car Basic Movements; how to correct directions (by swapping the pins)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IR Sensor Calibration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Edge or IR Obstacle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72A67-20EF-4D59-9457-012B0891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27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B8719-C813-1640-56C9-6156B0AD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8A08-6C02-438B-DB5E-D1D5C594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Robot Car-2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(Day-2: 1 PM to 3 PM)</a:t>
            </a:r>
          </a:p>
        </p:txBody>
      </p:sp>
    </p:spTree>
    <p:extLst>
      <p:ext uri="{BB962C8B-B14F-4D97-AF65-F5344CB8AC3E}">
        <p14:creationId xmlns:p14="http://schemas.microsoft.com/office/powerpoint/2010/main" val="4092939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4758D-B044-65C7-020E-4A076E27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7767-459B-DA1B-0866-BA47D620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56C9E-F22D-3625-74C9-F59ACC161F8B}"/>
              </a:ext>
            </a:extLst>
          </p:cNvPr>
          <p:cNvSpPr txBox="1"/>
          <p:nvPr/>
        </p:nvSpPr>
        <p:spPr>
          <a:xfrm>
            <a:off x="142875" y="1000535"/>
            <a:ext cx="119062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Motor Controller Board, Assembly, Power Supply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Following Lab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Car Basic Movements; how to correct directions (by swapping the pins)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Remote Setup for: Joystick, Accelerometer and Buttons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Free Connectors, Gesture Sensor for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9BB16-B275-B221-B022-0CD08667B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38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C05EA-BFC7-BC6B-F5F8-E9E9B311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2EE5-5AEF-AB38-4FD1-BB34AEED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Robot Car-3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(Day-2: 3 PM to 5 PM)</a:t>
            </a:r>
          </a:p>
        </p:txBody>
      </p:sp>
    </p:spTree>
    <p:extLst>
      <p:ext uri="{BB962C8B-B14F-4D97-AF65-F5344CB8AC3E}">
        <p14:creationId xmlns:p14="http://schemas.microsoft.com/office/powerpoint/2010/main" val="4123346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FD04A-6AE2-1C7A-8B20-9697E653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BFCA-59AF-2C1C-495B-6A13ACA3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CF12A-3D73-F375-4F60-DD4414E671EA}"/>
              </a:ext>
            </a:extLst>
          </p:cNvPr>
          <p:cNvSpPr txBox="1"/>
          <p:nvPr/>
        </p:nvSpPr>
        <p:spPr>
          <a:xfrm>
            <a:off x="142875" y="1000535"/>
            <a:ext cx="119062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Motor Controller Board, Assembly, Power Supply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Following Lab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Car Basic Movements; how to correct directions (by swapping the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Constant Speed via PID Controller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Read &amp; Display – GPS (Discuss the importance of removing GPS module while uploading)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Read &amp; Display – Digital Compass Bearing</a:t>
            </a:r>
          </a:p>
          <a:p>
            <a:pPr lvl="1"/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3AB7C-9620-6343-F3BD-7C62890B8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9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7D3D6-2E5B-62B1-6993-9DD9AE05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EE45-CA3D-0209-9015-DEC9BD5E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3529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Widescreen</PresentationFormat>
  <Paragraphs>199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ZAS Robotic Products</vt:lpstr>
      <vt:lpstr>Faculty Training Agenda</vt:lpstr>
      <vt:lpstr>Design Philosophy (Day-1: 9 AM to 10 AM)</vt:lpstr>
      <vt:lpstr>Design Philosophy</vt:lpstr>
      <vt:lpstr>Doing Robotics - Challenges</vt:lpstr>
      <vt:lpstr>Doing Robotics - Challenges</vt:lpstr>
      <vt:lpstr>Design Philosophy</vt:lpstr>
      <vt:lpstr>Design Philosophy</vt:lpstr>
      <vt:lpstr>Design Philosophy</vt:lpstr>
      <vt:lpstr>Design Philosophy</vt:lpstr>
      <vt:lpstr>Design Philosophy</vt:lpstr>
      <vt:lpstr>Sensors (Day-1: 10 AM to 12 PM)</vt:lpstr>
      <vt:lpstr>Sensors</vt:lpstr>
      <vt:lpstr>Motion (Day-1: 1 PM to 3 PM)</vt:lpstr>
      <vt:lpstr>Motion</vt:lpstr>
      <vt:lpstr>Communications (Day-1: 3 PM to 5 PM)</vt:lpstr>
      <vt:lpstr>Communications</vt:lpstr>
      <vt:lpstr>Robot Car-1 (Day-2: 9.30 AM to 12 PM)</vt:lpstr>
      <vt:lpstr>Navigational Robot Car-1</vt:lpstr>
      <vt:lpstr>Robot Car-2 (Day-2: 1 PM to 3 PM)</vt:lpstr>
      <vt:lpstr>Navigational Robot Car-2</vt:lpstr>
      <vt:lpstr>Robot Car-3 (Day-2: 3 PM to 5 PM)</vt:lpstr>
      <vt:lpstr>Navigational Robot Car-3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59</cp:revision>
  <dcterms:created xsi:type="dcterms:W3CDTF">2025-11-15T15:19:24Z</dcterms:created>
  <dcterms:modified xsi:type="dcterms:W3CDTF">2025-11-27T22:24:54Z</dcterms:modified>
</cp:coreProperties>
</file>