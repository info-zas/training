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5" r:id="rId6"/>
    <p:sldId id="260" r:id="rId7"/>
    <p:sldId id="261" r:id="rId8"/>
    <p:sldId id="262" r:id="rId9"/>
    <p:sldId id="263" r:id="rId10"/>
    <p:sldId id="276" r:id="rId11"/>
    <p:sldId id="268" r:id="rId12"/>
    <p:sldId id="269" r:id="rId13"/>
    <p:sldId id="264" r:id="rId14"/>
    <p:sldId id="270" r:id="rId15"/>
    <p:sldId id="266" r:id="rId16"/>
    <p:sldId id="271" r:id="rId17"/>
    <p:sldId id="267" r:id="rId18"/>
    <p:sldId id="272" r:id="rId19"/>
    <p:sldId id="273" r:id="rId20"/>
    <p:sldId id="274" r:id="rId21"/>
    <p:sldId id="275" r:id="rId22"/>
    <p:sldId id="277" r:id="rId23"/>
    <p:sldId id="278" r:id="rId24"/>
    <p:sldId id="279" r:id="rId25"/>
    <p:sldId id="280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116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31F3BE-512F-A9CE-900D-B6E0068F4D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711E759-8398-1C8B-4F38-3B5F5F3820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9DDE8A-E854-1D1C-8B81-59D304580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74DB82-9D26-A4A7-DD71-B140CE7BA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CD4B25-EB67-28E5-5C5F-D5789BB885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0503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8F54-B80F-E040-0537-D4AB53684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05052E-FBAF-9764-17B4-44EEDA19C0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428461-73E6-DA43-A804-1BED2DEDC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C90D2-FEC4-8B98-89A9-8B863F908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2767BA-0170-E4AA-D831-BE5F2B30C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212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643F4-DF9D-3089-607F-F630042D2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EC6B38-3C8D-E9B6-AE09-3D4FB3A9E7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D396E3-1754-8F20-FFD6-495F35BE4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FECFE-EDD5-4401-2AE2-5CF0BEE561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E226EF-4679-CF6F-CF81-24B227602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0916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617A-463C-B0FA-843B-05D55BB41E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C0016E-78F1-F75B-BC93-791E4537663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54ACE3-6B57-CC2B-E335-02B52C0EB5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DDBD783-A52E-0064-668C-D393154B0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6EDF47-CE09-3FD5-8ADD-0A6CFFA9A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EBE330-F483-EA66-3FEC-34BA5B610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0425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89D43-5E5B-48DD-A60B-FDDAC693BB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66F32E-5382-7984-7E93-85C8074430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618230-A817-7965-EFCB-0720B4ABC6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E3800D-524D-E9FD-E4E6-8A0324046C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6E48E2B-8B3B-4A12-8C05-6222B14B48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E083518-B8B2-5C7F-CD0A-125EFA788F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B30EBAF-1066-8FE2-60BF-0AD28A9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D6C8C0-F362-9C7F-C203-EC0BF19BF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15856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A044E-9B9D-6532-38C5-2548C08E3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C5C59B-7D5D-D630-8E28-4022FF766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296964E-2C9E-7926-8B63-80F95308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30FA47-9D75-E0FF-8FB3-0F9EF1813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68736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68972-0D81-CE22-EDE6-5BD70E2B47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CF470F-F056-E314-B018-2C9E07E7F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F2BD58-FE18-5B4B-0126-E111600D5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367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E1CF6-20E5-C8D0-55EF-0044CFF3BF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B13B3F-0A8A-88D7-368C-2C0D15C33E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D8D0F0-7D28-2713-49F8-A122409C5E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15D5A1-AB6A-3313-6D15-BF77B31EC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A49E29-6085-AC32-B97C-BE6FFEDD4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397273-FC10-830B-4EE1-EF7CBFF7E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8544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C618FA-A510-D593-C2E8-A943D32C0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86480-7067-230A-B3CE-415EF472B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1C3E5E3-C685-17BB-99D4-CCE0E3B57F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7FCBDC-72D1-DA03-EEBB-12C473CA75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BEEE8-F749-3928-8336-8F0490C7F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D2A82A-58B8-B13C-BD66-5D340CA18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609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8F1B81-8671-ED96-E3F5-C681FFE3E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EFCA56-3F75-07CB-9FB7-F0F7B78EA9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9CC168-4ABB-D666-29C9-347EFF502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D4C89C-E42B-0302-ED96-48D8638BE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BBADE0-9275-B9E0-72CF-A481D81CB9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0135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FACC2B5-AAB4-6939-855D-759D3FB8B1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E0E091-D309-3C53-FAA0-94D42F52B9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5CD9BE-9D56-0A3B-FC8E-767BBF1A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2BC3CD-7309-6765-72C1-5982459D64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7D70F7-1F47-1B7A-7B20-44E99C13A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020761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0E771D-197D-29E2-0B81-12A4FAE2B5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9599D2-8F60-BB7F-534F-CDB425A41B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CE3F2-2023-C212-377A-F9A16C0525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D51BA1-F58B-40DF-9C13-73BC69DE2A80}" type="datetimeFigureOut">
              <a:rPr lang="en-GB" smtClean="0"/>
              <a:t>22/11/2025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9B2B7-BC4C-BF5C-4319-2E83B888FD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2C4DCB-AAB0-5D1A-3349-E5C5C3E40D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FCE3CD-8E5B-4FEB-BC1E-3D61BE3CC7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03122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microsoft.com/office/2007/relationships/hdphoto" Target="../media/hdphoto1.wdp"/><Relationship Id="rId4" Type="http://schemas.openxmlformats.org/officeDocument/2006/relationships/image" Target="../media/image4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E1084-B5DC-32D0-70C8-1C1F01656A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AI &amp; Robotics </a:t>
            </a: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Centre of Excellence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B429A87-03D8-FA02-3B18-72CD3764F3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GB" sz="3200" dirty="0">
                <a:solidFill>
                  <a:schemeClr val="accent4"/>
                </a:solidFill>
              </a:rPr>
              <a:t>GPREC &amp; ZAS Robotics Collaboration</a:t>
            </a:r>
          </a:p>
          <a:p>
            <a:r>
              <a:rPr lang="en-GB" sz="3200" dirty="0">
                <a:solidFill>
                  <a:schemeClr val="accent5"/>
                </a:solidFill>
              </a:rPr>
              <a:t>Training Schedule</a:t>
            </a:r>
          </a:p>
          <a:p>
            <a:r>
              <a:rPr lang="en-GB" sz="3200" dirty="0">
                <a:solidFill>
                  <a:schemeClr val="accent1"/>
                </a:solidFill>
              </a:rPr>
              <a:t>(5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and 6</a:t>
            </a:r>
            <a:r>
              <a:rPr lang="en-GB" sz="3200" baseline="30000" dirty="0">
                <a:solidFill>
                  <a:schemeClr val="accent1"/>
                </a:solidFill>
              </a:rPr>
              <a:t>th</a:t>
            </a:r>
            <a:r>
              <a:rPr lang="en-GB" sz="3200" dirty="0">
                <a:solidFill>
                  <a:schemeClr val="accent1"/>
                </a:solidFill>
              </a:rPr>
              <a:t> Dec 2025)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29D131-2A2A-10D9-EBBF-422D12CD6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49037" y="32658"/>
            <a:ext cx="4042963" cy="10897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0889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F4D7A-4651-7767-D129-1E017A61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FAB63-E030-025E-C2FB-D4F112237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>
                <a:solidFill>
                  <a:schemeClr val="accent4"/>
                </a:solidFill>
              </a:rPr>
              <a:t>Day-1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Introductions &amp; Design Philosophy Brief Talk (9-10 AM)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Sensors Kit (10 AM to 12 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Lunch (12 PM to 1 PM)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Motion Kit (1PM to 3PM)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Communications Kit (3PM to 5PM)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B446221-1E4A-CDCF-478A-2DCCF94F10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5135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DF8700-7CE3-5EEE-2BAF-229A898C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5F841-2943-21BD-34AF-26836F63D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78D79D-EE10-00DC-5682-7485B55C5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GB" dirty="0">
                <a:solidFill>
                  <a:schemeClr val="accent4"/>
                </a:solidFill>
              </a:rPr>
              <a:t>Day-2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Re-cap of Day-1 (9 AM to 9.30AM)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Navigational Robot Car-1 (Sensors) (9.30 AM to 12 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Motor Controller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Lunch (12 PM to 1 PM)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Navigation Robot Car-2 (1 PM to 3 PM) 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pPr lvl="1"/>
            <a:r>
              <a:rPr lang="en-GB" dirty="0">
                <a:solidFill>
                  <a:schemeClr val="bg1"/>
                </a:solidFill>
              </a:rPr>
              <a:t>Navigation Robot Car-3 (Encoders/GPS/IMU/Digital Compass) (3 PM to 5 PM)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Background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Creative Board – Discussion</a:t>
            </a:r>
          </a:p>
          <a:p>
            <a:pPr lvl="2"/>
            <a:r>
              <a:rPr lang="en-GB" dirty="0">
                <a:solidFill>
                  <a:schemeClr val="bg1"/>
                </a:solidFill>
              </a:rPr>
              <a:t>Conduct 2 or 3 projects</a:t>
            </a:r>
          </a:p>
          <a:p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F9C4E-D0C4-E12D-EAAD-6911A6B5A0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5159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C2B6E-D05B-1DCF-7DAB-CE12D5C76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6B7805-5ACA-D39F-930B-28CFB9DC24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GPREC Staff Training Agenda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A7BC67D7-A4A4-25CA-A18F-15D145C56EBC}"/>
              </a:ext>
            </a:extLst>
          </p:cNvPr>
          <p:cNvCxnSpPr/>
          <p:nvPr/>
        </p:nvCxnSpPr>
        <p:spPr>
          <a:xfrm>
            <a:off x="1164771" y="2046514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F426B43-D8CA-0851-6251-4DB240779F91}"/>
              </a:ext>
            </a:extLst>
          </p:cNvPr>
          <p:cNvCxnSpPr/>
          <p:nvPr/>
        </p:nvCxnSpPr>
        <p:spPr>
          <a:xfrm>
            <a:off x="2743200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E41AE7C-CA6F-C6D5-EF10-5562F1F9865C}"/>
              </a:ext>
            </a:extLst>
          </p:cNvPr>
          <p:cNvCxnSpPr/>
          <p:nvPr/>
        </p:nvCxnSpPr>
        <p:spPr>
          <a:xfrm>
            <a:off x="6008914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4E6BEB6-0982-1421-9BA7-E615CD0E7342}"/>
              </a:ext>
            </a:extLst>
          </p:cNvPr>
          <p:cNvCxnSpPr/>
          <p:nvPr/>
        </p:nvCxnSpPr>
        <p:spPr>
          <a:xfrm>
            <a:off x="6749142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436AC1-40E0-68B4-D6DF-AD1C7CEE5C55}"/>
              </a:ext>
            </a:extLst>
          </p:cNvPr>
          <p:cNvCxnSpPr/>
          <p:nvPr/>
        </p:nvCxnSpPr>
        <p:spPr>
          <a:xfrm>
            <a:off x="1164771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3CBB51BF-5CA8-9A88-5C49-72AE7F71D081}"/>
              </a:ext>
            </a:extLst>
          </p:cNvPr>
          <p:cNvSpPr txBox="1"/>
          <p:nvPr/>
        </p:nvSpPr>
        <p:spPr>
          <a:xfrm>
            <a:off x="827979" y="1652449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F171AFA-A450-F235-7601-1CD7257E2262}"/>
              </a:ext>
            </a:extLst>
          </p:cNvPr>
          <p:cNvSpPr txBox="1"/>
          <p:nvPr/>
        </p:nvSpPr>
        <p:spPr>
          <a:xfrm>
            <a:off x="2344693" y="1652449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10 AM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45728A-59CB-53BB-2CF2-2E11759F3A4A}"/>
              </a:ext>
            </a:extLst>
          </p:cNvPr>
          <p:cNvSpPr txBox="1"/>
          <p:nvPr/>
        </p:nvSpPr>
        <p:spPr>
          <a:xfrm>
            <a:off x="5610407" y="1650745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D542515-99BB-0007-CB1D-AEE96FFE0355}"/>
              </a:ext>
            </a:extLst>
          </p:cNvPr>
          <p:cNvSpPr txBox="1"/>
          <p:nvPr/>
        </p:nvSpPr>
        <p:spPr>
          <a:xfrm>
            <a:off x="6488552" y="165074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8D2A2A4-8FC7-64FD-3F52-BA0F7EEC1FB4}"/>
              </a:ext>
            </a:extLst>
          </p:cNvPr>
          <p:cNvCxnSpPr/>
          <p:nvPr/>
        </p:nvCxnSpPr>
        <p:spPr>
          <a:xfrm>
            <a:off x="9067799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FCDF9788-0F0F-79AF-4A2D-0F9A53A68D20}"/>
              </a:ext>
            </a:extLst>
          </p:cNvPr>
          <p:cNvSpPr txBox="1"/>
          <p:nvPr/>
        </p:nvSpPr>
        <p:spPr>
          <a:xfrm>
            <a:off x="8715108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BC361AB-A858-1F5C-A8C8-611AE59325A8}"/>
              </a:ext>
            </a:extLst>
          </p:cNvPr>
          <p:cNvCxnSpPr/>
          <p:nvPr/>
        </p:nvCxnSpPr>
        <p:spPr>
          <a:xfrm>
            <a:off x="11005457" y="2046514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FB771402-9CF2-19D5-01EC-39558EACD8A6}"/>
              </a:ext>
            </a:extLst>
          </p:cNvPr>
          <p:cNvSpPr txBox="1"/>
          <p:nvPr/>
        </p:nvSpPr>
        <p:spPr>
          <a:xfrm>
            <a:off x="10603270" y="1650745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EB27495-5A5B-E8D1-D76A-AC86E3D35E65}"/>
              </a:ext>
            </a:extLst>
          </p:cNvPr>
          <p:cNvCxnSpPr/>
          <p:nvPr/>
        </p:nvCxnSpPr>
        <p:spPr>
          <a:xfrm>
            <a:off x="1948543" y="2122714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A411A37-611F-C179-87CB-C2D261558B25}"/>
              </a:ext>
            </a:extLst>
          </p:cNvPr>
          <p:cNvCxnSpPr/>
          <p:nvPr/>
        </p:nvCxnSpPr>
        <p:spPr>
          <a:xfrm>
            <a:off x="4321629" y="216081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C8D05A0-3522-CEC5-4081-4DB5307AAE77}"/>
              </a:ext>
            </a:extLst>
          </p:cNvPr>
          <p:cNvCxnSpPr/>
          <p:nvPr/>
        </p:nvCxnSpPr>
        <p:spPr>
          <a:xfrm>
            <a:off x="6407420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255FF1-C2BB-0346-0641-30E11617D968}"/>
              </a:ext>
            </a:extLst>
          </p:cNvPr>
          <p:cNvCxnSpPr/>
          <p:nvPr/>
        </p:nvCxnSpPr>
        <p:spPr>
          <a:xfrm>
            <a:off x="7898763" y="2182583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57E51CA6-3625-3289-2F91-A1F3A8E1D173}"/>
              </a:ext>
            </a:extLst>
          </p:cNvPr>
          <p:cNvCxnSpPr/>
          <p:nvPr/>
        </p:nvCxnSpPr>
        <p:spPr>
          <a:xfrm>
            <a:off x="10021477" y="2160812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E755C5F6-66CE-D216-7583-B7DE8FD56CBA}"/>
              </a:ext>
            </a:extLst>
          </p:cNvPr>
          <p:cNvSpPr txBox="1"/>
          <p:nvPr/>
        </p:nvSpPr>
        <p:spPr>
          <a:xfrm>
            <a:off x="1187725" y="2971800"/>
            <a:ext cx="15216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Introductions</a:t>
            </a:r>
          </a:p>
          <a:p>
            <a:r>
              <a:rPr lang="en-GB" dirty="0">
                <a:solidFill>
                  <a:schemeClr val="bg1"/>
                </a:solidFill>
              </a:rPr>
              <a:t>Brief Talk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2C20C7-B50B-9F93-F7DB-127D92752922}"/>
              </a:ext>
            </a:extLst>
          </p:cNvPr>
          <p:cNvSpPr txBox="1"/>
          <p:nvPr/>
        </p:nvSpPr>
        <p:spPr>
          <a:xfrm>
            <a:off x="3827263" y="2971800"/>
            <a:ext cx="9887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1D5647-A9A3-8397-6C8E-5621B20F5F9C}"/>
              </a:ext>
            </a:extLst>
          </p:cNvPr>
          <p:cNvSpPr txBox="1"/>
          <p:nvPr/>
        </p:nvSpPr>
        <p:spPr>
          <a:xfrm>
            <a:off x="5836611" y="2971800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FE65E41-1FD5-2505-E4AC-4B7BD60E4F13}"/>
              </a:ext>
            </a:extLst>
          </p:cNvPr>
          <p:cNvSpPr txBox="1"/>
          <p:nvPr/>
        </p:nvSpPr>
        <p:spPr>
          <a:xfrm>
            <a:off x="7404397" y="2971800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B16ECED-8402-155C-ACC5-B37CEA8D496C}"/>
              </a:ext>
            </a:extLst>
          </p:cNvPr>
          <p:cNvSpPr txBox="1"/>
          <p:nvPr/>
        </p:nvSpPr>
        <p:spPr>
          <a:xfrm>
            <a:off x="9153124" y="2971800"/>
            <a:ext cx="1912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5BFC602-A6C4-144D-A292-7CD6D719921B}"/>
              </a:ext>
            </a:extLst>
          </p:cNvPr>
          <p:cNvCxnSpPr/>
          <p:nvPr/>
        </p:nvCxnSpPr>
        <p:spPr>
          <a:xfrm>
            <a:off x="3827263" y="3918856"/>
            <a:ext cx="445429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933CE5C4-4F1F-E2EC-C7A2-588329674194}"/>
              </a:ext>
            </a:extLst>
          </p:cNvPr>
          <p:cNvCxnSpPr/>
          <p:nvPr/>
        </p:nvCxnSpPr>
        <p:spPr>
          <a:xfrm>
            <a:off x="1055922" y="5075840"/>
            <a:ext cx="9840686" cy="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113F2C15-5B61-998E-8F75-39CC3266E919}"/>
              </a:ext>
            </a:extLst>
          </p:cNvPr>
          <p:cNvCxnSpPr/>
          <p:nvPr/>
        </p:nvCxnSpPr>
        <p:spPr>
          <a:xfrm>
            <a:off x="2634351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6F0ADD5-D251-2971-D518-AC61DBE6F26A}"/>
              </a:ext>
            </a:extLst>
          </p:cNvPr>
          <p:cNvCxnSpPr/>
          <p:nvPr/>
        </p:nvCxnSpPr>
        <p:spPr>
          <a:xfrm>
            <a:off x="5900065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16B9806-E09F-7AC6-ACFE-A66740286B12}"/>
              </a:ext>
            </a:extLst>
          </p:cNvPr>
          <p:cNvCxnSpPr/>
          <p:nvPr/>
        </p:nvCxnSpPr>
        <p:spPr>
          <a:xfrm>
            <a:off x="6640293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DE1959E-BD7F-F39D-602C-9A8FBB33896B}"/>
              </a:ext>
            </a:extLst>
          </p:cNvPr>
          <p:cNvCxnSpPr/>
          <p:nvPr/>
        </p:nvCxnSpPr>
        <p:spPr>
          <a:xfrm>
            <a:off x="1055922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CD2AD592-8436-179D-C63C-643BA135E862}"/>
              </a:ext>
            </a:extLst>
          </p:cNvPr>
          <p:cNvSpPr txBox="1"/>
          <p:nvPr/>
        </p:nvSpPr>
        <p:spPr>
          <a:xfrm>
            <a:off x="719130" y="4681775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 AM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6F94138-1978-C221-634E-E1035BB8D774}"/>
              </a:ext>
            </a:extLst>
          </p:cNvPr>
          <p:cNvSpPr txBox="1"/>
          <p:nvPr/>
        </p:nvSpPr>
        <p:spPr>
          <a:xfrm>
            <a:off x="2235844" y="4681775"/>
            <a:ext cx="986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9.30 AM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35C9F66-8BD2-CE14-3A24-763BADBA905A}"/>
              </a:ext>
            </a:extLst>
          </p:cNvPr>
          <p:cNvSpPr txBox="1"/>
          <p:nvPr/>
        </p:nvSpPr>
        <p:spPr>
          <a:xfrm>
            <a:off x="5501558" y="4680071"/>
            <a:ext cx="797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12 AM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6FA00C-FAD3-B59B-7480-3217D1B7416A}"/>
              </a:ext>
            </a:extLst>
          </p:cNvPr>
          <p:cNvSpPr txBox="1"/>
          <p:nvPr/>
        </p:nvSpPr>
        <p:spPr>
          <a:xfrm>
            <a:off x="6379703" y="4680071"/>
            <a:ext cx="6735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 PM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B383828-F2E1-2DE8-4F32-54AFE1786EC0}"/>
              </a:ext>
            </a:extLst>
          </p:cNvPr>
          <p:cNvCxnSpPr/>
          <p:nvPr/>
        </p:nvCxnSpPr>
        <p:spPr>
          <a:xfrm>
            <a:off x="8958950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682FAE92-03FF-59E0-11DD-5F4F1AC5EA1C}"/>
              </a:ext>
            </a:extLst>
          </p:cNvPr>
          <p:cNvSpPr txBox="1"/>
          <p:nvPr/>
        </p:nvSpPr>
        <p:spPr>
          <a:xfrm>
            <a:off x="8606259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3 PM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4DB04BD7-70E4-376A-7D9D-E1EA74566766}"/>
              </a:ext>
            </a:extLst>
          </p:cNvPr>
          <p:cNvCxnSpPr/>
          <p:nvPr/>
        </p:nvCxnSpPr>
        <p:spPr>
          <a:xfrm>
            <a:off x="10896608" y="5075840"/>
            <a:ext cx="0" cy="360000"/>
          </a:xfrm>
          <a:prstGeom prst="straightConnector1">
            <a:avLst/>
          </a:prstGeom>
          <a:ln w="5715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E17EF4C9-330E-7F67-D38C-5D1C2DB89E5E}"/>
              </a:ext>
            </a:extLst>
          </p:cNvPr>
          <p:cNvSpPr txBox="1"/>
          <p:nvPr/>
        </p:nvSpPr>
        <p:spPr>
          <a:xfrm>
            <a:off x="10494421" y="4680071"/>
            <a:ext cx="67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5 PM</a:t>
            </a: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1CB18B37-1E0C-A84A-E6E3-E350FA6DB56B}"/>
              </a:ext>
            </a:extLst>
          </p:cNvPr>
          <p:cNvCxnSpPr/>
          <p:nvPr/>
        </p:nvCxnSpPr>
        <p:spPr>
          <a:xfrm>
            <a:off x="1839694" y="5152040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5683723-AC05-0D0F-EA1A-58E269B12E51}"/>
              </a:ext>
            </a:extLst>
          </p:cNvPr>
          <p:cNvCxnSpPr/>
          <p:nvPr/>
        </p:nvCxnSpPr>
        <p:spPr>
          <a:xfrm>
            <a:off x="4212780" y="519013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E60FA6F-03C8-BA93-F1C8-E90589C624F7}"/>
              </a:ext>
            </a:extLst>
          </p:cNvPr>
          <p:cNvCxnSpPr/>
          <p:nvPr/>
        </p:nvCxnSpPr>
        <p:spPr>
          <a:xfrm>
            <a:off x="6298571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E86DE4B-9CFC-90BE-08FC-7E7D78FF6D5D}"/>
              </a:ext>
            </a:extLst>
          </p:cNvPr>
          <p:cNvCxnSpPr/>
          <p:nvPr/>
        </p:nvCxnSpPr>
        <p:spPr>
          <a:xfrm>
            <a:off x="7789914" y="5211909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16525A87-FAB0-8FAA-80E6-9A805B19CF8F}"/>
              </a:ext>
            </a:extLst>
          </p:cNvPr>
          <p:cNvCxnSpPr/>
          <p:nvPr/>
        </p:nvCxnSpPr>
        <p:spPr>
          <a:xfrm>
            <a:off x="9912628" y="5190138"/>
            <a:ext cx="0" cy="664029"/>
          </a:xfrm>
          <a:prstGeom prst="straightConnector1">
            <a:avLst/>
          </a:prstGeom>
          <a:ln w="57150">
            <a:solidFill>
              <a:schemeClr val="accent4"/>
            </a:solidFill>
            <a:headEnd type="triangle" w="med" len="med"/>
            <a:tailEnd type="non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3F853E59-0199-57AE-840B-28B830E8127A}"/>
              </a:ext>
            </a:extLst>
          </p:cNvPr>
          <p:cNvSpPr txBox="1"/>
          <p:nvPr/>
        </p:nvSpPr>
        <p:spPr>
          <a:xfrm>
            <a:off x="1078876" y="6001126"/>
            <a:ext cx="89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Re-cap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9CB71B6-973E-5F25-C1B6-073534FD6957}"/>
              </a:ext>
            </a:extLst>
          </p:cNvPr>
          <p:cNvSpPr txBox="1"/>
          <p:nvPr/>
        </p:nvSpPr>
        <p:spPr>
          <a:xfrm>
            <a:off x="3718414" y="6001126"/>
            <a:ext cx="154099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Car-1</a:t>
            </a:r>
          </a:p>
          <a:p>
            <a:r>
              <a:rPr lang="en-GB" dirty="0">
                <a:solidFill>
                  <a:schemeClr val="bg1"/>
                </a:solidFill>
              </a:rPr>
              <a:t>(Sensors)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CF1B77-32E3-BBDF-F199-EFB58943C1B9}"/>
              </a:ext>
            </a:extLst>
          </p:cNvPr>
          <p:cNvSpPr txBox="1"/>
          <p:nvPr/>
        </p:nvSpPr>
        <p:spPr>
          <a:xfrm>
            <a:off x="5727762" y="6001126"/>
            <a:ext cx="8036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Lunch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7DA9EC8-27F3-10AE-1AA1-75500A9B4F2F}"/>
              </a:ext>
            </a:extLst>
          </p:cNvPr>
          <p:cNvSpPr txBox="1"/>
          <p:nvPr/>
        </p:nvSpPr>
        <p:spPr>
          <a:xfrm>
            <a:off x="7295548" y="6001126"/>
            <a:ext cx="155837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Car-2</a:t>
            </a:r>
          </a:p>
          <a:p>
            <a:r>
              <a:rPr lang="en-GB" dirty="0">
                <a:solidFill>
                  <a:schemeClr val="bg1"/>
                </a:solidFill>
              </a:rPr>
              <a:t>(Comms.)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2E235C-1938-378B-4B14-0100F43D25BD}"/>
              </a:ext>
            </a:extLst>
          </p:cNvPr>
          <p:cNvSpPr txBox="1"/>
          <p:nvPr/>
        </p:nvSpPr>
        <p:spPr>
          <a:xfrm>
            <a:off x="9044275" y="6001126"/>
            <a:ext cx="22393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Robotic Car-3</a:t>
            </a:r>
          </a:p>
          <a:p>
            <a:r>
              <a:rPr lang="en-GB" dirty="0">
                <a:solidFill>
                  <a:schemeClr val="bg1"/>
                </a:solidFill>
              </a:rPr>
              <a:t>(Encoders/IMU/GPS)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A441AF2-4954-F142-1A0F-CAA1F631B9CA}"/>
              </a:ext>
            </a:extLst>
          </p:cNvPr>
          <p:cNvSpPr txBox="1"/>
          <p:nvPr/>
        </p:nvSpPr>
        <p:spPr>
          <a:xfrm>
            <a:off x="5727762" y="1121229"/>
            <a:ext cx="11029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2FEF55-B1C5-995D-11E3-B833A9AFAFF5}"/>
              </a:ext>
            </a:extLst>
          </p:cNvPr>
          <p:cNvSpPr txBox="1"/>
          <p:nvPr/>
        </p:nvSpPr>
        <p:spPr>
          <a:xfrm>
            <a:off x="5722412" y="4130414"/>
            <a:ext cx="11263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Day-2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CC9547-6FCF-4CA0-E532-D47631217FC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4133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9C575F-A4C3-EAB4-75AD-D99CBB82E8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78F38-9591-4EA9-FC02-E5F8709B1E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Design Philosophy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9 AM to 10 AM)</a:t>
            </a:r>
          </a:p>
        </p:txBody>
      </p:sp>
    </p:spTree>
    <p:extLst>
      <p:ext uri="{BB962C8B-B14F-4D97-AF65-F5344CB8AC3E}">
        <p14:creationId xmlns:p14="http://schemas.microsoft.com/office/powerpoint/2010/main" val="480707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E98146-E13A-78F6-9F51-D22818F61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E39BB3-BB17-CF43-9DD8-009B2F4DC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8E4C43-608E-6781-2269-617A078F4855}"/>
              </a:ext>
            </a:extLst>
          </p:cNvPr>
          <p:cNvSpPr txBox="1"/>
          <p:nvPr/>
        </p:nvSpPr>
        <p:spPr>
          <a:xfrm>
            <a:off x="448190" y="1037547"/>
            <a:ext cx="10148227" cy="569386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chemeClr val="accent5"/>
                </a:solidFill>
              </a:rPr>
              <a:t>Existing Robotic Products Common: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Incomplete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Unreliable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Sourcing Challenges &amp; Import Tariffs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Almost Impossible to Build if System Complexity Increases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Advanced Robotics – Expensive/Sourcing Challenges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Black Box/Toy Like Products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Unstructured &amp; No/Very Limited Documentation &amp; Support</a:t>
            </a:r>
            <a:endParaRPr lang="en-GB" sz="2800" b="1" dirty="0">
              <a:solidFill>
                <a:schemeClr val="accent4"/>
              </a:solidFill>
            </a:endParaRPr>
          </a:p>
          <a:p>
            <a:r>
              <a:rPr lang="en-GB" sz="2800" b="1" dirty="0">
                <a:solidFill>
                  <a:schemeClr val="accent4"/>
                </a:solidFill>
              </a:rPr>
              <a:t>Consequences of the Above Issues: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Giving-up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Challenging Projects are Not Executed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Learning Remains Shallow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Missed Career Opportunities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27FDC-0E02-FE0B-4A8B-0F43DEC28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43156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FC41105-E123-B9EB-A359-3B1A8FCA2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BE6C9-99CB-7945-811D-A05708B51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5D695F2-7897-9EDA-2552-BACAAD123616}"/>
              </a:ext>
            </a:extLst>
          </p:cNvPr>
          <p:cNvSpPr/>
          <p:nvPr/>
        </p:nvSpPr>
        <p:spPr>
          <a:xfrm>
            <a:off x="1306286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b="1" dirty="0"/>
              <a:t>Foundational</a:t>
            </a:r>
          </a:p>
          <a:p>
            <a:pPr algn="ctr"/>
            <a:r>
              <a:rPr lang="en-GB" dirty="0"/>
              <a:t>(15 Lessons/Labs)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0D5D825-FB01-989E-495F-E91C0C0C8E12}"/>
              </a:ext>
            </a:extLst>
          </p:cNvPr>
          <p:cNvSpPr/>
          <p:nvPr/>
        </p:nvSpPr>
        <p:spPr>
          <a:xfrm>
            <a:off x="4751614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Take Home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843F2A8-4DC5-12EA-4AAF-8B7A80286E34}"/>
              </a:ext>
            </a:extLst>
          </p:cNvPr>
          <p:cNvSpPr/>
          <p:nvPr/>
        </p:nvSpPr>
        <p:spPr>
          <a:xfrm>
            <a:off x="8196942" y="2100943"/>
            <a:ext cx="2688771" cy="153488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Capstone </a:t>
            </a:r>
          </a:p>
          <a:p>
            <a:pPr algn="ctr"/>
            <a:r>
              <a:rPr lang="en-GB" dirty="0"/>
              <a:t>Projects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DDE92-3319-4CC1-2DDE-C1468469E682}"/>
              </a:ext>
            </a:extLst>
          </p:cNvPr>
          <p:cNvSpPr txBox="1"/>
          <p:nvPr/>
        </p:nvSpPr>
        <p:spPr>
          <a:xfrm>
            <a:off x="1306286" y="1611086"/>
            <a:ext cx="20494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Each Product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153757-876B-66FC-4F54-657C1E44F54C}"/>
              </a:ext>
            </a:extLst>
          </p:cNvPr>
          <p:cNvSpPr txBox="1"/>
          <p:nvPr/>
        </p:nvSpPr>
        <p:spPr>
          <a:xfrm>
            <a:off x="1306286" y="5040086"/>
            <a:ext cx="9579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Staff would  introduce the lab lesson, give a demo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Students follow the instructions and conduct the experiment under the supervision of staff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34A013-C117-7F1E-0175-5DB75C64E7FD}"/>
              </a:ext>
            </a:extLst>
          </p:cNvPr>
          <p:cNvSpPr txBox="1"/>
          <p:nvPr/>
        </p:nvSpPr>
        <p:spPr>
          <a:xfrm>
            <a:off x="1306285" y="4426021"/>
            <a:ext cx="40509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5"/>
                </a:solidFill>
              </a:rPr>
              <a:t>Foundational Lessons/Labs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392A1D-0C28-6B7C-8618-B45E2D67E956}"/>
              </a:ext>
            </a:extLst>
          </p:cNvPr>
          <p:cNvCxnSpPr/>
          <p:nvPr/>
        </p:nvCxnSpPr>
        <p:spPr>
          <a:xfrm>
            <a:off x="1502229" y="4158343"/>
            <a:ext cx="21880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6108EA4-3FEC-C3B1-52DF-7443ED44E806}"/>
              </a:ext>
            </a:extLst>
          </p:cNvPr>
          <p:cNvCxnSpPr>
            <a:cxnSpLocks/>
          </p:cNvCxnSpPr>
          <p:nvPr/>
        </p:nvCxnSpPr>
        <p:spPr>
          <a:xfrm>
            <a:off x="5001986" y="4158343"/>
            <a:ext cx="569867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00DC291-77D3-5690-8E44-4EA639DEC611}"/>
              </a:ext>
            </a:extLst>
          </p:cNvPr>
          <p:cNvSpPr txBox="1"/>
          <p:nvPr/>
        </p:nvSpPr>
        <p:spPr>
          <a:xfrm>
            <a:off x="1279750" y="3672673"/>
            <a:ext cx="27418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Staff Responsibility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CE840E-1B16-607D-F514-9B8DFA7427CF}"/>
              </a:ext>
            </a:extLst>
          </p:cNvPr>
          <p:cNvSpPr txBox="1"/>
          <p:nvPr/>
        </p:nvSpPr>
        <p:spPr>
          <a:xfrm>
            <a:off x="5575954" y="3700865"/>
            <a:ext cx="45507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4"/>
                </a:solidFill>
              </a:rPr>
              <a:t>Students Initiative/Responsibility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3B58ED-037C-D57D-E569-A0962C39C2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9585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38B6FE-5F05-D0CC-8713-90D7C0840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D6148-E4FA-8B16-C215-EB630D0E46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4189A3-F00F-2263-A53F-A90C54011540}"/>
              </a:ext>
            </a:extLst>
          </p:cNvPr>
          <p:cNvSpPr txBox="1"/>
          <p:nvPr/>
        </p:nvSpPr>
        <p:spPr>
          <a:xfrm>
            <a:off x="250372" y="1320575"/>
            <a:ext cx="31329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chemeClr val="accent5"/>
                </a:solidFill>
              </a:rPr>
              <a:t>Products Series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098B1B9-2C1D-FB89-A21E-2C6D13FAFC85}"/>
              </a:ext>
            </a:extLst>
          </p:cNvPr>
          <p:cNvSpPr/>
          <p:nvPr/>
        </p:nvSpPr>
        <p:spPr>
          <a:xfrm>
            <a:off x="990600" y="2231573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Sensors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D0E8DB6-7524-EE47-6A17-5B375CE86D46}"/>
              </a:ext>
            </a:extLst>
          </p:cNvPr>
          <p:cNvSpPr/>
          <p:nvPr/>
        </p:nvSpPr>
        <p:spPr>
          <a:xfrm>
            <a:off x="5040085" y="2231572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Motion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48BD9EB-12F9-A922-D87B-1D41D861CC0F}"/>
              </a:ext>
            </a:extLst>
          </p:cNvPr>
          <p:cNvSpPr/>
          <p:nvPr/>
        </p:nvSpPr>
        <p:spPr>
          <a:xfrm>
            <a:off x="9089571" y="2231571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Communications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E10E44-CFBE-EE41-3E62-E8B437148EA5}"/>
              </a:ext>
            </a:extLst>
          </p:cNvPr>
          <p:cNvSpPr txBox="1"/>
          <p:nvPr/>
        </p:nvSpPr>
        <p:spPr>
          <a:xfrm>
            <a:off x="4554952" y="1771354"/>
            <a:ext cx="33649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Foundational Products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52F823-F4CD-9AE7-9C90-8219790D6F06}"/>
              </a:ext>
            </a:extLst>
          </p:cNvPr>
          <p:cNvSpPr/>
          <p:nvPr/>
        </p:nvSpPr>
        <p:spPr>
          <a:xfrm>
            <a:off x="990600" y="4659086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Car-1</a:t>
            </a:r>
          </a:p>
          <a:p>
            <a:pPr algn="ctr"/>
            <a:r>
              <a:rPr lang="en-GB" dirty="0"/>
              <a:t>(Sensors)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D54BE3C-1583-80CA-F3FF-B0BAB7550BAE}"/>
              </a:ext>
            </a:extLst>
          </p:cNvPr>
          <p:cNvSpPr/>
          <p:nvPr/>
        </p:nvSpPr>
        <p:spPr>
          <a:xfrm>
            <a:off x="5040085" y="4659085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Car-2</a:t>
            </a:r>
          </a:p>
          <a:p>
            <a:pPr algn="ctr"/>
            <a:r>
              <a:rPr lang="en-GB" dirty="0"/>
              <a:t>(Comms.)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64FDD1D-D2D0-1869-447A-965BD9EF08EE}"/>
              </a:ext>
            </a:extLst>
          </p:cNvPr>
          <p:cNvSpPr/>
          <p:nvPr/>
        </p:nvSpPr>
        <p:spPr>
          <a:xfrm>
            <a:off x="9089571" y="4659084"/>
            <a:ext cx="2394695" cy="13255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Robot Car-3</a:t>
            </a:r>
          </a:p>
          <a:p>
            <a:pPr algn="ctr"/>
            <a:r>
              <a:rPr lang="en-GB" dirty="0"/>
              <a:t>(Encoders/GPS/IMU)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8F6366F-1BAC-B243-8F2A-C058DB5A1382}"/>
              </a:ext>
            </a:extLst>
          </p:cNvPr>
          <p:cNvSpPr txBox="1"/>
          <p:nvPr/>
        </p:nvSpPr>
        <p:spPr>
          <a:xfrm>
            <a:off x="4597416" y="4258277"/>
            <a:ext cx="299716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Navigational Robots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A186A8-A322-AA8C-FD33-F56EEE9E2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2460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ABA46D-D8E0-7CE0-E0AA-2F87BD125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387D6-A5D8-968A-2CAD-D7029105B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Design Philosophy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F58017-F28D-BC11-72B2-9FC35E726575}"/>
              </a:ext>
            </a:extLst>
          </p:cNvPr>
          <p:cNvSpPr txBox="1"/>
          <p:nvPr/>
        </p:nvSpPr>
        <p:spPr>
          <a:xfrm>
            <a:off x="783771" y="1314407"/>
            <a:ext cx="719376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Avoid Blackbox Approach to Lay Firm Foundations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7773D7E-03FD-4E3E-406A-2FA52495A1A8}"/>
              </a:ext>
            </a:extLst>
          </p:cNvPr>
          <p:cNvSpPr txBox="1"/>
          <p:nvPr/>
        </p:nvSpPr>
        <p:spPr>
          <a:xfrm>
            <a:off x="783771" y="1964353"/>
            <a:ext cx="10721397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accent5"/>
                </a:solidFill>
              </a:rPr>
              <a:t>Sensors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all 15 lessons/labs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Motion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DC Motor &amp; Stepper Motor labs on a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r>
              <a:rPr lang="en-GB" sz="2400" dirty="0">
                <a:solidFill>
                  <a:schemeClr val="accent5"/>
                </a:solidFill>
              </a:rPr>
              <a:t>Communications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NRF &amp; LoRa labs on a </a:t>
            </a:r>
            <a:r>
              <a:rPr lang="en-GB" sz="2400" dirty="0">
                <a:solidFill>
                  <a:schemeClr val="accent4"/>
                </a:solidFill>
              </a:rPr>
              <a:t>Bread Board </a:t>
            </a:r>
            <a:r>
              <a:rPr lang="en-GB" sz="2400" dirty="0">
                <a:solidFill>
                  <a:schemeClr val="bg1"/>
                </a:solidFill>
              </a:rPr>
              <a:t>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Remaining Lessons/Labs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31DE6-D871-79D4-1C9C-96AB83BA884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1787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C312A2-E328-D3FC-0F32-E498D1CEB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F6D100-9B44-EBA2-5A4B-205B48CC1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Sensors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10 AM to 12 PM)</a:t>
            </a:r>
          </a:p>
        </p:txBody>
      </p:sp>
    </p:spTree>
    <p:extLst>
      <p:ext uri="{BB962C8B-B14F-4D97-AF65-F5344CB8AC3E}">
        <p14:creationId xmlns:p14="http://schemas.microsoft.com/office/powerpoint/2010/main" val="3551234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DD7E49-AA00-681B-0F72-5E521F9B5C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0A92C-4DB1-066B-E3AE-6FD3CDA219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C1E47D-2E0C-92B6-960A-7B8ACF4DCD57}"/>
              </a:ext>
            </a:extLst>
          </p:cNvPr>
          <p:cNvSpPr txBox="1"/>
          <p:nvPr/>
        </p:nvSpPr>
        <p:spPr>
          <a:xfrm>
            <a:off x="10884" y="977675"/>
            <a:ext cx="12170232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Sensors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Ultrasonic Sensor</a:t>
            </a: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u="sng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 Concept of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 on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Gas Sensor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OLED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702879-BC7B-9ED8-7837-393D44C67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69237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6C26D95-808E-AFCF-2CB7-B6F0823C1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C4AD3A-8ACE-5F1F-A089-6E49F25BF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Motion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1 PM to 3 PM)</a:t>
            </a:r>
          </a:p>
        </p:txBody>
      </p:sp>
    </p:spTree>
    <p:extLst>
      <p:ext uri="{BB962C8B-B14F-4D97-AF65-F5344CB8AC3E}">
        <p14:creationId xmlns:p14="http://schemas.microsoft.com/office/powerpoint/2010/main" val="38410536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F681BD-7BBB-877C-DF26-A67D0773B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3E3FA3-F13E-2E6F-9FB3-D6768582DF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3349F5-019B-F31A-E1ED-462C2A8733A0}"/>
              </a:ext>
            </a:extLst>
          </p:cNvPr>
          <p:cNvSpPr txBox="1"/>
          <p:nvPr/>
        </p:nvSpPr>
        <p:spPr>
          <a:xfrm>
            <a:off x="10885" y="1102861"/>
            <a:ext cx="121702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Precautions, Power Supply and Sensor Modules V/G Pins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Ticks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DC Motor Encoder –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feature of the </a:t>
            </a:r>
            <a:r>
              <a:rPr lang="en-GB" sz="2400" u="sng" dirty="0">
                <a:solidFill>
                  <a:schemeClr val="accent5"/>
                </a:solidFill>
              </a:rPr>
              <a:t>Creative Board &amp; Free Connector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CAD4EDE-DB76-7975-F261-3BC60C9E62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13712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07A9717-9443-18BB-035E-4D4CC73D1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2450A7-CD1C-FDE8-E6A1-9EC3AEA70F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Communications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(Day-1: 3 PM to 5 PM)</a:t>
            </a:r>
          </a:p>
        </p:txBody>
      </p:sp>
    </p:spTree>
    <p:extLst>
      <p:ext uri="{BB962C8B-B14F-4D97-AF65-F5344CB8AC3E}">
        <p14:creationId xmlns:p14="http://schemas.microsoft.com/office/powerpoint/2010/main" val="4126155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BE29D4-CF24-9712-0C15-07EA836BA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F24C2-4D49-091F-4E2E-E1259B604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Communications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CBA5D58-D7BD-496E-AA57-62A506799CA3}"/>
              </a:ext>
            </a:extLst>
          </p:cNvPr>
          <p:cNvSpPr txBox="1"/>
          <p:nvPr/>
        </p:nvSpPr>
        <p:spPr>
          <a:xfrm>
            <a:off x="142875" y="1000535"/>
            <a:ext cx="1190625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Communication Creative Board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both the </a:t>
            </a:r>
            <a:r>
              <a:rPr lang="en-GB" sz="2400" dirty="0">
                <a:solidFill>
                  <a:schemeClr val="accent4"/>
                </a:solidFill>
              </a:rPr>
              <a:t>Bread Board</a:t>
            </a:r>
            <a:r>
              <a:rPr lang="en-GB" sz="2400" dirty="0">
                <a:solidFill>
                  <a:schemeClr val="bg1"/>
                </a:solidFill>
              </a:rPr>
              <a:t> and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RFID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Conduct the Following Labs on the </a:t>
            </a:r>
            <a:r>
              <a:rPr lang="en-GB" sz="2400" dirty="0">
                <a:solidFill>
                  <a:schemeClr val="accent5"/>
                </a:solidFill>
              </a:rPr>
              <a:t>Creative Board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NRF24L01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SD Card module and practice memory card insertion/removal/formatting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</a:t>
            </a:r>
            <a:r>
              <a:rPr lang="en-GB" sz="2400" u="sng" dirty="0">
                <a:solidFill>
                  <a:schemeClr val="accent1"/>
                </a:solidFill>
              </a:rPr>
              <a:t>Bread Board</a:t>
            </a:r>
            <a:r>
              <a:rPr lang="en-GB" sz="2400" u="sng" dirty="0">
                <a:solidFill>
                  <a:schemeClr val="bg1"/>
                </a:solidFill>
              </a:rPr>
              <a:t> of the </a:t>
            </a:r>
            <a:r>
              <a:rPr lang="en-GB" sz="2400" u="sng" dirty="0">
                <a:solidFill>
                  <a:schemeClr val="accent5"/>
                </a:solidFill>
              </a:rPr>
              <a:t>Creative Board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C13F4DC-70C3-5490-8CA9-BEE2911EB2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238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C7D19D-B2CF-F8AE-0F28-E3AB3A5EA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88FD4-0073-8E3B-4079-DD2304EB4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Car-1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9.30 AM to 12 PM)</a:t>
            </a:r>
          </a:p>
        </p:txBody>
      </p:sp>
    </p:spTree>
    <p:extLst>
      <p:ext uri="{BB962C8B-B14F-4D97-AF65-F5344CB8AC3E}">
        <p14:creationId xmlns:p14="http://schemas.microsoft.com/office/powerpoint/2010/main" val="2181619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6A7405-F2C3-19D4-191D-778D09D7C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7C001C-8D46-D10A-2DC5-E898A6261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9669D-D00B-A06F-DD64-BAA628E3D946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IR Sensor Calibration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Edge or IR Obstacle Mode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1C72A67-20EF-4D59-9457-012B0891DE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492795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B8719-C813-1640-56C9-6156B0AD7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C8A08-6C02-438B-DB5E-D1D5C594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Car-2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1 PM to 3 PM)</a:t>
            </a:r>
          </a:p>
        </p:txBody>
      </p:sp>
    </p:spTree>
    <p:extLst>
      <p:ext uri="{BB962C8B-B14F-4D97-AF65-F5344CB8AC3E}">
        <p14:creationId xmlns:p14="http://schemas.microsoft.com/office/powerpoint/2010/main" val="4092939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E84758D-B044-65C7-020E-4A076E274C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D7767-459B-DA1B-0866-BA47D620A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Car-2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656C9E-F22D-3625-74C9-F59ACC161F8B}"/>
              </a:ext>
            </a:extLst>
          </p:cNvPr>
          <p:cNvSpPr txBox="1"/>
          <p:nvPr/>
        </p:nvSpPr>
        <p:spPr>
          <a:xfrm>
            <a:off x="142875" y="1000535"/>
            <a:ext cx="1190625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Remote Setup for: Joystick, Accelerometer and Buttons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Discuss the Free Connectors, Gesture Sensor for Enhancements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329BB16-B275-B221-B022-0CD08667BC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87382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2C05EA-BFC7-BC6B-F5F8-E9E9B311D7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82EE5-5AEF-AB38-4FD1-BB34AEED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Robot Car-3</a:t>
            </a:r>
            <a:br>
              <a:rPr lang="en-GB" dirty="0">
                <a:solidFill>
                  <a:schemeClr val="accent1"/>
                </a:solidFill>
              </a:rPr>
            </a:br>
            <a:r>
              <a:rPr lang="en-GB" dirty="0">
                <a:solidFill>
                  <a:schemeClr val="accent1"/>
                </a:solidFill>
              </a:rPr>
              <a:t>(Day-2: 3 PM to 5 PM)</a:t>
            </a:r>
          </a:p>
        </p:txBody>
      </p:sp>
    </p:spTree>
    <p:extLst>
      <p:ext uri="{BB962C8B-B14F-4D97-AF65-F5344CB8AC3E}">
        <p14:creationId xmlns:p14="http://schemas.microsoft.com/office/powerpoint/2010/main" val="41233469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FD04A-6AE2-1C7A-8B20-9697E653E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1BFCA-59AF-2C1C-495B-6A13ACA39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84" y="-4988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Navigational Robot Car-3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7CF12A-3D73-F375-4F60-DD4414E671EA}"/>
              </a:ext>
            </a:extLst>
          </p:cNvPr>
          <p:cNvSpPr txBox="1"/>
          <p:nvPr/>
        </p:nvSpPr>
        <p:spPr>
          <a:xfrm>
            <a:off x="142875" y="1000535"/>
            <a:ext cx="11906250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b="1" dirty="0">
                <a:solidFill>
                  <a:schemeClr val="accent4"/>
                </a:solidFill>
              </a:rPr>
              <a:t>Review the Contents in the Box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Review &amp; Discuss the Motor Controller Board, Assembly, Power Supply etc.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Discuss the Health &amp; Safety Precautions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bg1"/>
                </a:solidFill>
              </a:rPr>
              <a:t>Practice the Following Lab</a:t>
            </a:r>
            <a:endParaRPr lang="en-GB" sz="2400" dirty="0">
              <a:solidFill>
                <a:schemeClr val="accent5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Car Basic Movements; how to correct directions (by swapping the pins)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Constant Speed via PID Controller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GPS (Discuss the importance of removing GPS module while uploading)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GB" sz="2400" dirty="0">
                <a:solidFill>
                  <a:schemeClr val="accent5"/>
                </a:solidFill>
              </a:rPr>
              <a:t>Read &amp; Display – Digital Compass Bearing</a:t>
            </a:r>
          </a:p>
          <a:p>
            <a:pPr lvl="1"/>
            <a:endParaRPr lang="en-GB" sz="2400" dirty="0">
              <a:solidFill>
                <a:schemeClr val="accent5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GB" sz="24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DE3AB7C-9620-6343-F3BD-7C62890B8F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93974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4971334-A554-A5E0-CFEA-3A1A2B9214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9F8912-3BC9-C86D-D7B6-BF3A7160A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934155"/>
            <a:ext cx="12192000" cy="1325563"/>
          </a:xfrm>
        </p:spPr>
        <p:txBody>
          <a:bodyPr/>
          <a:lstStyle/>
          <a:p>
            <a:pPr algn="ctr"/>
            <a:r>
              <a:rPr lang="en-GB" dirty="0">
                <a:solidFill>
                  <a:schemeClr val="accent1"/>
                </a:solidFill>
              </a:rPr>
              <a:t>Dropout Percentage</a:t>
            </a:r>
          </a:p>
        </p:txBody>
      </p:sp>
    </p:spTree>
    <p:extLst>
      <p:ext uri="{BB962C8B-B14F-4D97-AF65-F5344CB8AC3E}">
        <p14:creationId xmlns:p14="http://schemas.microsoft.com/office/powerpoint/2010/main" val="36705333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6BB51D-5A58-E146-4897-AF91EBAD5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8DEC33-C1E6-5322-4EF9-3B06D4201B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64" y="92321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bg1"/>
                </a:solidFill>
              </a:rPr>
              <a:t>Students Enrolment Rates from Robotics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AC315C-2700-9B32-55E4-7C8C84DBBE63}"/>
              </a:ext>
            </a:extLst>
          </p:cNvPr>
          <p:cNvCxnSpPr/>
          <p:nvPr/>
        </p:nvCxnSpPr>
        <p:spPr>
          <a:xfrm flipV="1">
            <a:off x="1219200" y="1690688"/>
            <a:ext cx="0" cy="3686855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724A0C7-45B3-96BD-E604-DB5459C16DC0}"/>
              </a:ext>
            </a:extLst>
          </p:cNvPr>
          <p:cNvCxnSpPr>
            <a:cxnSpLocks/>
          </p:cNvCxnSpPr>
          <p:nvPr/>
        </p:nvCxnSpPr>
        <p:spPr>
          <a:xfrm>
            <a:off x="1045029" y="5061857"/>
            <a:ext cx="10983685" cy="0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C74A3E70-C92A-29F8-AF3C-AE668846BE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62" t="72252" r="31065" b="3968"/>
          <a:stretch>
            <a:fillRect/>
          </a:stretch>
        </p:blipFill>
        <p:spPr>
          <a:xfrm>
            <a:off x="5283184" y="5259843"/>
            <a:ext cx="831062" cy="73237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A2DF18-CE29-68EB-756D-8B2679B233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72" t="65714" r="24953" b="3968"/>
          <a:stretch>
            <a:fillRect/>
          </a:stretch>
        </p:blipFill>
        <p:spPr>
          <a:xfrm>
            <a:off x="8050557" y="5259843"/>
            <a:ext cx="856532" cy="74702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5B9561C-FEBB-9EB6-AA38-BE1E399494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6" t="40317" r="20462" b="32857"/>
          <a:stretch>
            <a:fillRect/>
          </a:stretch>
        </p:blipFill>
        <p:spPr>
          <a:xfrm>
            <a:off x="6438338" y="5261889"/>
            <a:ext cx="1189051" cy="7470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998B149-E689-72C9-6249-DB581A1A86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2" t="8181" r="18794" b="59683"/>
          <a:stretch>
            <a:fillRect/>
          </a:stretch>
        </p:blipFill>
        <p:spPr>
          <a:xfrm>
            <a:off x="2488906" y="5259843"/>
            <a:ext cx="1021166" cy="74907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13500E3-4F21-FB5C-1198-15FB195CAA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00" t="43809" r="29493" b="35397"/>
          <a:stretch>
            <a:fillRect/>
          </a:stretch>
        </p:blipFill>
        <p:spPr>
          <a:xfrm>
            <a:off x="3826505" y="5259843"/>
            <a:ext cx="1132587" cy="72729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AC92E73-1E49-2D02-3165-CA03AB4741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98" t="4451" r="30611" b="63413"/>
          <a:stretch>
            <a:fillRect/>
          </a:stretch>
        </p:blipFill>
        <p:spPr>
          <a:xfrm>
            <a:off x="1529442" y="5238071"/>
            <a:ext cx="711671" cy="74907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1951FB0-7B75-380A-654A-DC049CE203C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095" b="57731" l="9021" r="8119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016" r="9788" b="36190"/>
          <a:stretch>
            <a:fillRect/>
          </a:stretch>
        </p:blipFill>
        <p:spPr>
          <a:xfrm>
            <a:off x="9106635" y="5238071"/>
            <a:ext cx="1039611" cy="93412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6FC1FFA-3D0D-B660-806F-A913287EBC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5936" y="5259843"/>
            <a:ext cx="428263" cy="79986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82B7EDE4-893A-4B9D-6726-3F0B54C5402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13889" y="5273478"/>
            <a:ext cx="559653" cy="98972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58C2565-87D8-3B2B-8207-842FB1557962}"/>
              </a:ext>
            </a:extLst>
          </p:cNvPr>
          <p:cNvSpPr txBox="1"/>
          <p:nvPr/>
        </p:nvSpPr>
        <p:spPr>
          <a:xfrm>
            <a:off x="5308052" y="6354983"/>
            <a:ext cx="1787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bg1"/>
                </a:solidFill>
              </a:rPr>
              <a:t>Complexity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3948A5-D3D9-2105-517F-D5FECA7BBBE1}"/>
              </a:ext>
            </a:extLst>
          </p:cNvPr>
          <p:cNvSpPr txBox="1"/>
          <p:nvPr/>
        </p:nvSpPr>
        <p:spPr>
          <a:xfrm>
            <a:off x="75617" y="3240907"/>
            <a:ext cx="14064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bg1"/>
                </a:solidFill>
              </a:rPr>
              <a:t>Students</a:t>
            </a:r>
          </a:p>
          <a:p>
            <a:r>
              <a:rPr lang="en-GB" sz="2000" b="1" dirty="0">
                <a:solidFill>
                  <a:schemeClr val="bg1"/>
                </a:solidFill>
              </a:rPr>
              <a:t>Enrolment</a:t>
            </a:r>
          </a:p>
          <a:p>
            <a:r>
              <a:rPr lang="en-GB" sz="2000" b="1" dirty="0">
                <a:solidFill>
                  <a:schemeClr val="bg1"/>
                </a:solidFill>
              </a:rPr>
              <a:t>Rate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B770D817-D90B-2886-3C76-55E5E8121F64}"/>
              </a:ext>
            </a:extLst>
          </p:cNvPr>
          <p:cNvCxnSpPr/>
          <p:nvPr/>
        </p:nvCxnSpPr>
        <p:spPr>
          <a:xfrm flipV="1">
            <a:off x="1885277" y="2460171"/>
            <a:ext cx="0" cy="2525486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1EC6BE3-CEC8-79CF-80E5-34D16DAEF6CF}"/>
              </a:ext>
            </a:extLst>
          </p:cNvPr>
          <p:cNvCxnSpPr>
            <a:cxnSpLocks/>
          </p:cNvCxnSpPr>
          <p:nvPr/>
        </p:nvCxnSpPr>
        <p:spPr>
          <a:xfrm flipV="1">
            <a:off x="2979766" y="3534115"/>
            <a:ext cx="0" cy="15277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9C519A4-03EF-050A-9DBA-77DD3F7464CB}"/>
              </a:ext>
            </a:extLst>
          </p:cNvPr>
          <p:cNvCxnSpPr>
            <a:cxnSpLocks/>
          </p:cNvCxnSpPr>
          <p:nvPr/>
        </p:nvCxnSpPr>
        <p:spPr>
          <a:xfrm flipV="1">
            <a:off x="4378993" y="4169229"/>
            <a:ext cx="0" cy="892628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2AD16D7-0851-99C3-8889-8E3B4D0878D5}"/>
              </a:ext>
            </a:extLst>
          </p:cNvPr>
          <p:cNvCxnSpPr>
            <a:cxnSpLocks/>
          </p:cNvCxnSpPr>
          <p:nvPr/>
        </p:nvCxnSpPr>
        <p:spPr>
          <a:xfrm flipV="1">
            <a:off x="5698715" y="4484914"/>
            <a:ext cx="0" cy="5769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3B24041-980D-96E7-FF5C-736B3FD25BEE}"/>
              </a:ext>
            </a:extLst>
          </p:cNvPr>
          <p:cNvCxnSpPr>
            <a:cxnSpLocks/>
          </p:cNvCxnSpPr>
          <p:nvPr/>
        </p:nvCxnSpPr>
        <p:spPr>
          <a:xfrm flipV="1">
            <a:off x="7032863" y="4718954"/>
            <a:ext cx="0" cy="360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D9E0A7D-7ADE-2E1F-CE5D-62B91D8A20F2}"/>
              </a:ext>
            </a:extLst>
          </p:cNvPr>
          <p:cNvCxnSpPr>
            <a:cxnSpLocks/>
          </p:cNvCxnSpPr>
          <p:nvPr/>
        </p:nvCxnSpPr>
        <p:spPr>
          <a:xfrm flipV="1">
            <a:off x="8468629" y="4777792"/>
            <a:ext cx="0" cy="28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43F69DF-051F-8D76-D4B6-1A8A36E9AA31}"/>
              </a:ext>
            </a:extLst>
          </p:cNvPr>
          <p:cNvSpPr txBox="1"/>
          <p:nvPr/>
        </p:nvSpPr>
        <p:spPr>
          <a:xfrm>
            <a:off x="540809" y="1922027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100%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3EC529A1-BF0B-38D3-EA31-FAB2D290E42A}"/>
              </a:ext>
            </a:extLst>
          </p:cNvPr>
          <p:cNvCxnSpPr>
            <a:cxnSpLocks/>
          </p:cNvCxnSpPr>
          <p:nvPr/>
        </p:nvCxnSpPr>
        <p:spPr>
          <a:xfrm>
            <a:off x="1219200" y="2460171"/>
            <a:ext cx="10526486" cy="0"/>
          </a:xfrm>
          <a:prstGeom prst="straightConnector1">
            <a:avLst/>
          </a:prstGeom>
          <a:ln w="57150">
            <a:solidFill>
              <a:schemeClr val="accent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0584ABD-0F99-29AE-3190-B0696A8699D3}"/>
              </a:ext>
            </a:extLst>
          </p:cNvPr>
          <p:cNvSpPr txBox="1"/>
          <p:nvPr/>
        </p:nvSpPr>
        <p:spPr>
          <a:xfrm>
            <a:off x="4330539" y="2107729"/>
            <a:ext cx="4528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GPREC &amp; ZAS Robotics Collaboration Vision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5CEF310-E5E8-DFEE-AC1E-5D311F46A354}"/>
              </a:ext>
            </a:extLst>
          </p:cNvPr>
          <p:cNvSpPr txBox="1"/>
          <p:nvPr/>
        </p:nvSpPr>
        <p:spPr>
          <a:xfrm>
            <a:off x="824017" y="50944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0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CB05B5-DAC4-7A76-8A12-BC1E1C60733D}"/>
              </a:ext>
            </a:extLst>
          </p:cNvPr>
          <p:cNvSpPr txBox="1"/>
          <p:nvPr/>
        </p:nvSpPr>
        <p:spPr>
          <a:xfrm>
            <a:off x="1528930" y="6077984"/>
            <a:ext cx="7121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sensors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E0A5502-1F2E-FC13-38BB-2B28C7308D72}"/>
              </a:ext>
            </a:extLst>
          </p:cNvPr>
          <p:cNvSpPr txBox="1"/>
          <p:nvPr/>
        </p:nvSpPr>
        <p:spPr>
          <a:xfrm>
            <a:off x="2623674" y="6092042"/>
            <a:ext cx="8547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Basic </a:t>
            </a:r>
          </a:p>
          <a:p>
            <a:r>
              <a:rPr lang="en-GB" sz="1200" dirty="0">
                <a:solidFill>
                  <a:schemeClr val="bg1"/>
                </a:solidFill>
              </a:rPr>
              <a:t>Robot Car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C7DCD33-7B64-A57B-5E54-CCAF9AB79C74}"/>
              </a:ext>
            </a:extLst>
          </p:cNvPr>
          <p:cNvSpPr txBox="1"/>
          <p:nvPr/>
        </p:nvSpPr>
        <p:spPr>
          <a:xfrm>
            <a:off x="4108919" y="6077984"/>
            <a:ext cx="647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Motion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C9B4EA-45D2-ACC0-2EA6-49368E7D7044}"/>
              </a:ext>
            </a:extLst>
          </p:cNvPr>
          <p:cNvSpPr txBox="1"/>
          <p:nvPr/>
        </p:nvSpPr>
        <p:spPr>
          <a:xfrm>
            <a:off x="5349907" y="6092042"/>
            <a:ext cx="7136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Comms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9500186-E449-2DE6-6365-A0E8E440E234}"/>
              </a:ext>
            </a:extLst>
          </p:cNvPr>
          <p:cNvSpPr txBox="1"/>
          <p:nvPr/>
        </p:nvSpPr>
        <p:spPr>
          <a:xfrm>
            <a:off x="6594845" y="6055753"/>
            <a:ext cx="1039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Intermediate</a:t>
            </a:r>
          </a:p>
          <a:p>
            <a:r>
              <a:rPr lang="en-GB" sz="1200" dirty="0">
                <a:solidFill>
                  <a:schemeClr val="bg1"/>
                </a:solidFill>
              </a:rPr>
              <a:t>Robot Car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B252B8C-4EF1-6CCE-811C-880BFC863E06}"/>
              </a:ext>
            </a:extLst>
          </p:cNvPr>
          <p:cNvSpPr txBox="1"/>
          <p:nvPr/>
        </p:nvSpPr>
        <p:spPr>
          <a:xfrm>
            <a:off x="8088520" y="6070394"/>
            <a:ext cx="878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bg1"/>
                </a:solidFill>
              </a:rPr>
              <a:t>Robot Car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6F87FB1-BB8F-8905-F7FA-65BE2E9E846A}"/>
              </a:ext>
            </a:extLst>
          </p:cNvPr>
          <p:cNvSpPr txBox="1"/>
          <p:nvPr/>
        </p:nvSpPr>
        <p:spPr>
          <a:xfrm>
            <a:off x="9350595" y="6092041"/>
            <a:ext cx="975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bg1"/>
                </a:solidFill>
              </a:rPr>
              <a:t>NAV Robots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3D9F18-3F27-8AC2-1A22-EE32BC453228}"/>
              </a:ext>
            </a:extLst>
          </p:cNvPr>
          <p:cNvSpPr txBox="1"/>
          <p:nvPr/>
        </p:nvSpPr>
        <p:spPr>
          <a:xfrm>
            <a:off x="10333644" y="6279288"/>
            <a:ext cx="1499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bg1"/>
                </a:solidFill>
              </a:rPr>
              <a:t>Bi-pedal/Humanoid</a:t>
            </a:r>
          </a:p>
        </p:txBody>
      </p: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3C105B58-559F-16CD-4C7C-07DBFBE2E5D4}"/>
              </a:ext>
            </a:extLst>
          </p:cNvPr>
          <p:cNvCxnSpPr/>
          <p:nvPr/>
        </p:nvCxnSpPr>
        <p:spPr>
          <a:xfrm>
            <a:off x="8643258" y="3722914"/>
            <a:ext cx="185057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3F35F510-4932-073A-ED84-540827CE2585}"/>
              </a:ext>
            </a:extLst>
          </p:cNvPr>
          <p:cNvCxnSpPr/>
          <p:nvPr/>
        </p:nvCxnSpPr>
        <p:spPr>
          <a:xfrm>
            <a:off x="8648701" y="4038599"/>
            <a:ext cx="18505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DDB61F5-6F7F-A270-B722-7344820FA92C}"/>
              </a:ext>
            </a:extLst>
          </p:cNvPr>
          <p:cNvSpPr txBox="1"/>
          <p:nvPr/>
        </p:nvSpPr>
        <p:spPr>
          <a:xfrm>
            <a:off x="8862001" y="3537077"/>
            <a:ext cx="1892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Current Products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9538E70-F1B8-8018-A11F-09429F6EB623}"/>
              </a:ext>
            </a:extLst>
          </p:cNvPr>
          <p:cNvSpPr txBox="1"/>
          <p:nvPr/>
        </p:nvSpPr>
        <p:spPr>
          <a:xfrm>
            <a:off x="8886452" y="3930525"/>
            <a:ext cx="3122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GRPEC &amp; ZAS Robotics Vision</a:t>
            </a: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AB66B8D7-28C8-C773-C254-D94E98ED826B}"/>
              </a:ext>
            </a:extLst>
          </p:cNvPr>
          <p:cNvCxnSpPr>
            <a:cxnSpLocks/>
          </p:cNvCxnSpPr>
          <p:nvPr/>
        </p:nvCxnSpPr>
        <p:spPr>
          <a:xfrm flipV="1">
            <a:off x="9626440" y="4888928"/>
            <a:ext cx="0" cy="10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0EC355C8-5BB2-F03C-C7A2-22C6C1305B4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0966" y="0"/>
            <a:ext cx="2100150" cy="566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755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30B2185-C64A-4BD6-EF8F-AB0B8FB16C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5764" y="92321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chemeClr val="accent4"/>
                </a:solidFill>
              </a:rPr>
              <a:t>Students Enrolment Rates from Robotics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2AECCEE-1ED3-7C92-F6DC-EB775EA6E275}"/>
              </a:ext>
            </a:extLst>
          </p:cNvPr>
          <p:cNvCxnSpPr/>
          <p:nvPr/>
        </p:nvCxnSpPr>
        <p:spPr>
          <a:xfrm flipV="1">
            <a:off x="1219200" y="1690688"/>
            <a:ext cx="0" cy="3686855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B91C60D-6EA3-9D96-10C2-F638DA2CBC4F}"/>
              </a:ext>
            </a:extLst>
          </p:cNvPr>
          <p:cNvCxnSpPr>
            <a:cxnSpLocks/>
          </p:cNvCxnSpPr>
          <p:nvPr/>
        </p:nvCxnSpPr>
        <p:spPr>
          <a:xfrm>
            <a:off x="1045029" y="5061857"/>
            <a:ext cx="10983685" cy="0"/>
          </a:xfrm>
          <a:prstGeom prst="straightConnector1">
            <a:avLst/>
          </a:prstGeom>
          <a:ln w="5715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CEA97B9F-94F3-F51C-53D3-AFB4943D3F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762" t="72252" r="31065" b="3968"/>
          <a:stretch>
            <a:fillRect/>
          </a:stretch>
        </p:blipFill>
        <p:spPr>
          <a:xfrm>
            <a:off x="5283184" y="5259843"/>
            <a:ext cx="831062" cy="7323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4783CAB-E1AC-4BF5-721B-7EDE784FD9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72" t="65714" r="24953" b="3968"/>
          <a:stretch>
            <a:fillRect/>
          </a:stretch>
        </p:blipFill>
        <p:spPr>
          <a:xfrm>
            <a:off x="8050557" y="5259843"/>
            <a:ext cx="856532" cy="74702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53BBAE-5BA5-92D9-9F5A-044FA1C825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36" t="40317" r="20462" b="32857"/>
          <a:stretch>
            <a:fillRect/>
          </a:stretch>
        </p:blipFill>
        <p:spPr>
          <a:xfrm>
            <a:off x="6438338" y="5261889"/>
            <a:ext cx="1189051" cy="74702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B9F29E9-0802-E72E-0715-387DB83E4B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32" t="8181" r="18794" b="59683"/>
          <a:stretch>
            <a:fillRect/>
          </a:stretch>
        </p:blipFill>
        <p:spPr>
          <a:xfrm>
            <a:off x="2488906" y="5259843"/>
            <a:ext cx="1021166" cy="74907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A723D7-1870-3D10-F89B-C74C122D88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700" t="43809" r="29493" b="35397"/>
          <a:stretch>
            <a:fillRect/>
          </a:stretch>
        </p:blipFill>
        <p:spPr>
          <a:xfrm>
            <a:off x="3826505" y="5259843"/>
            <a:ext cx="1132587" cy="7272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CA261B2-E922-4EFF-0CCA-904FB2918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198" t="4451" r="30611" b="63413"/>
          <a:stretch>
            <a:fillRect/>
          </a:stretch>
        </p:blipFill>
        <p:spPr>
          <a:xfrm>
            <a:off x="1529442" y="5238071"/>
            <a:ext cx="711671" cy="749071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98054FB-EBA1-41FB-B49E-C65DEE9530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9095" b="57731" l="9021" r="81191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3016" r="9788" b="36190"/>
          <a:stretch>
            <a:fillRect/>
          </a:stretch>
        </p:blipFill>
        <p:spPr>
          <a:xfrm>
            <a:off x="9106635" y="5238071"/>
            <a:ext cx="1039611" cy="9341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46458CD-BF19-3E0E-91AB-7A4B8ECE42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15936" y="5259843"/>
            <a:ext cx="428263" cy="79986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93039B5-4631-9A99-76CA-847F65A5514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913889" y="5273478"/>
            <a:ext cx="559653" cy="98972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81A06DF-9ACD-3B43-E68E-E082825A58BC}"/>
              </a:ext>
            </a:extLst>
          </p:cNvPr>
          <p:cNvSpPr txBox="1"/>
          <p:nvPr/>
        </p:nvSpPr>
        <p:spPr>
          <a:xfrm>
            <a:off x="5308052" y="6354983"/>
            <a:ext cx="17877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b="1" dirty="0">
                <a:solidFill>
                  <a:schemeClr val="accent4"/>
                </a:solidFill>
              </a:rPr>
              <a:t>Complexity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2651E5-887A-9F91-9CDF-2EA253FEA2EB}"/>
              </a:ext>
            </a:extLst>
          </p:cNvPr>
          <p:cNvSpPr txBox="1"/>
          <p:nvPr/>
        </p:nvSpPr>
        <p:spPr>
          <a:xfrm>
            <a:off x="75617" y="3240907"/>
            <a:ext cx="14064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4"/>
                </a:solidFill>
              </a:rPr>
              <a:t>Students</a:t>
            </a:r>
          </a:p>
          <a:p>
            <a:r>
              <a:rPr lang="en-GB" sz="2000" b="1" dirty="0">
                <a:solidFill>
                  <a:schemeClr val="accent4"/>
                </a:solidFill>
              </a:rPr>
              <a:t>Enrolment</a:t>
            </a:r>
          </a:p>
          <a:p>
            <a:r>
              <a:rPr lang="en-GB" sz="2000" b="1" dirty="0">
                <a:solidFill>
                  <a:schemeClr val="accent4"/>
                </a:solidFill>
              </a:rPr>
              <a:t>Rate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3C7F7D-59B5-1726-68B1-6A79577D8A0E}"/>
              </a:ext>
            </a:extLst>
          </p:cNvPr>
          <p:cNvCxnSpPr/>
          <p:nvPr/>
        </p:nvCxnSpPr>
        <p:spPr>
          <a:xfrm flipV="1">
            <a:off x="1885277" y="2460171"/>
            <a:ext cx="0" cy="2525486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F96A6A2-ADCA-D12C-9DC7-4ABB468AC6A9}"/>
              </a:ext>
            </a:extLst>
          </p:cNvPr>
          <p:cNvCxnSpPr>
            <a:cxnSpLocks/>
          </p:cNvCxnSpPr>
          <p:nvPr/>
        </p:nvCxnSpPr>
        <p:spPr>
          <a:xfrm flipV="1">
            <a:off x="2979766" y="3534115"/>
            <a:ext cx="0" cy="15277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FD217D5-D045-CA4A-C69B-0B304770DFC0}"/>
              </a:ext>
            </a:extLst>
          </p:cNvPr>
          <p:cNvCxnSpPr>
            <a:cxnSpLocks/>
          </p:cNvCxnSpPr>
          <p:nvPr/>
        </p:nvCxnSpPr>
        <p:spPr>
          <a:xfrm flipV="1">
            <a:off x="4378993" y="4169229"/>
            <a:ext cx="0" cy="892628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6A9F0EE1-77E1-3406-8672-CA6F2E75F20C}"/>
              </a:ext>
            </a:extLst>
          </p:cNvPr>
          <p:cNvCxnSpPr>
            <a:cxnSpLocks/>
          </p:cNvCxnSpPr>
          <p:nvPr/>
        </p:nvCxnSpPr>
        <p:spPr>
          <a:xfrm flipV="1">
            <a:off x="5698715" y="4484914"/>
            <a:ext cx="0" cy="576942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4B5A8B3-99E9-7962-A53A-97880B4CDE86}"/>
              </a:ext>
            </a:extLst>
          </p:cNvPr>
          <p:cNvCxnSpPr>
            <a:cxnSpLocks/>
          </p:cNvCxnSpPr>
          <p:nvPr/>
        </p:nvCxnSpPr>
        <p:spPr>
          <a:xfrm flipV="1">
            <a:off x="7032863" y="4718954"/>
            <a:ext cx="0" cy="360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8B01E859-B851-6C55-6506-78DFFC7D3CAE}"/>
              </a:ext>
            </a:extLst>
          </p:cNvPr>
          <p:cNvCxnSpPr>
            <a:cxnSpLocks/>
          </p:cNvCxnSpPr>
          <p:nvPr/>
        </p:nvCxnSpPr>
        <p:spPr>
          <a:xfrm flipV="1">
            <a:off x="8468629" y="4777792"/>
            <a:ext cx="0" cy="28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5470F351-223F-1A3C-268A-8E7D8B296916}"/>
              </a:ext>
            </a:extLst>
          </p:cNvPr>
          <p:cNvSpPr txBox="1"/>
          <p:nvPr/>
        </p:nvSpPr>
        <p:spPr>
          <a:xfrm>
            <a:off x="540809" y="1922027"/>
            <a:ext cx="7457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100%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09CADC7-1076-9A62-4E18-A93CD509C0FA}"/>
              </a:ext>
            </a:extLst>
          </p:cNvPr>
          <p:cNvCxnSpPr>
            <a:cxnSpLocks/>
          </p:cNvCxnSpPr>
          <p:nvPr/>
        </p:nvCxnSpPr>
        <p:spPr>
          <a:xfrm>
            <a:off x="1219200" y="2460171"/>
            <a:ext cx="10526486" cy="0"/>
          </a:xfrm>
          <a:prstGeom prst="straightConnector1">
            <a:avLst/>
          </a:prstGeom>
          <a:ln w="57150">
            <a:solidFill>
              <a:schemeClr val="accent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035C042-D8A5-0937-0FC6-6030F7A4E9D2}"/>
              </a:ext>
            </a:extLst>
          </p:cNvPr>
          <p:cNvSpPr txBox="1"/>
          <p:nvPr/>
        </p:nvSpPr>
        <p:spPr>
          <a:xfrm>
            <a:off x="4330539" y="2107729"/>
            <a:ext cx="4528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GPREC &amp; ZAS Robotics Collaboration Vision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53F91B-B4A3-1238-5F12-9F31BF176B71}"/>
              </a:ext>
            </a:extLst>
          </p:cNvPr>
          <p:cNvSpPr txBox="1"/>
          <p:nvPr/>
        </p:nvSpPr>
        <p:spPr>
          <a:xfrm>
            <a:off x="824017" y="5094488"/>
            <a:ext cx="3080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0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1A2C15-19BB-C318-CE7D-D0DA939E41E1}"/>
              </a:ext>
            </a:extLst>
          </p:cNvPr>
          <p:cNvSpPr txBox="1"/>
          <p:nvPr/>
        </p:nvSpPr>
        <p:spPr>
          <a:xfrm>
            <a:off x="1528930" y="6077984"/>
            <a:ext cx="71218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sensors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493A79B-AE75-BAB2-4A6E-F2F597A6D843}"/>
              </a:ext>
            </a:extLst>
          </p:cNvPr>
          <p:cNvSpPr txBox="1"/>
          <p:nvPr/>
        </p:nvSpPr>
        <p:spPr>
          <a:xfrm>
            <a:off x="2623674" y="6092042"/>
            <a:ext cx="8547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Basic 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Robot Car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AC49CCB-5750-5C5D-6425-480E1AF96532}"/>
              </a:ext>
            </a:extLst>
          </p:cNvPr>
          <p:cNvSpPr txBox="1"/>
          <p:nvPr/>
        </p:nvSpPr>
        <p:spPr>
          <a:xfrm>
            <a:off x="4108919" y="6077984"/>
            <a:ext cx="6479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Motion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0C95454-45F3-81E2-184E-668713D516D1}"/>
              </a:ext>
            </a:extLst>
          </p:cNvPr>
          <p:cNvSpPr txBox="1"/>
          <p:nvPr/>
        </p:nvSpPr>
        <p:spPr>
          <a:xfrm>
            <a:off x="5349907" y="6092042"/>
            <a:ext cx="71365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Comms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8253656-D795-8189-7BC9-4372A6C5591A}"/>
              </a:ext>
            </a:extLst>
          </p:cNvPr>
          <p:cNvSpPr txBox="1"/>
          <p:nvPr/>
        </p:nvSpPr>
        <p:spPr>
          <a:xfrm>
            <a:off x="6594845" y="6055753"/>
            <a:ext cx="10393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Intermediate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Robot Car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032550-DF02-E54C-49EF-56AE957B1160}"/>
              </a:ext>
            </a:extLst>
          </p:cNvPr>
          <p:cNvSpPr txBox="1"/>
          <p:nvPr/>
        </p:nvSpPr>
        <p:spPr>
          <a:xfrm>
            <a:off x="8088520" y="6070394"/>
            <a:ext cx="878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Robot Car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96F428-F30B-6E4E-5568-15E40F5CDEFC}"/>
              </a:ext>
            </a:extLst>
          </p:cNvPr>
          <p:cNvSpPr txBox="1"/>
          <p:nvPr/>
        </p:nvSpPr>
        <p:spPr>
          <a:xfrm>
            <a:off x="9350595" y="6092041"/>
            <a:ext cx="975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Advanced </a:t>
            </a:r>
          </a:p>
          <a:p>
            <a:r>
              <a:rPr lang="en-GB" sz="1200" dirty="0">
                <a:solidFill>
                  <a:schemeClr val="accent4"/>
                </a:solidFill>
              </a:rPr>
              <a:t>NAV Robots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40F9B9C-F045-D1E1-14B2-C80ABA55C118}"/>
              </a:ext>
            </a:extLst>
          </p:cNvPr>
          <p:cNvSpPr txBox="1"/>
          <p:nvPr/>
        </p:nvSpPr>
        <p:spPr>
          <a:xfrm>
            <a:off x="10333644" y="6279288"/>
            <a:ext cx="14991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200" dirty="0">
                <a:solidFill>
                  <a:schemeClr val="accent4"/>
                </a:solidFill>
              </a:rPr>
              <a:t>Bi-pedal/Humanoid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2C2E3B47-E68F-31EE-76C9-09B783A9AD98}"/>
              </a:ext>
            </a:extLst>
          </p:cNvPr>
          <p:cNvCxnSpPr/>
          <p:nvPr/>
        </p:nvCxnSpPr>
        <p:spPr>
          <a:xfrm>
            <a:off x="8643258" y="3722914"/>
            <a:ext cx="185057" cy="0"/>
          </a:xfrm>
          <a:prstGeom prst="line">
            <a:avLst/>
          </a:prstGeom>
          <a:ln w="571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5CDDADB-A133-06EB-3783-49E5FC2E70B6}"/>
              </a:ext>
            </a:extLst>
          </p:cNvPr>
          <p:cNvCxnSpPr/>
          <p:nvPr/>
        </p:nvCxnSpPr>
        <p:spPr>
          <a:xfrm>
            <a:off x="8648701" y="4038599"/>
            <a:ext cx="185057" cy="0"/>
          </a:xfrm>
          <a:prstGeom prst="line">
            <a:avLst/>
          </a:prstGeom>
          <a:ln w="57150">
            <a:solidFill>
              <a:schemeClr val="accent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A9390B0C-D2B8-F5C7-BC32-3B0EFB786489}"/>
              </a:ext>
            </a:extLst>
          </p:cNvPr>
          <p:cNvSpPr txBox="1"/>
          <p:nvPr/>
        </p:nvSpPr>
        <p:spPr>
          <a:xfrm>
            <a:off x="8862001" y="3537077"/>
            <a:ext cx="18920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4"/>
                </a:solidFill>
              </a:rPr>
              <a:t>Current Products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6738086-0F8C-1573-66C5-0F4AAC000F28}"/>
              </a:ext>
            </a:extLst>
          </p:cNvPr>
          <p:cNvSpPr txBox="1"/>
          <p:nvPr/>
        </p:nvSpPr>
        <p:spPr>
          <a:xfrm>
            <a:off x="8886452" y="3930525"/>
            <a:ext cx="3122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GRPEC &amp; ZAS Robotics Vision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B1C8D71-B1E4-3D30-CC48-7110C543503A}"/>
              </a:ext>
            </a:extLst>
          </p:cNvPr>
          <p:cNvCxnSpPr>
            <a:cxnSpLocks/>
          </p:cNvCxnSpPr>
          <p:nvPr/>
        </p:nvCxnSpPr>
        <p:spPr>
          <a:xfrm flipV="1">
            <a:off x="9626440" y="4888928"/>
            <a:ext cx="0" cy="108000"/>
          </a:xfrm>
          <a:prstGeom prst="straightConnector1">
            <a:avLst/>
          </a:prstGeom>
          <a:ln w="57150">
            <a:solidFill>
              <a:schemeClr val="accent4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998229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F19D0-CF3D-503C-E7A8-0EA83FA42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Picture 40">
            <a:extLst>
              <a:ext uri="{FF2B5EF4-FFF2-40B4-BE49-F238E27FC236}">
                <a16:creationId xmlns:a16="http://schemas.microsoft.com/office/drawing/2014/main" id="{4E154825-0148-92E4-5678-9DCC3976EC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" y="0"/>
            <a:ext cx="1218590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99942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1041</Words>
  <Application>Microsoft Office PowerPoint</Application>
  <PresentationFormat>Widescreen</PresentationFormat>
  <Paragraphs>255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Aptos</vt:lpstr>
      <vt:lpstr>Aptos Display</vt:lpstr>
      <vt:lpstr>Arial</vt:lpstr>
      <vt:lpstr>Office Theme</vt:lpstr>
      <vt:lpstr>AI &amp; Robotics  Centre of Excellence</vt:lpstr>
      <vt:lpstr>Agenda</vt:lpstr>
      <vt:lpstr>Agenda</vt:lpstr>
      <vt:lpstr>GPREC Staff Training Agenda</vt:lpstr>
      <vt:lpstr>Design Philosophy (Day-1: 9 AM to 10 AM)</vt:lpstr>
      <vt:lpstr>Design Philosophy</vt:lpstr>
      <vt:lpstr>Design Philosophy</vt:lpstr>
      <vt:lpstr>Design Philosophy</vt:lpstr>
      <vt:lpstr>Design Philosophy</vt:lpstr>
      <vt:lpstr>Sensors (Day-1: 10 AM to 12 PM)</vt:lpstr>
      <vt:lpstr>Sensors</vt:lpstr>
      <vt:lpstr>Motion (Day-1: 1 PM to 3 PM)</vt:lpstr>
      <vt:lpstr>Motion</vt:lpstr>
      <vt:lpstr>Communications (Day-1: 3 PM to 5 PM)</vt:lpstr>
      <vt:lpstr>Communications</vt:lpstr>
      <vt:lpstr>Robot Car-1 (Day-2: 9.30 AM to 12 PM)</vt:lpstr>
      <vt:lpstr>Navigational Robot Car-1</vt:lpstr>
      <vt:lpstr>Robot Car-2 (Day-2: 1 PM to 3 PM)</vt:lpstr>
      <vt:lpstr>Navigational Robot Car-2</vt:lpstr>
      <vt:lpstr>Robot Car-3 (Day-2: 3 PM to 5 PM)</vt:lpstr>
      <vt:lpstr>Navigational Robot Car-3</vt:lpstr>
      <vt:lpstr>Dropout Percentage</vt:lpstr>
      <vt:lpstr>Students Enrolment Rates from Robotics</vt:lpstr>
      <vt:lpstr>Students Enrolment Rates from Robotics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45</cp:revision>
  <dcterms:created xsi:type="dcterms:W3CDTF">2025-11-15T15:19:24Z</dcterms:created>
  <dcterms:modified xsi:type="dcterms:W3CDTF">2025-11-22T22:47:51Z</dcterms:modified>
</cp:coreProperties>
</file>