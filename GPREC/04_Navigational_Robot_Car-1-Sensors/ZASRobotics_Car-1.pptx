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3"/>
  </p:notesMasterIdLst>
  <p:sldIdLst>
    <p:sldId id="256" r:id="rId3"/>
    <p:sldId id="257" r:id="rId4"/>
    <p:sldId id="258" r:id="rId5"/>
    <p:sldId id="259" r:id="rId6"/>
    <p:sldId id="260" r:id="rId7"/>
    <p:sldId id="261" r:id="rId8"/>
    <p:sldId id="285" r:id="rId9"/>
    <p:sldId id="286" r:id="rId10"/>
    <p:sldId id="277" r:id="rId11"/>
    <p:sldId id="279" r:id="rId12"/>
    <p:sldId id="280" r:id="rId13"/>
    <p:sldId id="296" r:id="rId14"/>
    <p:sldId id="290" r:id="rId15"/>
    <p:sldId id="264" r:id="rId16"/>
    <p:sldId id="265" r:id="rId17"/>
    <p:sldId id="266" r:id="rId18"/>
    <p:sldId id="267" r:id="rId19"/>
    <p:sldId id="268" r:id="rId20"/>
    <p:sldId id="298" r:id="rId21"/>
    <p:sldId id="299" r:id="rId2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039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02289844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906325965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63974890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12474201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94723552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0522085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171108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66727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6E65F0-3DD2-D815-294B-8E71C04DBEF5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30596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761463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2650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FD46E4-0058-8968-16D4-4C62A875C58B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30424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093060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35882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0592D0-080F-A99C-BD1E-3D8029FBF750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35275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647189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353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EFFA8F-62AE-87A1-1C9A-B2758EA6294C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0158395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484728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12916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D377EF-AB0E-4E04-502A-8773159447B2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82432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404250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680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4F3FFF-3806-8A78-7E02-EA47687E218A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557801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31269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6698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506443-09A2-4C7E-0FEA-8DC0CE5C92D5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107090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397669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3145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C76EE8-2E5D-D15A-79EB-12BAFC0C0AFB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937451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76316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64335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204FCB-4EBD-B5A3-7875-EDF2C9076ED4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6180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673892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58500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C837A8-0E34-C67F-E458-1A7A0FFB92D5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33581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982508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34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0BF6A5-E3FB-7263-6386-32C983929299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1F37D-F5B9-7CE4-86B4-37CFC7DF1FA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61804" name="Slide Image Placeholder 1">
            <a:extLst>
              <a:ext uri="{FF2B5EF4-FFF2-40B4-BE49-F238E27FC236}">
                <a16:creationId xmlns:a16="http://schemas.microsoft.com/office/drawing/2014/main" id="{A80BD19F-E507-5DA9-B4DF-5750D9AE8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67389264" name="Notes Placeholder 2">
            <a:extLst>
              <a:ext uri="{FF2B5EF4-FFF2-40B4-BE49-F238E27FC236}">
                <a16:creationId xmlns:a16="http://schemas.microsoft.com/office/drawing/2014/main" id="{FB93E696-48F4-FA3A-D282-A582AEA6EB5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5850060" name="Slide Number Placeholder 3">
            <a:extLst>
              <a:ext uri="{FF2B5EF4-FFF2-40B4-BE49-F238E27FC236}">
                <a16:creationId xmlns:a16="http://schemas.microsoft.com/office/drawing/2014/main" id="{F7B40D45-3365-25D4-D472-B7AC19A1E2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C837A8-0E34-C67F-E458-1A7A0FFB92D5}" type="slidenum">
              <a:rPr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787691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2359584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8230841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34945255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23/11/2025</a:t>
            </a:fld>
            <a:endParaRPr lang="en-GB"/>
          </a:p>
        </p:txBody>
      </p:sp>
      <p:sp>
        <p:nvSpPr>
          <p:cNvPr id="20988258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108897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24170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85945756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7967332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23/11/2025</a:t>
            </a:fld>
            <a:endParaRPr lang="en-GB"/>
          </a:p>
        </p:txBody>
      </p:sp>
      <p:sp>
        <p:nvSpPr>
          <p:cNvPr id="94717137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71627442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2245865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2044815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1159528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23/11/2025</a:t>
            </a:fld>
            <a:endParaRPr lang="en-GB"/>
          </a:p>
        </p:txBody>
      </p:sp>
      <p:sp>
        <p:nvSpPr>
          <p:cNvPr id="14996193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825904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0446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030880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02177335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1587082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23/11/2025</a:t>
            </a:fld>
            <a:endParaRPr lang="en-GB"/>
          </a:p>
        </p:txBody>
      </p:sp>
      <p:sp>
        <p:nvSpPr>
          <p:cNvPr id="89083365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70841820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630075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3622116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3959050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29905651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405305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44206245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23/11/2025</a:t>
            </a:fld>
            <a:endParaRPr lang="en-GB"/>
          </a:p>
        </p:txBody>
      </p:sp>
      <p:sp>
        <p:nvSpPr>
          <p:cNvPr id="89836657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2330757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2579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7069754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23/11/2025</a:t>
            </a:fld>
            <a:endParaRPr lang="en-GB"/>
          </a:p>
        </p:txBody>
      </p:sp>
      <p:sp>
        <p:nvSpPr>
          <p:cNvPr id="167729631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0584410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931714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23/11/2025</a:t>
            </a:fld>
            <a:endParaRPr lang="en-GB"/>
          </a:p>
        </p:txBody>
      </p:sp>
      <p:sp>
        <p:nvSpPr>
          <p:cNvPr id="170301505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4043580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916819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90377469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8654835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3290756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23/11/2025</a:t>
            </a:fld>
            <a:endParaRPr lang="en-GB"/>
          </a:p>
        </p:txBody>
      </p:sp>
      <p:sp>
        <p:nvSpPr>
          <p:cNvPr id="11456063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2515931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3612327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29969238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49157504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688946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23/11/2025</a:t>
            </a:fld>
            <a:endParaRPr lang="en-GB"/>
          </a:p>
        </p:txBody>
      </p:sp>
      <p:sp>
        <p:nvSpPr>
          <p:cNvPr id="90554881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7777347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591767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0831477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6655192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23/11/2025</a:t>
            </a:fld>
            <a:endParaRPr lang="en-GB"/>
          </a:p>
        </p:txBody>
      </p:sp>
      <p:sp>
        <p:nvSpPr>
          <p:cNvPr id="78314035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4374381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24458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5912367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5997590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8FDF4E3-76A3-4A80-A70D-6B1FEC2BADEB}" type="datetimeFigureOut">
              <a:rPr lang="en-GB"/>
              <a:t>23/11/2025</a:t>
            </a:fld>
            <a:endParaRPr lang="en-GB"/>
          </a:p>
        </p:txBody>
      </p:sp>
      <p:sp>
        <p:nvSpPr>
          <p:cNvPr id="69068259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6758023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1F3BE-512F-A9CE-900D-B6E0068F4D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1E759-8398-1C8B-4F38-3B5F5F3820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DDE8A-E854-1D1C-8B81-59D30458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4DB82-9D26-A4A7-DD71-B140CE7BA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4B25-EB67-28E5-5C5F-D5789BB8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25216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8F54-B80F-E040-0537-D4AB53684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052E-FBAF-9764-17B4-44EEDA19C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28461-73E6-DA43-A804-1BED2DED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C90D2-FEC4-8B98-89A9-8B863F90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767BA-0170-E4AA-D831-BE5F2B30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0042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643F4-DF9D-3089-607F-F630042D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C6B38-3C8D-E9B6-AE09-3D4FB3A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396E3-1754-8F20-FFD6-495F35BE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FECFE-EDD5-4401-2AE2-5CF0BEE5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226EF-4679-CF6F-CF81-24B22760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93503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617A-463C-B0FA-843B-05D55BB4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016E-78F1-F75B-BC93-791E453766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ACE3-6B57-CC2B-E335-02B52C0E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BD783-A52E-0064-668C-D393154B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EDF47-CE09-3FD5-8ADD-0A6CFFA9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BE330-F483-EA66-3FEC-34BA5B6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79998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9D43-5E5B-48DD-A60B-FDDAC693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6F32E-5382-7984-7E93-85C807443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18230-A817-7965-EFCB-0720B4ABC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E3800D-524D-E9FD-E4E6-8A0324046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48E2B-8B3B-4A12-8C05-6222B14B48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83518-B8B2-5C7F-CD0A-125EFA78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0EBAF-1066-8FE2-60BF-0AD28A9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8C0-F362-9C7F-C203-EC0BF19B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35924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044E-9B9D-6532-38C5-2548C08E3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C5C59B-7D5D-D630-8E28-4022FF76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96964E-2C9E-7926-8B63-80F9530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0FA47-9D75-E0FF-8FB3-0F9EF181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13643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68972-0D81-CE22-EDE6-5BD70E2B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CF470F-F056-E314-B018-2C9E07E7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BD58-FE18-5B4B-0126-E111600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859144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1CF6-20E5-C8D0-55EF-0044CFF3B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3B3F-0A8A-88D7-368C-2C0D15C33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8D0F0-7D28-2713-49F8-A122409C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5D5A1-AB6A-3313-6D15-BF77B31E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49E29-6085-AC32-B97C-BE6FFEDD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97273-FC10-830B-4EE1-EF7CBFF7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517168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18FA-A510-D593-C2E8-A943D32C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86480-7067-230A-B3CE-415EF472B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3E5E3-C685-17BB-99D4-CCE0E3B5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FCBDC-72D1-DA03-EEBB-12C473CA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BEEE8-F749-3928-8336-8F0490C7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2A82A-58B8-B13C-BD66-5D340CA18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369065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1B81-8671-ED96-E3F5-C681FFE3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FCA56-3F75-07CB-9FB7-F0F7B78EA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C168-4ABB-D666-29C9-347EFF50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4C89C-E42B-0302-ED96-48D8638B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BADE0-9275-B9E0-72CF-A481D81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02751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CC2B5-AAB4-6939-855D-759D3FB8B1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0E091-D309-3C53-FAA0-94D42F52B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CD9BE-9D56-0A3B-FC8E-767BBF1A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3CD-7309-6765-72C1-5982459D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D70F7-1F47-1B7A-7B20-44E99C13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8962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257557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2524416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27638075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8FDF4E3-76A3-4A80-A70D-6B1FEC2BADEB}" type="datetimeFigureOut">
              <a:rPr lang="en-GB"/>
              <a:t>23/11/2025</a:t>
            </a:fld>
            <a:endParaRPr lang="en-GB"/>
          </a:p>
        </p:txBody>
      </p:sp>
      <p:sp>
        <p:nvSpPr>
          <p:cNvPr id="94764344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0557733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0E771D-197D-29E2-0B81-12A4FAE2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599D2-8F60-BB7F-534F-CDB425A41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CE3F2-2023-C212-377A-F9A16C052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D51BA1-F58B-40DF-9C13-73BC69DE2A8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9B2B7-BC4C-BF5C-4319-2E83B888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C4DCB-AAB0-5D1A-3349-E5C5C3E40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12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5465774" name="Title 1"/>
          <p:cNvSpPr>
            <a:spLocks noGrp="1"/>
          </p:cNvSpPr>
          <p:nvPr>
            <p:ph type="ctrTitle"/>
          </p:nvPr>
        </p:nvSpPr>
        <p:spPr bwMode="auto">
          <a:xfrm>
            <a:off x="0" y="1122363"/>
            <a:ext cx="12192000" cy="2387599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GB" dirty="0">
                <a:solidFill>
                  <a:schemeClr val="bg1"/>
                </a:solidFill>
              </a:rPr>
              <a:t>Navigational Robotics Series 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sz="5400" dirty="0">
                <a:solidFill>
                  <a:schemeClr val="accent4"/>
                </a:solidFill>
              </a:rPr>
              <a:t>Robot Car-1 (Sensors)</a:t>
            </a:r>
            <a:endParaRPr dirty="0"/>
          </a:p>
        </p:txBody>
      </p:sp>
      <p:sp>
        <p:nvSpPr>
          <p:cNvPr id="206041471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3602037"/>
            <a:ext cx="9144000" cy="1089704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GB" sz="3200" dirty="0">
                <a:solidFill>
                  <a:schemeClr val="accent5"/>
                </a:solidFill>
              </a:rPr>
              <a:t>Training Slides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D09A931-2CBF-1E59-F572-18B8A2D80A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49037" y="32658"/>
            <a:ext cx="4042963" cy="10897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2063768" name="Title 1"/>
          <p:cNvSpPr>
            <a:spLocks noGrp="1"/>
          </p:cNvSpPr>
          <p:nvPr>
            <p:ph type="title"/>
          </p:nvPr>
        </p:nvSpPr>
        <p:spPr bwMode="auto">
          <a:xfrm>
            <a:off x="10883" y="-4987"/>
            <a:ext cx="10515600" cy="1005519"/>
          </a:xfrm>
        </p:spPr>
        <p:txBody>
          <a:bodyPr/>
          <a:lstStyle/>
          <a:p>
            <a:pPr>
              <a:defRPr/>
            </a:pPr>
            <a:r>
              <a:rPr lang="en-GB" dirty="0">
                <a:solidFill>
                  <a:schemeClr val="bg1"/>
                </a:solidFill>
              </a:rPr>
              <a:t>Navigational Robot Car-1 (Sensors)</a:t>
            </a:r>
            <a:endParaRPr dirty="0"/>
          </a:p>
        </p:txBody>
      </p:sp>
      <p:sp>
        <p:nvSpPr>
          <p:cNvPr id="552627549" name="TextBox 2"/>
          <p:cNvSpPr txBox="1"/>
          <p:nvPr/>
        </p:nvSpPr>
        <p:spPr bwMode="auto">
          <a:xfrm>
            <a:off x="142875" y="1000532"/>
            <a:ext cx="11910208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endParaRPr lang="en-GB" sz="2400" dirty="0">
              <a:solidFill>
                <a:schemeClr val="bg1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schemeClr val="accent2"/>
                </a:solidFill>
              </a:rPr>
              <a:t>Review the Contents in the Box</a:t>
            </a:r>
          </a:p>
          <a:p>
            <a:pPr marL="342900" lvl="0" indent="-342900" rtl="0">
              <a:buFont typeface="Arial" panose="020B0604020202020204" pitchFamily="34" charset="0"/>
              <a:buChar char="•"/>
              <a:defRPr/>
            </a:pPr>
            <a:endParaRPr lang="en-GB" sz="2400" kern="1200" dirty="0">
              <a:solidFill>
                <a:srgbClr val="F9CB40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srgbClr val="F9CB40"/>
                </a:solidFill>
              </a:rPr>
              <a:t>Review &amp; Discuss the Motor Controller Board, Assembly, Power Supply etc.</a:t>
            </a:r>
          </a:p>
          <a:p>
            <a:pPr marL="342900" lvl="0" indent="-342900" rtl="0">
              <a:buFont typeface="Arial" panose="020B0604020202020204" pitchFamily="34" charset="0"/>
              <a:buChar char="•"/>
              <a:defRPr/>
            </a:pPr>
            <a:endParaRPr lang="en-GB" sz="2400" kern="1200" dirty="0">
              <a:solidFill>
                <a:srgbClr val="F9CB40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schemeClr val="accent2"/>
                </a:solidFill>
              </a:rPr>
              <a:t>Discuss the Health &amp; Safety Precautions</a:t>
            </a:r>
          </a:p>
          <a:p>
            <a:pPr marL="342900" lvl="0" indent="-342900" rtl="0">
              <a:buFont typeface="Arial" panose="020B0604020202020204" pitchFamily="34" charset="0"/>
              <a:buChar char="•"/>
              <a:defRPr/>
            </a:pPr>
            <a:endParaRPr lang="en-GB" sz="2400" kern="1200" dirty="0">
              <a:solidFill>
                <a:prstClr val="white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schemeClr val="accent5"/>
                </a:solidFill>
              </a:rPr>
              <a:t>Practice the Following Lab</a:t>
            </a:r>
          </a:p>
          <a:p>
            <a:pPr marL="800100" lvl="1" indent="-342900" rtl="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schemeClr val="bg1"/>
                </a:solidFill>
              </a:rPr>
              <a:t>Initial Setup - Car Basic Movements</a:t>
            </a:r>
          </a:p>
          <a:p>
            <a:pPr marL="800100" lvl="1" indent="-342900" rtl="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schemeClr val="bg1"/>
                </a:solidFill>
              </a:rPr>
              <a:t>Calibration of IR Sensors</a:t>
            </a:r>
          </a:p>
          <a:p>
            <a:pPr marL="800100" lvl="1" indent="-342900" rtl="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schemeClr val="bg1"/>
                </a:solidFill>
              </a:rPr>
              <a:t>IR Obstruction or Edge Following</a:t>
            </a:r>
          </a:p>
          <a:p>
            <a:pPr marL="342900" indent="-342900">
              <a:buFont typeface="Arial" panose="020B0604020202020204" pitchFamily="34" charset="0"/>
              <a:buChar char="•"/>
              <a:defRPr/>
            </a:pPr>
            <a:endParaRPr lang="en-GB" sz="2400" kern="1200" dirty="0">
              <a:solidFill>
                <a:srgbClr val="F9CB4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schemeClr val="accent2"/>
                </a:solidFill>
              </a:rPr>
              <a:t>Discuss the Features: </a:t>
            </a:r>
          </a:p>
          <a:p>
            <a:pPr marL="800100" lvl="1" indent="-34290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schemeClr val="bg1"/>
                </a:solidFill>
              </a:rPr>
              <a:t>List of other possible Modes</a:t>
            </a:r>
          </a:p>
          <a:p>
            <a:pPr marL="800100" lvl="1" indent="-34290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schemeClr val="bg1"/>
                </a:solidFill>
              </a:rPr>
              <a:t>Wooden fence test zig to test the modes</a:t>
            </a:r>
          </a:p>
          <a:p>
            <a:pPr marL="342900" indent="-342900">
              <a:buFont typeface="Arial"/>
              <a:buChar char="•"/>
              <a:defRPr/>
            </a:pPr>
            <a:endParaRPr lang="en-GB" sz="2400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29E288-C862-4AE9-F251-8C22FAF651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5649752" name="Title 1"/>
          <p:cNvSpPr>
            <a:spLocks noGrp="1"/>
          </p:cNvSpPr>
          <p:nvPr>
            <p:ph type="title"/>
          </p:nvPr>
        </p:nvSpPr>
        <p:spPr bwMode="auto">
          <a:xfrm>
            <a:off x="0" y="19520"/>
            <a:ext cx="10515600" cy="1063532"/>
          </a:xfrm>
        </p:spPr>
        <p:txBody>
          <a:bodyPr/>
          <a:lstStyle/>
          <a:p>
            <a:pPr>
              <a:defRPr/>
            </a:pPr>
            <a:r>
              <a:rPr lang="en-GB" dirty="0">
                <a:solidFill>
                  <a:schemeClr val="bg1"/>
                </a:solidFill>
              </a:rPr>
              <a:t>Navigational Robot Car-1 (Sensors)</a:t>
            </a:r>
            <a:endParaRPr dirty="0"/>
          </a:p>
        </p:txBody>
      </p:sp>
      <p:sp>
        <p:nvSpPr>
          <p:cNvPr id="1252588193" name="Content Placeholder 2"/>
          <p:cNvSpPr>
            <a:spLocks noGrp="1"/>
          </p:cNvSpPr>
          <p:nvPr>
            <p:ph idx="1"/>
          </p:nvPr>
        </p:nvSpPr>
        <p:spPr bwMode="auto">
          <a:xfrm>
            <a:off x="185057" y="1205634"/>
            <a:ext cx="5577353" cy="48106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400" dirty="0">
                <a:solidFill>
                  <a:schemeClr val="accent5"/>
                </a:solidFill>
              </a:rPr>
              <a:t>List of </a:t>
            </a:r>
            <a:r>
              <a:rPr sz="2400" dirty="0">
                <a:solidFill>
                  <a:schemeClr val="accent5"/>
                </a:solidFill>
              </a:rPr>
              <a:t>Components</a:t>
            </a:r>
            <a:r>
              <a:rPr lang="en-GB" sz="2400" dirty="0">
                <a:solidFill>
                  <a:schemeClr val="accent5"/>
                </a:solidFill>
              </a:rPr>
              <a:t>/Interfaces</a:t>
            </a:r>
            <a:endParaRPr sz="2400" dirty="0">
              <a:solidFill>
                <a:schemeClr val="accent5"/>
              </a:solidFill>
            </a:endParaRPr>
          </a:p>
        </p:txBody>
      </p:sp>
      <p:pic>
        <p:nvPicPr>
          <p:cNvPr id="186625355" name="Picture 186625354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096000" y="1809281"/>
            <a:ext cx="6013813" cy="4415428"/>
          </a:xfrm>
          <a:prstGeom prst="rect">
            <a:avLst/>
          </a:prstGeom>
        </p:spPr>
      </p:pic>
      <p:graphicFrame>
        <p:nvGraphicFramePr>
          <p:cNvPr id="1740993707" name="Table 174099370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1854497"/>
              </p:ext>
            </p:extLst>
          </p:nvPr>
        </p:nvGraphicFramePr>
        <p:xfrm>
          <a:off x="185057" y="1809281"/>
          <a:ext cx="5769429" cy="50292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32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72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054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Component / Device</a:t>
                      </a:r>
                      <a:endParaRPr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800" b="1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Purpose / Role</a:t>
                      </a:r>
                      <a:endParaRPr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86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Arduino Board</a:t>
                      </a:r>
                      <a:endParaRPr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Core microcontroller – handles sensor inputs and motor control</a:t>
                      </a:r>
                      <a:endParaRPr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54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TB6612 Motor Driver</a:t>
                      </a:r>
                      <a:endParaRPr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Controls DC motors using PWM and direction signals</a:t>
                      </a:r>
                      <a:endParaRPr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54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2× DC Gear Motors</a:t>
                      </a:r>
                      <a:endParaRPr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Drives the left and right wheels</a:t>
                      </a:r>
                      <a:endParaRPr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29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Ultrasonic Sensor (HC-SR04)</a:t>
                      </a:r>
                      <a:endParaRPr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Measures distance to obstacles using trigger &amp; echo</a:t>
                      </a:r>
                      <a:endParaRPr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IR Sensor Array (4 sensors)</a:t>
                      </a:r>
                      <a:endParaRPr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 edge/pit detection and obstacle avoidance via analog/digital pins</a:t>
                      </a:r>
                      <a:endParaRPr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Servo Motor</a:t>
                      </a:r>
                      <a:endParaRPr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Rotates ultrasonic sensor for scanning left/right/middle directions</a:t>
                      </a:r>
                      <a:endParaRPr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54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OLED Display</a:t>
                      </a:r>
                      <a:endParaRPr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Outputs mode, UID info (if extended), or diagnostic status</a:t>
                      </a:r>
                      <a:endParaRPr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054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Optional: IR Receiver</a:t>
                      </a:r>
                      <a:r>
                        <a:rPr lang="en-GB" sz="1600" b="1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/Bluetooth</a:t>
                      </a:r>
                      <a:endParaRPr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 remote control or line-following edge detection logic</a:t>
                      </a:r>
                      <a:endParaRPr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2" name="Picture 1">
            <a:extLst>
              <a:ext uri="{FF2B5EF4-FFF2-40B4-BE49-F238E27FC236}">
                <a16:creationId xmlns:a16="http://schemas.microsoft.com/office/drawing/2014/main" id="{F28F5B0D-4FB6-17BB-36C5-D6DE8A27090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35767" name="Title 1"/>
          <p:cNvSpPr>
            <a:spLocks noGrp="1"/>
          </p:cNvSpPr>
          <p:nvPr>
            <p:ph type="title"/>
          </p:nvPr>
        </p:nvSpPr>
        <p:spPr bwMode="auto">
          <a:xfrm>
            <a:off x="0" y="1"/>
            <a:ext cx="10515600" cy="1020050"/>
          </a:xfrm>
        </p:spPr>
        <p:txBody>
          <a:bodyPr/>
          <a:lstStyle/>
          <a:p>
            <a:pPr>
              <a:defRPr/>
            </a:pPr>
            <a:r>
              <a:rPr lang="en-GB" dirty="0">
                <a:solidFill>
                  <a:schemeClr val="bg1"/>
                </a:solidFill>
              </a:rPr>
              <a:t>Navigational Robot Car-1 (Sensors)</a:t>
            </a:r>
            <a:endParaRPr dirty="0"/>
          </a:p>
        </p:txBody>
      </p:sp>
      <p:sp>
        <p:nvSpPr>
          <p:cNvPr id="185803646" name="Content Placeholder 2"/>
          <p:cNvSpPr>
            <a:spLocks noGrp="1"/>
          </p:cNvSpPr>
          <p:nvPr>
            <p:ph idx="1"/>
          </p:nvPr>
        </p:nvSpPr>
        <p:spPr bwMode="auto">
          <a:xfrm>
            <a:off x="660161" y="1020050"/>
            <a:ext cx="5936582" cy="4926397"/>
          </a:xfrm>
        </p:spPr>
        <p:txBody>
          <a:bodyPr>
            <a:normAutofit fontScale="85000" lnSpcReduction="10000"/>
          </a:bodyPr>
          <a:lstStyle/>
          <a:p>
            <a:pPr>
              <a:defRPr/>
            </a:pPr>
            <a:endParaRPr sz="1600" dirty="0">
              <a:solidFill>
                <a:schemeClr val="bg1"/>
              </a:solidFill>
            </a:endParaRPr>
          </a:p>
          <a:p>
            <a:pPr>
              <a:defRPr/>
            </a:pPr>
            <a:r>
              <a:rPr sz="2600" b="1" i="0" u="none" dirty="0">
                <a:solidFill>
                  <a:schemeClr val="accent5"/>
                </a:solidFill>
                <a:ea typeface="Times New Roman"/>
                <a:cs typeface="Times New Roman"/>
              </a:rPr>
              <a:t>Learning </a:t>
            </a:r>
            <a:r>
              <a:rPr lang="en-GB" sz="2600" b="1" i="0" u="none" dirty="0">
                <a:solidFill>
                  <a:schemeClr val="accent5"/>
                </a:solidFill>
                <a:ea typeface="Times New Roman"/>
                <a:cs typeface="Times New Roman"/>
              </a:rPr>
              <a:t>Outcomes</a:t>
            </a:r>
            <a:endParaRPr sz="2600" dirty="0">
              <a:solidFill>
                <a:schemeClr val="accent5"/>
              </a:solidFill>
            </a:endParaRPr>
          </a:p>
          <a:p>
            <a:pPr marL="0" indent="0">
              <a:buFont typeface="Arial"/>
              <a:buNone/>
              <a:defRPr/>
            </a:pPr>
            <a:endParaRPr sz="1600" b="1" i="0" u="none" dirty="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lvl="1">
              <a:lnSpc>
                <a:spcPct val="120000"/>
              </a:lnSpc>
              <a:defRPr/>
            </a:pPr>
            <a:r>
              <a:rPr sz="1900" b="0" i="0" u="none" dirty="0">
                <a:solidFill>
                  <a:schemeClr val="bg1"/>
                </a:solidFill>
                <a:ea typeface="Times New Roman"/>
                <a:cs typeface="Times New Roman"/>
              </a:rPr>
              <a:t>Program Arduino to control motors, sensors, and logic</a:t>
            </a:r>
            <a:endParaRPr sz="1900" dirty="0">
              <a:solidFill>
                <a:schemeClr val="bg1"/>
              </a:solidFill>
            </a:endParaRPr>
          </a:p>
          <a:p>
            <a:pPr lvl="1">
              <a:lnSpc>
                <a:spcPct val="120000"/>
              </a:lnSpc>
              <a:defRPr/>
            </a:pPr>
            <a:r>
              <a:rPr sz="1900" b="0" i="0" u="none" dirty="0">
                <a:solidFill>
                  <a:schemeClr val="bg1"/>
                </a:solidFill>
                <a:ea typeface="Times New Roman"/>
                <a:cs typeface="Times New Roman"/>
              </a:rPr>
              <a:t>Use TB6612 to drive DC motors with direction &amp; speed (PWM)</a:t>
            </a:r>
            <a:endParaRPr sz="1900" dirty="0">
              <a:solidFill>
                <a:schemeClr val="bg1"/>
              </a:solidFill>
            </a:endParaRPr>
          </a:p>
          <a:p>
            <a:pPr lvl="1">
              <a:lnSpc>
                <a:spcPct val="120000"/>
              </a:lnSpc>
              <a:defRPr/>
            </a:pPr>
            <a:r>
              <a:rPr sz="1900" b="0" i="0" u="none" dirty="0">
                <a:solidFill>
                  <a:schemeClr val="bg1"/>
                </a:solidFill>
                <a:ea typeface="Times New Roman"/>
                <a:cs typeface="Times New Roman"/>
              </a:rPr>
              <a:t>Interface Sensors: Ultrasonic (distance), IR (pit/line)</a:t>
            </a:r>
            <a:endParaRPr sz="1900" dirty="0">
              <a:solidFill>
                <a:schemeClr val="bg1"/>
              </a:solidFill>
            </a:endParaRPr>
          </a:p>
          <a:p>
            <a:pPr lvl="1">
              <a:lnSpc>
                <a:spcPct val="120000"/>
              </a:lnSpc>
              <a:defRPr/>
            </a:pPr>
            <a:r>
              <a:rPr sz="1900" b="0" i="0" u="none" dirty="0">
                <a:solidFill>
                  <a:schemeClr val="bg1"/>
                </a:solidFill>
                <a:ea typeface="Times New Roman"/>
                <a:cs typeface="Times New Roman"/>
              </a:rPr>
              <a:t>Servo-based Scanning for obstacle direction (Ultrasonic)</a:t>
            </a:r>
            <a:endParaRPr sz="1900" dirty="0">
              <a:solidFill>
                <a:schemeClr val="bg1"/>
              </a:solidFill>
            </a:endParaRPr>
          </a:p>
          <a:p>
            <a:pPr lvl="1">
              <a:lnSpc>
                <a:spcPct val="120000"/>
              </a:lnSpc>
              <a:defRPr/>
            </a:pPr>
            <a:r>
              <a:rPr sz="1900" b="0" i="0" u="none" dirty="0">
                <a:solidFill>
                  <a:schemeClr val="bg1"/>
                </a:solidFill>
                <a:ea typeface="Times New Roman"/>
                <a:cs typeface="Times New Roman"/>
              </a:rPr>
              <a:t>Write Navigation Logic: forward, stop, turn, avoid edges/pits</a:t>
            </a:r>
            <a:endParaRPr sz="1900" dirty="0">
              <a:solidFill>
                <a:schemeClr val="bg1"/>
              </a:solidFill>
            </a:endParaRPr>
          </a:p>
          <a:p>
            <a:pPr lvl="1">
              <a:lnSpc>
                <a:spcPct val="120000"/>
              </a:lnSpc>
              <a:defRPr/>
            </a:pPr>
            <a:r>
              <a:rPr sz="1900" b="0" i="0" u="none" dirty="0">
                <a:solidFill>
                  <a:schemeClr val="bg1"/>
                </a:solidFill>
                <a:ea typeface="Times New Roman"/>
                <a:cs typeface="Times New Roman"/>
              </a:rPr>
              <a:t>Display Data on OLED using I2C communication</a:t>
            </a:r>
            <a:endParaRPr sz="1900" dirty="0">
              <a:solidFill>
                <a:schemeClr val="bg1"/>
              </a:solidFill>
            </a:endParaRPr>
          </a:p>
          <a:p>
            <a:pPr lvl="1">
              <a:lnSpc>
                <a:spcPct val="120000"/>
              </a:lnSpc>
              <a:defRPr/>
            </a:pPr>
            <a:r>
              <a:rPr sz="1900" b="0" i="0" u="none" dirty="0">
                <a:solidFill>
                  <a:schemeClr val="bg1"/>
                </a:solidFill>
                <a:ea typeface="Times New Roman"/>
                <a:cs typeface="Times New Roman"/>
              </a:rPr>
              <a:t>Debug via Serial Monitor &amp; sensor feedback</a:t>
            </a:r>
            <a:endParaRPr sz="1900" dirty="0">
              <a:solidFill>
                <a:schemeClr val="bg1"/>
              </a:solidFill>
            </a:endParaRPr>
          </a:p>
          <a:p>
            <a:pPr lvl="1">
              <a:lnSpc>
                <a:spcPct val="120000"/>
              </a:lnSpc>
              <a:defRPr/>
            </a:pPr>
            <a:r>
              <a:rPr sz="1900" b="0" i="0" u="none" dirty="0">
                <a:solidFill>
                  <a:schemeClr val="bg1"/>
                </a:solidFill>
                <a:ea typeface="Times New Roman"/>
                <a:cs typeface="Times New Roman"/>
              </a:rPr>
              <a:t>Integrate Hardware &amp; Code (motors, sensors, logic flow)</a:t>
            </a:r>
            <a:endParaRPr sz="1900" dirty="0">
              <a:solidFill>
                <a:schemeClr val="bg1"/>
              </a:solidFill>
            </a:endParaRPr>
          </a:p>
          <a:p>
            <a:pPr lvl="1">
              <a:lnSpc>
                <a:spcPct val="120000"/>
              </a:lnSpc>
              <a:defRPr/>
            </a:pPr>
            <a:r>
              <a:rPr sz="1900" b="0" i="0" u="none" dirty="0">
                <a:solidFill>
                  <a:schemeClr val="bg1"/>
                </a:solidFill>
                <a:ea typeface="Times New Roman"/>
                <a:cs typeface="Times New Roman"/>
              </a:rPr>
              <a:t>Foundation for Reactive Robots &amp; Path Decision Making</a:t>
            </a:r>
            <a:endParaRPr sz="3000" dirty="0"/>
          </a:p>
        </p:txBody>
      </p:sp>
      <p:pic>
        <p:nvPicPr>
          <p:cNvPr id="222995772" name="Picture 22299577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784135" y="1100167"/>
            <a:ext cx="4678533" cy="462373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3B6DB3E-50CF-DD44-2230-C554DFF0CE0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8394999" name="Title 1"/>
          <p:cNvSpPr>
            <a:spLocks noGrp="1"/>
          </p:cNvSpPr>
          <p:nvPr>
            <p:ph type="title"/>
          </p:nvPr>
        </p:nvSpPr>
        <p:spPr bwMode="auto">
          <a:xfrm>
            <a:off x="0" y="18307"/>
            <a:ext cx="10515600" cy="978099"/>
          </a:xfrm>
        </p:spPr>
        <p:txBody>
          <a:bodyPr/>
          <a:lstStyle/>
          <a:p>
            <a:pPr>
              <a:defRPr/>
            </a:pPr>
            <a:r>
              <a:rPr lang="en-GB" dirty="0">
                <a:solidFill>
                  <a:schemeClr val="bg1"/>
                </a:solidFill>
              </a:rPr>
              <a:t>Navigational Robot Car-1 (Sensors)</a:t>
            </a:r>
            <a:endParaRPr dirty="0"/>
          </a:p>
        </p:txBody>
      </p:sp>
      <p:sp>
        <p:nvSpPr>
          <p:cNvPr id="1765026572" name="Content Placeholder 2"/>
          <p:cNvSpPr>
            <a:spLocks noGrp="1"/>
          </p:cNvSpPr>
          <p:nvPr>
            <p:ph idx="1"/>
          </p:nvPr>
        </p:nvSpPr>
        <p:spPr bwMode="auto">
          <a:xfrm>
            <a:off x="660161" y="1269302"/>
            <a:ext cx="3971767" cy="467714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2500" lnSpcReduction="10000"/>
          </a:bodyPr>
          <a:lstStyle/>
          <a:p>
            <a:pPr marL="0" indent="0">
              <a:buNone/>
              <a:defRPr/>
            </a:pPr>
            <a:r>
              <a:rPr lang="en-GB" sz="2900" dirty="0">
                <a:solidFill>
                  <a:schemeClr val="accent5"/>
                </a:solidFill>
              </a:rPr>
              <a:t>Modes/Algorithms</a:t>
            </a:r>
            <a:endParaRPr sz="2900" dirty="0">
              <a:solidFill>
                <a:schemeClr val="accent5"/>
              </a:solidFill>
            </a:endParaRPr>
          </a:p>
          <a:p>
            <a:pPr>
              <a:defRPr/>
            </a:pPr>
            <a:r>
              <a:rPr sz="2000" b="0" i="0" u="none" dirty="0">
                <a:solidFill>
                  <a:schemeClr val="bg1"/>
                </a:solidFill>
                <a:ea typeface="Aptos Display"/>
                <a:cs typeface="Aptos Display"/>
              </a:rPr>
              <a:t>Hands-on Training for Car-1</a:t>
            </a:r>
            <a:br>
              <a:rPr sz="2000" b="0" i="0" u="none" dirty="0">
                <a:solidFill>
                  <a:schemeClr val="bg1"/>
                </a:solidFill>
                <a:ea typeface="Aptos Display"/>
                <a:cs typeface="Aptos Display"/>
              </a:rPr>
            </a:br>
            <a:r>
              <a:rPr sz="2000" b="0" i="0" u="none" dirty="0">
                <a:solidFill>
                  <a:schemeClr val="bg1"/>
                </a:solidFill>
                <a:ea typeface="Aptos Display"/>
                <a:cs typeface="Aptos Display"/>
              </a:rPr>
              <a:t> Modes: </a:t>
            </a:r>
            <a:endParaRPr sz="2000" b="0" i="0" u="none" dirty="0">
              <a:solidFill>
                <a:schemeClr val="bg1"/>
              </a:solidFill>
              <a:cs typeface="Aptos Display"/>
            </a:endParaRPr>
          </a:p>
          <a:p>
            <a:pPr lvl="1">
              <a:defRPr/>
            </a:pPr>
            <a:r>
              <a:rPr sz="2000" b="0" i="0" u="none" dirty="0">
                <a:solidFill>
                  <a:schemeClr val="bg1"/>
                </a:solidFill>
                <a:ea typeface="Aptos Display"/>
                <a:cs typeface="Aptos Display"/>
              </a:rPr>
              <a:t>Infrared Obstacle Avoidance </a:t>
            </a:r>
          </a:p>
          <a:p>
            <a:pPr lvl="1">
              <a:defRPr/>
            </a:pPr>
            <a:r>
              <a:rPr lang="en-US" sz="2000" b="0" i="0" u="none" strike="noStrike" cap="none" spc="0" dirty="0">
                <a:solidFill>
                  <a:schemeClr val="bg1"/>
                </a:solidFill>
                <a:ea typeface="Aptos Display"/>
                <a:cs typeface="Aptos Display"/>
              </a:rPr>
              <a:t>Ultrasound Obstacle Avoidance</a:t>
            </a:r>
            <a:endParaRPr lang="en-GB" sz="2000" b="0" i="0" u="none" dirty="0">
              <a:solidFill>
                <a:schemeClr val="bg1"/>
              </a:solidFill>
              <a:cs typeface="Aptos Display"/>
            </a:endParaRPr>
          </a:p>
          <a:p>
            <a:pPr lvl="1">
              <a:defRPr/>
            </a:pPr>
            <a:r>
              <a:rPr sz="2000" b="0" i="0" u="none" dirty="0">
                <a:solidFill>
                  <a:schemeClr val="bg1"/>
                </a:solidFill>
                <a:ea typeface="Aptos Display"/>
                <a:cs typeface="Aptos Display"/>
              </a:rPr>
              <a:t>Line Following</a:t>
            </a:r>
            <a:endParaRPr sz="2000" b="0" i="0" u="none" dirty="0">
              <a:solidFill>
                <a:schemeClr val="bg1"/>
              </a:solidFill>
              <a:cs typeface="Aptos Display"/>
            </a:endParaRPr>
          </a:p>
          <a:p>
            <a:pPr lvl="1">
              <a:defRPr/>
            </a:pPr>
            <a:r>
              <a:rPr sz="2000" b="0" i="0" u="none" dirty="0">
                <a:solidFill>
                  <a:schemeClr val="bg1"/>
                </a:solidFill>
                <a:ea typeface="Aptos Display"/>
                <a:cs typeface="Aptos Display"/>
              </a:rPr>
              <a:t>Pit Avoidance</a:t>
            </a:r>
          </a:p>
          <a:p>
            <a:pPr lvl="1">
              <a:defRPr/>
            </a:pPr>
            <a:r>
              <a:rPr sz="2000" b="0" i="0" u="none" dirty="0">
                <a:solidFill>
                  <a:schemeClr val="bg1"/>
                </a:solidFill>
                <a:ea typeface="Aptos Display"/>
                <a:cs typeface="Aptos Display"/>
              </a:rPr>
              <a:t>Wall Following</a:t>
            </a:r>
            <a:endParaRPr sz="2000" b="0" i="0" u="none" dirty="0">
              <a:solidFill>
                <a:schemeClr val="bg1"/>
              </a:solidFill>
              <a:cs typeface="Aptos Display"/>
            </a:endParaRPr>
          </a:p>
          <a:p>
            <a:pPr lvl="2">
              <a:defRPr/>
            </a:pPr>
            <a:r>
              <a:rPr lang="en-US" b="0" i="0" u="none" strike="noStrike" cap="none" spc="0" dirty="0">
                <a:solidFill>
                  <a:schemeClr val="bg1"/>
                </a:solidFill>
                <a:ea typeface="Aptos Display"/>
                <a:cs typeface="Aptos Display"/>
              </a:rPr>
              <a:t>External Wall Following - Left,</a:t>
            </a:r>
            <a:endParaRPr b="0" i="0" u="none" strike="noStrike" cap="none" spc="0" dirty="0">
              <a:solidFill>
                <a:schemeClr val="bg1"/>
              </a:solidFill>
              <a:cs typeface="Aptos Display"/>
            </a:endParaRPr>
          </a:p>
          <a:p>
            <a:pPr lvl="2">
              <a:defRPr/>
            </a:pPr>
            <a:r>
              <a:rPr lang="en-US" b="0" i="0" u="none" strike="noStrike" cap="none" spc="0" dirty="0">
                <a:solidFill>
                  <a:schemeClr val="bg1"/>
                </a:solidFill>
                <a:ea typeface="Aptos Display"/>
                <a:cs typeface="Aptos Display"/>
              </a:rPr>
              <a:t>External Wall Following - Right,</a:t>
            </a:r>
            <a:endParaRPr b="0" i="0" u="none" strike="noStrike" cap="none" spc="0" dirty="0">
              <a:solidFill>
                <a:schemeClr val="bg1"/>
              </a:solidFill>
              <a:cs typeface="Aptos Display"/>
            </a:endParaRPr>
          </a:p>
          <a:p>
            <a:pPr lvl="2">
              <a:defRPr/>
            </a:pPr>
            <a:r>
              <a:rPr lang="en-US" b="0" i="0" u="none" strike="noStrike" cap="none" spc="0" dirty="0">
                <a:solidFill>
                  <a:schemeClr val="bg1"/>
                </a:solidFill>
                <a:ea typeface="Aptos Display"/>
                <a:cs typeface="Aptos Display"/>
              </a:rPr>
              <a:t>Internal Wall Following - Right,</a:t>
            </a:r>
            <a:endParaRPr b="0" i="0" u="none" strike="noStrike" cap="none" spc="0" dirty="0">
              <a:solidFill>
                <a:schemeClr val="bg1"/>
              </a:solidFill>
              <a:ea typeface="Aptos Display"/>
              <a:cs typeface="Aptos Display"/>
            </a:endParaRPr>
          </a:p>
          <a:p>
            <a:pPr lvl="2">
              <a:defRPr/>
            </a:pPr>
            <a:r>
              <a:rPr lang="en-US" b="0" i="0" u="none" strike="noStrike" cap="none" spc="0" dirty="0">
                <a:solidFill>
                  <a:schemeClr val="bg1"/>
                </a:solidFill>
                <a:ea typeface="Aptos Display"/>
                <a:cs typeface="Aptos Display"/>
              </a:rPr>
              <a:t>Internal Wall Following - Left</a:t>
            </a:r>
          </a:p>
          <a:p>
            <a:pPr lvl="1">
              <a:defRPr/>
            </a:pPr>
            <a:r>
              <a:rPr sz="2000" b="0" i="0" u="none" dirty="0">
                <a:solidFill>
                  <a:schemeClr val="bg1"/>
                </a:solidFill>
                <a:ea typeface="Aptos Display"/>
                <a:cs typeface="Aptos Display"/>
              </a:rPr>
              <a:t>IR Remote.</a:t>
            </a:r>
            <a:endParaRPr lang="en-GB" sz="2000" b="0" i="0" u="none" dirty="0">
              <a:solidFill>
                <a:schemeClr val="bg1"/>
              </a:solidFill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GB" sz="2000" dirty="0">
                <a:solidFill>
                  <a:schemeClr val="bg1"/>
                </a:solidFill>
              </a:rPr>
              <a:t>Bluetooth.</a:t>
            </a:r>
          </a:p>
          <a:p>
            <a:pPr marL="0" indent="0">
              <a:buFont typeface="Arial"/>
              <a:buNone/>
              <a:defRPr/>
            </a:pPr>
            <a:endParaRPr dirty="0"/>
          </a:p>
        </p:txBody>
      </p:sp>
      <p:pic>
        <p:nvPicPr>
          <p:cNvPr id="468437389" name="Picture 468437388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917961" y="1446166"/>
            <a:ext cx="6013813" cy="441542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604CCB0-470B-F82E-AABC-BA5C01C016A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859136" name="Title 1"/>
          <p:cNvSpPr>
            <a:spLocks noGrp="1"/>
          </p:cNvSpPr>
          <p:nvPr>
            <p:ph type="title"/>
          </p:nvPr>
        </p:nvSpPr>
        <p:spPr bwMode="auto">
          <a:xfrm>
            <a:off x="0" y="2766217"/>
            <a:ext cx="12192001" cy="1325562"/>
          </a:xfrm>
        </p:spPr>
        <p:txBody>
          <a:bodyPr/>
          <a:lstStyle/>
          <a:p>
            <a:pPr algn="ctr">
              <a:defRPr/>
            </a:pPr>
            <a:r>
              <a:rPr lang="en-GB">
                <a:solidFill>
                  <a:schemeClr val="bg1"/>
                </a:solidFill>
              </a:rPr>
              <a:t>Health &amp; Safety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3878C7E-575D-D28B-CDE6-9072EB555D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679E4E-FA60-333C-3D1A-8CAD053BE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6D373-9E99-904D-D16E-B665224A8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1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Health &amp; Safety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1E38AA-00CF-E36F-ED63-4C49F0C3D033}"/>
              </a:ext>
            </a:extLst>
          </p:cNvPr>
          <p:cNvSpPr txBox="1"/>
          <p:nvPr/>
        </p:nvSpPr>
        <p:spPr>
          <a:xfrm>
            <a:off x="207380" y="966334"/>
            <a:ext cx="11004906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Double-check all power connections.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Ensure correct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GND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and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VCC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wiring for the power supply, OLED, motor drivers, GPS, sensors, and other modules.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Use the correct input voltage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Battery input should be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between 5V and 12V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only.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Work on a safe surface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Use the kit on an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insulated table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(e.g., wood) and ensure the surface is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dry and clean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Avoid leaving the kit unattended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Do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keep the system powered on without supervision.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Build and Test Incrementally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Turn on the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microcontroller first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then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build and test the circuit step-by-step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Avoid wiring the entire system at once and powering it without intermediate testing.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Don’t leave Batteries charging unattended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Robotic car is for in-door use only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0184AA-50B1-CE4C-E9DD-FA011DE9E8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5" name="Flowchart: Punched Tape 4">
            <a:extLst>
              <a:ext uri="{FF2B5EF4-FFF2-40B4-BE49-F238E27FC236}">
                <a16:creationId xmlns:a16="http://schemas.microsoft.com/office/drawing/2014/main" id="{0CB6ADB2-B4E7-87A4-FDE4-07CE35F85F99}"/>
              </a:ext>
            </a:extLst>
          </p:cNvPr>
          <p:cNvSpPr/>
          <p:nvPr/>
        </p:nvSpPr>
        <p:spPr>
          <a:xfrm>
            <a:off x="8724502" y="4659086"/>
            <a:ext cx="3183918" cy="2046514"/>
          </a:xfrm>
          <a:prstGeom prst="flowChartPunchedTap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Always follow 4-eyes principle when it comes to checking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GB" sz="2400" b="1" i="0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VCC &amp; GND</a:t>
            </a:r>
          </a:p>
        </p:txBody>
      </p:sp>
    </p:spTree>
    <p:extLst>
      <p:ext uri="{BB962C8B-B14F-4D97-AF65-F5344CB8AC3E}">
        <p14:creationId xmlns:p14="http://schemas.microsoft.com/office/powerpoint/2010/main" val="30963238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1A33AE-D51B-2F96-4676-908F7AD7F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18152-04F7-357B-E8A9-58F6480AE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66218"/>
            <a:ext cx="12192001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Motor Driver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1C21F7-EA41-F617-CB86-9DE333449E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3786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1E1734-BA8D-A728-86A6-4C409AB6E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58B68-F928-CFA4-F85F-C2BE90537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17827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Navigational Robot Car-1 (Sensors)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7B936C-7D2C-B080-89A3-F55F02541529}"/>
              </a:ext>
            </a:extLst>
          </p:cNvPr>
          <p:cNvSpPr txBox="1"/>
          <p:nvPr/>
        </p:nvSpPr>
        <p:spPr>
          <a:xfrm>
            <a:off x="1580502" y="1936870"/>
            <a:ext cx="21371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Series: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TT DC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Speed: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130 RPM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Voltage: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6V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AEC81E5-821C-1129-A681-F06D2B41F5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AC1337-8DA8-CD90-BFFB-0008B777F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0575" y="3638125"/>
            <a:ext cx="1729890" cy="17679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2B186D4-35C4-55ED-9E68-4B2D699E7CEF}"/>
              </a:ext>
            </a:extLst>
          </p:cNvPr>
          <p:cNvSpPr txBox="1"/>
          <p:nvPr/>
        </p:nvSpPr>
        <p:spPr>
          <a:xfrm>
            <a:off x="7672552" y="1555738"/>
            <a:ext cx="30543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8ECAE6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TB 6612 Motor Driver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E853E6-15C1-7A08-B906-C5787A14879A}"/>
              </a:ext>
            </a:extLst>
          </p:cNvPr>
          <p:cNvSpPr txBox="1"/>
          <p:nvPr/>
        </p:nvSpPr>
        <p:spPr>
          <a:xfrm>
            <a:off x="1743719" y="1439805"/>
            <a:ext cx="22961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8ECAE6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TT Motor Driver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FA5A33-C5DC-4344-7AE8-77501BC94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9088" y="3429000"/>
            <a:ext cx="3025402" cy="225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1634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A08351-2C24-15DA-34F4-4B5FFCEA0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AC8B6-63B7-DD79-27AE-68FE6E975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Navigational Robot Car-3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4CEA33-BBE0-DCA3-5D04-E9F1E3B12102}"/>
              </a:ext>
            </a:extLst>
          </p:cNvPr>
          <p:cNvSpPr txBox="1"/>
          <p:nvPr/>
        </p:nvSpPr>
        <p:spPr>
          <a:xfrm>
            <a:off x="2218913" y="1376183"/>
            <a:ext cx="7754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8ECAE6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PIN Details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- TB6612 Motor Driver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and 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TT Motor</a:t>
            </a:r>
            <a:endParaRPr kumimoji="0" lang="en-GB" sz="2400" b="1" i="0" u="none" strike="noStrike" kern="1200" cap="none" spc="0" normalizeH="0" baseline="0" noProof="0" dirty="0">
              <a:ln>
                <a:noFill/>
              </a:ln>
              <a:solidFill>
                <a:srgbClr val="219EBC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3C713F-8549-EC89-079B-746AC0D3DC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141" y="2118076"/>
            <a:ext cx="3043008" cy="20152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11A9EF-F364-AD8E-72B4-D55D598A2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9089" y="2241697"/>
            <a:ext cx="1729890" cy="17679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498A215-02D3-998C-1585-1B53E7EB4A6C}"/>
              </a:ext>
            </a:extLst>
          </p:cNvPr>
          <p:cNvSpPr txBox="1"/>
          <p:nvPr/>
        </p:nvSpPr>
        <p:spPr>
          <a:xfrm>
            <a:off x="3120569" y="4789301"/>
            <a:ext cx="257294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sng" strike="noStrike" kern="120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Left Motor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A-IN1 – Arduino Nano 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A-IN2 – Arduino Nano 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PWMA – Arduino Nano 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737E37-CC46-2FB4-F668-372703C5733B}"/>
              </a:ext>
            </a:extLst>
          </p:cNvPr>
          <p:cNvSpPr txBox="1"/>
          <p:nvPr/>
        </p:nvSpPr>
        <p:spPr>
          <a:xfrm>
            <a:off x="6954755" y="4789301"/>
            <a:ext cx="262264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sng" strike="noStrike" kern="120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Right Motor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B-IN1 – Arduino Nano 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B-IN2 – Arduino Nano 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PWMB – Arduino Nano 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BAA3EC2-F41B-5B84-E564-D404B4FC047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840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48D9DF-DDD1-5D9B-D9EA-29DC99C10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AEA69-1B63-169D-5551-C0757319D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66218"/>
            <a:ext cx="12192001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Test Basic Movement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01D505-6CE0-6790-86E0-857A63FB376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242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3551FE-B45B-8AB9-13A2-5458A528C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DC9D2-237B-88E5-60CC-8486882CF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1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Initial Setup - Test Basic Movements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3CD855-EA62-4709-7945-C7899E2BCD13}"/>
              </a:ext>
            </a:extLst>
          </p:cNvPr>
          <p:cNvSpPr txBox="1"/>
          <p:nvPr/>
        </p:nvSpPr>
        <p:spPr>
          <a:xfrm>
            <a:off x="386373" y="1116130"/>
            <a:ext cx="1157151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 purpose of this exercise is to test basic movements of the robot car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Also to ensure, your program is using the correct allocated PINs for Motor Inputs (IN1/IN2)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A82BDC-6971-9B9E-9978-564CF6DE7118}"/>
              </a:ext>
            </a:extLst>
          </p:cNvPr>
          <p:cNvSpPr txBox="1"/>
          <p:nvPr/>
        </p:nvSpPr>
        <p:spPr>
          <a:xfrm>
            <a:off x="2763247" y="2826753"/>
            <a:ext cx="6020559" cy="313932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 Program has the following 3 major functional blocks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FF715B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lphaUcPeriod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Pins declaration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Ensure correct pins are defined (see sample program)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B. Setup: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	input/outputs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C. Loop: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	In the loop the car drives forward/left/right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56A503-7DF1-90B2-FC56-D2E8F470B8A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8814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EA899C-B0C9-CE54-D592-D8471244B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27FC0-3493-B8EA-E476-399A202C4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1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Initial Setup - Test Basic Movements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4327D0-AA16-C616-4B40-2421B883E9D6}"/>
              </a:ext>
            </a:extLst>
          </p:cNvPr>
          <p:cNvSpPr txBox="1"/>
          <p:nvPr/>
        </p:nvSpPr>
        <p:spPr>
          <a:xfrm>
            <a:off x="422818" y="1774094"/>
            <a:ext cx="4884671" cy="230832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// ============== Pin 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Definitions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==========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// Left Motor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#define IN2_L 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#define IN1_L 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//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Right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Motor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#define IN2_R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#define IN1_R 8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FF715B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D2FD85-AC52-70E8-3DF3-2CC4DEFAACFF}"/>
              </a:ext>
            </a:extLst>
          </p:cNvPr>
          <p:cNvSpPr txBox="1"/>
          <p:nvPr/>
        </p:nvSpPr>
        <p:spPr>
          <a:xfrm>
            <a:off x="5965371" y="1774094"/>
            <a:ext cx="595448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8ECAE6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Please test each direction in </a:t>
            </a: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isolation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FF715B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Forward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Backward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Left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Right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EB159F-3A70-E013-1A82-D1B9F62B94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EAA90D6-5743-731C-6EFC-9269AF270D5A}"/>
              </a:ext>
            </a:extLst>
          </p:cNvPr>
          <p:cNvSpPr txBox="1"/>
          <p:nvPr/>
        </p:nvSpPr>
        <p:spPr>
          <a:xfrm>
            <a:off x="832542" y="4617562"/>
            <a:ext cx="102656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If incorrect direction,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then swap IN1/IN2 pins of the corresponding motor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1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Expected Output: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The car moves in the desired direction</a:t>
            </a:r>
          </a:p>
        </p:txBody>
      </p:sp>
    </p:spTree>
    <p:extLst>
      <p:ext uri="{BB962C8B-B14F-4D97-AF65-F5344CB8AC3E}">
        <p14:creationId xmlns:p14="http://schemas.microsoft.com/office/powerpoint/2010/main" val="9328901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2759369" name="Title 1"/>
          <p:cNvSpPr>
            <a:spLocks noGrp="1"/>
          </p:cNvSpPr>
          <p:nvPr>
            <p:ph type="title"/>
          </p:nvPr>
        </p:nvSpPr>
        <p:spPr bwMode="auto">
          <a:xfrm>
            <a:off x="660161" y="35754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Navigational Robot Car-1</a:t>
            </a:r>
            <a:endParaRPr/>
          </a:p>
        </p:txBody>
      </p:sp>
      <p:sp>
        <p:nvSpPr>
          <p:cNvPr id="1153508345" name="Content Placeholder 2"/>
          <p:cNvSpPr>
            <a:spLocks noGrp="1"/>
          </p:cNvSpPr>
          <p:nvPr>
            <p:ph idx="1"/>
          </p:nvPr>
        </p:nvSpPr>
        <p:spPr bwMode="auto">
          <a:xfrm>
            <a:off x="660161" y="1032616"/>
            <a:ext cx="10515600" cy="557256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graphicFrame>
        <p:nvGraphicFramePr>
          <p:cNvPr id="716623742" name="Table 71662374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3320504"/>
              </p:ext>
            </p:extLst>
          </p:nvPr>
        </p:nvGraphicFramePr>
        <p:xfrm>
          <a:off x="1967701" y="1646176"/>
          <a:ext cx="6664223" cy="468305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2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25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768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400"/>
                        <a:t>Basic Movement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2284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400" dirty="0"/>
                        <a:t>// Define Motor Pins</a:t>
                      </a:r>
                    </a:p>
                    <a:p>
                      <a:pPr>
                        <a:defRPr/>
                      </a:pPr>
                      <a:r>
                        <a:rPr sz="1400" dirty="0"/>
                        <a:t>Left1 = Digital Pin </a:t>
                      </a:r>
                      <a:r>
                        <a:rPr lang="en-GB" sz="1400" dirty="0"/>
                        <a:t>3</a:t>
                      </a: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Left2 = Digital Pin </a:t>
                      </a:r>
                      <a:r>
                        <a:rPr lang="en-GB" sz="1400" dirty="0"/>
                        <a:t>4</a:t>
                      </a: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 err="1"/>
                        <a:t>Left_Speed</a:t>
                      </a:r>
                      <a:r>
                        <a:rPr sz="1400" dirty="0"/>
                        <a:t> = PWM Pin </a:t>
                      </a:r>
                      <a:r>
                        <a:rPr lang="en-GB" sz="1400" dirty="0"/>
                        <a:t>5</a:t>
                      </a:r>
                      <a:endParaRPr sz="1400"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Right1 = Digital Pin </a:t>
                      </a:r>
                      <a:r>
                        <a:rPr lang="en-GB" sz="1400" dirty="0"/>
                        <a:t>7</a:t>
                      </a: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Right2 = Digital Pin </a:t>
                      </a:r>
                      <a:r>
                        <a:rPr lang="en-GB" sz="1400" dirty="0"/>
                        <a:t>8</a:t>
                      </a: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 err="1"/>
                        <a:t>Right_Speed</a:t>
                      </a:r>
                      <a:r>
                        <a:rPr sz="1400" dirty="0"/>
                        <a:t> = PWM Pin </a:t>
                      </a:r>
                      <a:r>
                        <a:rPr lang="en-GB" sz="1400" dirty="0"/>
                        <a:t>6</a:t>
                      </a:r>
                      <a:endParaRPr sz="1400"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setup():</a:t>
                      </a:r>
                    </a:p>
                    <a:p>
                      <a:pPr>
                        <a:defRPr/>
                      </a:pPr>
                      <a:r>
                        <a:rPr sz="1400" dirty="0"/>
                        <a:t>  Set all motor control pins as OUTPUT</a:t>
                      </a:r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loop():</a:t>
                      </a:r>
                    </a:p>
                    <a:p>
                      <a:pPr>
                        <a:defRPr/>
                      </a:pPr>
                      <a:r>
                        <a:rPr sz="1400" dirty="0"/>
                        <a:t>  </a:t>
                      </a:r>
                      <a:r>
                        <a:rPr lang="en-US" sz="1400" b="1" i="0" u="none" strike="noStrike" cap="none" spc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Set motor speed to medium (127)</a:t>
                      </a: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  forward()      // 2 sec</a:t>
                      </a:r>
                    </a:p>
                    <a:p>
                      <a:pPr>
                        <a:defRPr/>
                      </a:pPr>
                      <a:r>
                        <a:rPr sz="1400" dirty="0"/>
                        <a:t>  backward()     // 2 sec</a:t>
                      </a:r>
                    </a:p>
                    <a:p>
                      <a:pPr>
                        <a:defRPr/>
                      </a:pPr>
                      <a:r>
                        <a:rPr sz="1400" dirty="0"/>
                        <a:t>  </a:t>
                      </a:r>
                      <a:r>
                        <a:rPr sz="1400" dirty="0" err="1"/>
                        <a:t>turnRight</a:t>
                      </a:r>
                      <a:r>
                        <a:rPr sz="1400" dirty="0"/>
                        <a:t>()    // 0.5 sec</a:t>
                      </a:r>
                    </a:p>
                    <a:p>
                      <a:pPr>
                        <a:defRPr/>
                      </a:pPr>
                      <a:r>
                        <a:rPr sz="1400" dirty="0"/>
                        <a:t>  </a:t>
                      </a:r>
                      <a:r>
                        <a:rPr sz="1400" dirty="0" err="1"/>
                        <a:t>turnLeft</a:t>
                      </a:r>
                      <a:r>
                        <a:rPr sz="1400" dirty="0"/>
                        <a:t>()     // 0.5 sec</a:t>
                      </a:r>
                    </a:p>
                    <a:p>
                      <a:pPr>
                        <a:defRPr/>
                      </a:pPr>
                      <a:r>
                        <a:rPr sz="1400" dirty="0"/>
                        <a:t>  Stop()         // 1.5 sec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400" dirty="0"/>
                        <a:t>forward():</a:t>
                      </a:r>
                    </a:p>
                    <a:p>
                      <a:pPr>
                        <a:defRPr/>
                      </a:pPr>
                      <a:r>
                        <a:rPr sz="1400" dirty="0"/>
                        <a:t>  Left1=HIGH, Left2=LOW</a:t>
                      </a:r>
                    </a:p>
                    <a:p>
                      <a:pPr>
                        <a:defRPr/>
                      </a:pPr>
                      <a:r>
                        <a:rPr sz="1400" dirty="0"/>
                        <a:t>  Right1=HIGH, Right2=LOW</a:t>
                      </a:r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backward():</a:t>
                      </a:r>
                    </a:p>
                    <a:p>
                      <a:pPr>
                        <a:defRPr/>
                      </a:pPr>
                      <a:r>
                        <a:rPr sz="1400" dirty="0"/>
                        <a:t>  Left1=LOW, Left2=HIGH</a:t>
                      </a:r>
                    </a:p>
                    <a:p>
                      <a:pPr>
                        <a:defRPr/>
                      </a:pPr>
                      <a:r>
                        <a:rPr sz="1400" dirty="0"/>
                        <a:t>  Right1=LOW, Right2=HIGH</a:t>
                      </a:r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 err="1"/>
                        <a:t>turnRight</a:t>
                      </a:r>
                      <a:r>
                        <a:rPr sz="1400" dirty="0"/>
                        <a:t>():</a:t>
                      </a:r>
                    </a:p>
                    <a:p>
                      <a:pPr>
                        <a:defRPr/>
                      </a:pPr>
                      <a:r>
                        <a:rPr sz="1400" dirty="0"/>
                        <a:t>  Left1=HIGH, Left2=LOW</a:t>
                      </a:r>
                    </a:p>
                    <a:p>
                      <a:pPr>
                        <a:defRPr/>
                      </a:pPr>
                      <a:r>
                        <a:rPr sz="1400" dirty="0"/>
                        <a:t>  Right1=LOW, Right2=HIGH</a:t>
                      </a:r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 err="1"/>
                        <a:t>turnLeft</a:t>
                      </a:r>
                      <a:r>
                        <a:rPr sz="1400" dirty="0"/>
                        <a:t>():</a:t>
                      </a:r>
                    </a:p>
                    <a:p>
                      <a:pPr>
                        <a:defRPr/>
                      </a:pPr>
                      <a:r>
                        <a:rPr sz="1400" dirty="0"/>
                        <a:t>  Left1=LOW, Left2=HIGH</a:t>
                      </a:r>
                    </a:p>
                    <a:p>
                      <a:pPr>
                        <a:defRPr/>
                      </a:pPr>
                      <a:r>
                        <a:rPr sz="1400" dirty="0"/>
                        <a:t>  Right1=HIGH, Right2=LOW</a:t>
                      </a:r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Stop():</a:t>
                      </a:r>
                    </a:p>
                    <a:p>
                      <a:pPr>
                        <a:defRPr/>
                      </a:pPr>
                      <a:r>
                        <a:rPr sz="1400" dirty="0"/>
                        <a:t>  All pins LOW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" name="Picture 1">
            <a:extLst>
              <a:ext uri="{FF2B5EF4-FFF2-40B4-BE49-F238E27FC236}">
                <a16:creationId xmlns:a16="http://schemas.microsoft.com/office/drawing/2014/main" id="{4BAACBB6-142F-7135-B7D0-7B8FA16A02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179902" name="Title 1"/>
          <p:cNvSpPr>
            <a:spLocks noGrp="1"/>
          </p:cNvSpPr>
          <p:nvPr>
            <p:ph type="title"/>
          </p:nvPr>
        </p:nvSpPr>
        <p:spPr bwMode="auto">
          <a:xfrm>
            <a:off x="0" y="2766217"/>
            <a:ext cx="12192001" cy="1325562"/>
          </a:xfrm>
        </p:spPr>
        <p:txBody>
          <a:bodyPr/>
          <a:lstStyle/>
          <a:p>
            <a:pPr algn="ctr"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IR Sensor Calibration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200B63A-EF4E-D834-DFC3-7D41EF53C97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2315274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0515600" cy="1023257"/>
          </a:xfrm>
        </p:spPr>
        <p:txBody>
          <a:bodyPr/>
          <a:lstStyle/>
          <a:p>
            <a:pPr>
              <a:defRPr/>
            </a:pPr>
            <a:r>
              <a:rPr lang="en-GB" dirty="0">
                <a:solidFill>
                  <a:schemeClr val="bg1"/>
                </a:solidFill>
              </a:rPr>
              <a:t>Navigational Robot Car-1 (Sensors)</a:t>
            </a:r>
            <a:endParaRPr dirty="0"/>
          </a:p>
        </p:txBody>
      </p:sp>
      <p:sp>
        <p:nvSpPr>
          <p:cNvPr id="1113006494" name="Content Placeholder 2"/>
          <p:cNvSpPr>
            <a:spLocks noGrp="1"/>
          </p:cNvSpPr>
          <p:nvPr>
            <p:ph idx="1"/>
          </p:nvPr>
        </p:nvSpPr>
        <p:spPr bwMode="auto">
          <a:xfrm>
            <a:off x="660161" y="1269302"/>
            <a:ext cx="10515600" cy="467714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None/>
              <a:defRPr/>
            </a:pPr>
            <a:r>
              <a:rPr lang="en-GB" sz="2800" b="0" i="0" u="none" strike="noStrike" cap="none" spc="0" dirty="0">
                <a:solidFill>
                  <a:schemeClr val="accent5"/>
                </a:solidFill>
                <a:latin typeface="Aptos Display"/>
                <a:ea typeface="Arial"/>
                <a:cs typeface="Arial"/>
              </a:rPr>
              <a:t>IR Sensor Calibration</a:t>
            </a:r>
          </a:p>
          <a:p>
            <a:pPr marL="0" indent="0">
              <a:buNone/>
              <a:defRPr/>
            </a:pPr>
            <a:endParaRPr lang="en-GB" dirty="0"/>
          </a:p>
          <a:p>
            <a:pPr>
              <a:defRPr/>
            </a:pPr>
            <a:r>
              <a:rPr lang="en-GB" sz="2400" dirty="0">
                <a:solidFill>
                  <a:schemeClr val="bg1"/>
                </a:solidFill>
              </a:rPr>
              <a:t>Physical demo &amp; practice session</a:t>
            </a:r>
            <a:endParaRPr sz="2400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5B06B8B-D8B4-FE03-33D4-B50DA183DD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1900053" name="Title 1"/>
          <p:cNvSpPr>
            <a:spLocks noGrp="1"/>
          </p:cNvSpPr>
          <p:nvPr>
            <p:ph type="title"/>
          </p:nvPr>
        </p:nvSpPr>
        <p:spPr bwMode="auto">
          <a:xfrm>
            <a:off x="0" y="2766217"/>
            <a:ext cx="12192001" cy="1325562"/>
          </a:xfrm>
        </p:spPr>
        <p:txBody>
          <a:bodyPr/>
          <a:lstStyle/>
          <a:p>
            <a:pPr algn="ctr"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IR Obstacle Mode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981C63-A8CB-5502-AF35-0E3B8ADDBE4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4131529" name="Title 1"/>
          <p:cNvSpPr>
            <a:spLocks noGrp="1"/>
          </p:cNvSpPr>
          <p:nvPr>
            <p:ph type="title"/>
          </p:nvPr>
        </p:nvSpPr>
        <p:spPr bwMode="auto">
          <a:xfrm>
            <a:off x="0" y="1"/>
            <a:ext cx="10515600" cy="985360"/>
          </a:xfrm>
        </p:spPr>
        <p:txBody>
          <a:bodyPr/>
          <a:lstStyle/>
          <a:p>
            <a:pPr>
              <a:defRPr/>
            </a:pPr>
            <a:r>
              <a:rPr lang="en-GB" dirty="0">
                <a:solidFill>
                  <a:schemeClr val="bg1"/>
                </a:solidFill>
              </a:rPr>
              <a:t>Navigational Robot Car-1 (Sensors)</a:t>
            </a:r>
            <a:endParaRPr dirty="0"/>
          </a:p>
        </p:txBody>
      </p:sp>
      <p:sp>
        <p:nvSpPr>
          <p:cNvPr id="1374200459" name="Content Placeholder 2"/>
          <p:cNvSpPr>
            <a:spLocks noGrp="1"/>
          </p:cNvSpPr>
          <p:nvPr>
            <p:ph idx="1"/>
          </p:nvPr>
        </p:nvSpPr>
        <p:spPr bwMode="auto">
          <a:xfrm>
            <a:off x="660161" y="1269302"/>
            <a:ext cx="10515600" cy="467714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endParaRPr dirty="0"/>
          </a:p>
          <a:p>
            <a:pPr marL="0" indent="0">
              <a:buFont typeface="Arial"/>
              <a:buNone/>
              <a:defRPr/>
            </a:pP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2E71910-D060-635E-7DAF-E1BD43F3B62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E8851CD-8C09-63AA-E449-26A3DCC712DF}"/>
              </a:ext>
            </a:extLst>
          </p:cNvPr>
          <p:cNvSpPr txBox="1"/>
          <p:nvPr/>
        </p:nvSpPr>
        <p:spPr>
          <a:xfrm>
            <a:off x="660161" y="1020634"/>
            <a:ext cx="999695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rtl="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prstClr val="white"/>
                </a:solidFill>
              </a:rPr>
              <a:t>The purpose of this exercise is to test IR sensor calibration for Obstacle Avoidance or Edge Following</a:t>
            </a:r>
          </a:p>
          <a:p>
            <a:pPr lvl="0" rtl="0">
              <a:defRPr/>
            </a:pPr>
            <a:endParaRPr lang="en-GB" sz="2400" kern="1200" dirty="0">
              <a:solidFill>
                <a:prstClr val="white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prstClr val="white"/>
                </a:solidFill>
              </a:rPr>
              <a:t>Also to get familiarity with the usage of the test zig (boundary wall fence)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ED7787-363F-D3F4-EDBB-AC1FA3D73C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0" y="2696617"/>
            <a:ext cx="8763000" cy="395307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C7954E-FB43-3ACB-10A7-7ED61B11E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FAC86-EECB-3EFF-FE9A-255D23CE2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1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Edge Following or IR Obstruction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786682-443B-72E7-5B69-8F2DBE29BDD8}"/>
              </a:ext>
            </a:extLst>
          </p:cNvPr>
          <p:cNvSpPr txBox="1"/>
          <p:nvPr/>
        </p:nvSpPr>
        <p:spPr>
          <a:xfrm>
            <a:off x="386373" y="1116130"/>
            <a:ext cx="1157151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rtl="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prstClr val="white"/>
                </a:solidFill>
              </a:rPr>
              <a:t>The purpose of this exercise is to test IR sensor calibration for Obstacle Avoidance or Edge Following</a:t>
            </a:r>
          </a:p>
          <a:p>
            <a:pPr lvl="0" rtl="0">
              <a:defRPr/>
            </a:pPr>
            <a:endParaRPr lang="en-GB" sz="2400" kern="1200" dirty="0">
              <a:solidFill>
                <a:prstClr val="white"/>
              </a:solidFill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  <a:defRPr/>
            </a:pPr>
            <a:r>
              <a:rPr lang="en-GB" sz="2400" kern="1200" dirty="0">
                <a:solidFill>
                  <a:prstClr val="white"/>
                </a:solidFill>
              </a:rPr>
              <a:t>Also to get familiarity with the test zig (boundary wall fence)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45643E-FA28-29BF-EDF1-6A511C0AFAA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98791DD-79EB-B16C-4937-C47D3A7227AE}"/>
              </a:ext>
            </a:extLst>
          </p:cNvPr>
          <p:cNvSpPr txBox="1"/>
          <p:nvPr/>
        </p:nvSpPr>
        <p:spPr>
          <a:xfrm>
            <a:off x="7569293" y="2963555"/>
            <a:ext cx="4611823" cy="286232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Expected Output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FF715B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Just using the IR sensor in the front, the robot car should be able to avoid the obstructions or following an edge.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During this hands-on exercise one will realise the sensor sensitiveness to the direct/indirect infrared light from the Sun.</a:t>
            </a:r>
          </a:p>
        </p:txBody>
      </p:sp>
      <p:sp>
        <p:nvSpPr>
          <p:cNvPr id="9" name="Flowchart: Punched Tape 8">
            <a:extLst>
              <a:ext uri="{FF2B5EF4-FFF2-40B4-BE49-F238E27FC236}">
                <a16:creationId xmlns:a16="http://schemas.microsoft.com/office/drawing/2014/main" id="{E43C0FF5-9B14-3623-D349-DC2E1F7C1EBC}"/>
              </a:ext>
            </a:extLst>
          </p:cNvPr>
          <p:cNvSpPr/>
          <p:nvPr/>
        </p:nvSpPr>
        <p:spPr>
          <a:xfrm>
            <a:off x="1384499" y="3284873"/>
            <a:ext cx="3851530" cy="2588251"/>
          </a:xfrm>
          <a:prstGeom prst="flowChartPunchedTap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IR Sensor is Very Sensitive to Infrared Light from the Sun so Avoid Direct/Indirect Sun Light if Possible</a:t>
            </a:r>
          </a:p>
        </p:txBody>
      </p:sp>
    </p:spTree>
    <p:extLst>
      <p:ext uri="{BB962C8B-B14F-4D97-AF65-F5344CB8AC3E}">
        <p14:creationId xmlns:p14="http://schemas.microsoft.com/office/powerpoint/2010/main" val="41301931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D8496E-4C7D-3324-3E77-54254E77CC5B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1900053" name="Title 1">
            <a:extLst>
              <a:ext uri="{FF2B5EF4-FFF2-40B4-BE49-F238E27FC236}">
                <a16:creationId xmlns:a16="http://schemas.microsoft.com/office/drawing/2014/main" id="{EE8D7F20-BF36-2C65-6000-A5083151AE55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0"/>
            <a:ext cx="12192001" cy="1325562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Q&amp;A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ECF0E57-C61E-9CB1-671A-32B3335FF51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188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1099</Words>
  <Application>Microsoft Office PowerPoint</Application>
  <PresentationFormat>Widescreen</PresentationFormat>
  <Paragraphs>204</Paragraphs>
  <Slides>20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Times New Roman</vt:lpstr>
      <vt:lpstr>Office Theme</vt:lpstr>
      <vt:lpstr>1_Office Theme</vt:lpstr>
      <vt:lpstr>Navigational Robotics Series  Robot Car-1 (Sensors)</vt:lpstr>
      <vt:lpstr>Navigational Robot Car-1 (Sensors)</vt:lpstr>
      <vt:lpstr>Navigational Robot Car-1 (Sensors)</vt:lpstr>
      <vt:lpstr>Navigational Robot Car-1 (Sensors)</vt:lpstr>
      <vt:lpstr>Navigational Robot Car-1 (Sensors)</vt:lpstr>
      <vt:lpstr>Health &amp; Safety</vt:lpstr>
      <vt:lpstr>Health &amp; Safety</vt:lpstr>
      <vt:lpstr>Motor Driver</vt:lpstr>
      <vt:lpstr>Navigational Robot Car-1 (Sensors)</vt:lpstr>
      <vt:lpstr>Navigational Robot Car-3</vt:lpstr>
      <vt:lpstr>Test Basic Movement</vt:lpstr>
      <vt:lpstr>Initial Setup - Test Basic Movements</vt:lpstr>
      <vt:lpstr>Initial Setup - Test Basic Movements</vt:lpstr>
      <vt:lpstr>Navigational Robot Car-1</vt:lpstr>
      <vt:lpstr>IR Sensor Calibration</vt:lpstr>
      <vt:lpstr>Navigational Robot Car-1 (Sensors)</vt:lpstr>
      <vt:lpstr>IR Obstacle Mode</vt:lpstr>
      <vt:lpstr>Navigational Robot Car-1 (Sensors)</vt:lpstr>
      <vt:lpstr>Edge Following or IR Obstruction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27</cp:revision>
  <dcterms:created xsi:type="dcterms:W3CDTF">2025-11-15T20:03:39Z</dcterms:created>
  <dcterms:modified xsi:type="dcterms:W3CDTF">2025-11-23T22:04:42Z</dcterms:modified>
</cp:coreProperties>
</file>