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17"/>
  </p:notesMasterIdLst>
  <p:sldIdLst>
    <p:sldId id="256" r:id="rId3"/>
    <p:sldId id="257" r:id="rId4"/>
    <p:sldId id="258" r:id="rId5"/>
    <p:sldId id="278" r:id="rId6"/>
    <p:sldId id="262" r:id="rId7"/>
    <p:sldId id="264" r:id="rId8"/>
    <p:sldId id="268" r:id="rId9"/>
    <p:sldId id="269" r:id="rId10"/>
    <p:sldId id="259" r:id="rId11"/>
    <p:sldId id="280" r:id="rId12"/>
    <p:sldId id="273" r:id="rId13"/>
    <p:sldId id="274" r:id="rId14"/>
    <p:sldId id="260" r:id="rId15"/>
    <p:sldId id="275" r:id="rId16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>
          <p15:clr>
            <a:srgbClr val="A4A3A4"/>
          </p15:clr>
        </p15:guide>
        <p15:guide id="2" orient="horz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>
              <a:solidFill>
                <a:schemeClr val="lt1"/>
              </a:solidFill>
            </a:ln>
          </a:left>
          <a:right>
            <a:ln w="12700">
              <a:solidFill>
                <a:schemeClr val="lt1"/>
              </a:solidFill>
            </a:ln>
          </a:right>
          <a:top>
            <a:ln w="12700">
              <a:solidFill>
                <a:schemeClr val="lt1"/>
              </a:solidFill>
            </a:ln>
          </a:top>
          <a:bottom>
            <a:ln w="12700">
              <a:solidFill>
                <a:schemeClr val="lt1"/>
              </a:solidFill>
            </a:ln>
          </a:bottom>
          <a:insideH>
            <a:ln w="12700">
              <a:solidFill>
                <a:schemeClr val="lt1"/>
              </a:solidFill>
            </a:ln>
          </a:insideH>
          <a:insideV>
            <a:ln w="12700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  <a:fill>
          <a:solidFill>
            <a:schemeClr val="accent1">
              <a:tint val="40000"/>
            </a:schemeClr>
          </a:solidFill>
        </a:fill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seCell>
      <a:tcStyle>
        <a:tcBdr/>
      </a:tcStyle>
    </a:seCell>
    <a:swCell>
      <a:tcStyle>
        <a:tcBdr/>
      </a:tcStyle>
    </a:swCell>
    <a:firstRow>
      <a:tcTxStyle b="on">
        <a:fontRef idx="minor">
          <a:prstClr val="black"/>
        </a:fontRef>
        <a:schemeClr val="lt1"/>
      </a:tcTxStyle>
      <a:tcStyle>
        <a:tcBdr>
          <a:bottom>
            <a:ln w="38100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  <a:neCell>
      <a:tcStyle>
        <a:tcBdr/>
      </a:tcStyle>
    </a:neCell>
    <a:nwCell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tableStyles" Target="tableStyle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10" Type="http://schemas.openxmlformats.org/officeDocument/2006/relationships/slide" Target="slides/slide8.xml"/><Relationship Id="rId19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8853601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189385535" name="Date Placeholder 2"/>
          <p:cNvSpPr>
            <a:spLocks noGrp="1"/>
          </p:cNvSpPr>
          <p:nvPr>
            <p:ph type="dt" idx="2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270816058" name="Date Placeholder 2"/>
          <p:cNvSpPr>
            <a:spLocks noGrp="1"/>
          </p:cNvSpPr>
          <p:nvPr>
            <p:ph type="dt" idx="3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1468738742" name="Notes Placeholder 4"/>
          <p:cNvSpPr>
            <a:spLocks noGrp="1"/>
          </p:cNvSpPr>
          <p:nvPr>
            <p:ph type="body" sz="quarter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/>
          </a:p>
        </p:txBody>
      </p:sp>
      <p:sp>
        <p:nvSpPr>
          <p:cNvPr id="820753981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/>
          </a:p>
        </p:txBody>
      </p:sp>
      <p:sp>
        <p:nvSpPr>
          <p:cNvPr id="59472749" name="Slide Number Placeholder 6"/>
          <p:cNvSpPr>
            <a:spLocks noGrp="1"/>
          </p:cNvSpPr>
          <p:nvPr>
            <p:ph type="sldNum" sz="quarter" idx="10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7340586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1179922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6754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6E65F0-3DD2-D815-294B-8E71C04DBEF5}" type="slidenum">
              <a:rPr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32424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2129154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67637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FD46E4-0058-8968-16D4-4C62A875C58B}" type="slidenum">
              <a:rPr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4626904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3556389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8151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0592D0-080F-A99C-BD1E-3D8029FBF750}" type="slidenum">
              <a:rPr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F8B9FA-1C4D-FA0A-F8DC-26E2A49DC6CA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4626904" name="Slide Image Placeholder 1">
            <a:extLst>
              <a:ext uri="{FF2B5EF4-FFF2-40B4-BE49-F238E27FC236}">
                <a16:creationId xmlns:a16="http://schemas.microsoft.com/office/drawing/2014/main" id="{46A772E4-41D0-8D75-4F29-B58E64C4AB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35563895" name="Notes Placeholder 2">
            <a:extLst>
              <a:ext uri="{FF2B5EF4-FFF2-40B4-BE49-F238E27FC236}">
                <a16:creationId xmlns:a16="http://schemas.microsoft.com/office/drawing/2014/main" id="{33D85FB5-7148-F06E-A218-914F63B04FA4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815154" name="Slide Number Placeholder 3">
            <a:extLst>
              <a:ext uri="{FF2B5EF4-FFF2-40B4-BE49-F238E27FC236}">
                <a16:creationId xmlns:a16="http://schemas.microsoft.com/office/drawing/2014/main" id="{FB2163A6-D395-134B-3906-A118B32C33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40592D0-080F-A99C-BD1E-3D8029FBF750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2947057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9BFFD2-D2A5-E4FC-DCEE-980CA958B203}" type="slidenum">
              <a:rPr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7C8939-3E88-5189-4BFF-33566C64303D}" type="slidenum">
              <a:rPr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0CA908F-7FAB-24C7-0710-DFC59F62181A}" type="slidenum">
              <a:rPr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4896031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901550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73521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5506443-09A2-4C7E-0FEA-8DC0CE5C92D5}" type="slidenum">
              <a:rPr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3992649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377055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2988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EFFA8F-62AE-87A1-1C9A-B2758EA6294C}" type="slidenum">
              <a:rPr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3CBFF-2CC4-3466-6931-8569FEF83BD9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3992649" name="Slide Image Placeholder 1">
            <a:extLst>
              <a:ext uri="{FF2B5EF4-FFF2-40B4-BE49-F238E27FC236}">
                <a16:creationId xmlns:a16="http://schemas.microsoft.com/office/drawing/2014/main" id="{1822682F-A62E-F56F-B90C-C3858DD8AC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37705578" name="Notes Placeholder 2">
            <a:extLst>
              <a:ext uri="{FF2B5EF4-FFF2-40B4-BE49-F238E27FC236}">
                <a16:creationId xmlns:a16="http://schemas.microsoft.com/office/drawing/2014/main" id="{DB7890B0-222A-6601-7B87-A4743E09A112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298884" name="Slide Number Placeholder 3">
            <a:extLst>
              <a:ext uri="{FF2B5EF4-FFF2-40B4-BE49-F238E27FC236}">
                <a16:creationId xmlns:a16="http://schemas.microsoft.com/office/drawing/2014/main" id="{072F245A-003A-BAFC-1474-FE89355522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 marL="0" marR="0" lvl="0" indent="0" algn="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0EFFA8F-62AE-87A1-1C9A-B2758EA6294C}" type="slidenum">
              <a:rPr kumimoji="0" sz="12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/>
                <a:cs typeface="Arial"/>
              </a:rPr>
              <a:pPr marL="0" marR="0" lvl="0" indent="0" algn="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sz="12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36493191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99917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66299073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90995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0BF6A5-E3FB-7263-6386-32C983929299}" type="slidenum">
              <a:rPr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1846B9-60F9-C8FA-8131-746DF48D95A0}" type="slidenum">
              <a:rPr/>
              <a:t>12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3721453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18457599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98036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D377EF-AB0E-4E04-502A-8773159447B2}" type="slidenum">
              <a:rPr/>
              <a:t>13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3864978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6960841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6718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C837A8-0E34-C67F-E458-1A7A0FFB92D5}" type="slidenum">
              <a:rPr/>
              <a:t>14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3581779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26653080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20930098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306551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0418206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9670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881901692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9172851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1057471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28480793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9358294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33943608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31518135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80549232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807962917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101357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15592406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48607882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80067005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950257920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3337386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7360758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8714546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7719772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82427182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64661935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854605122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80676759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6013819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16621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000833207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669548234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912113263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2436181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000680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60522892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83066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02379133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085972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079092491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76000343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2551713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8867156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978521928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205306733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6224853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12680929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58940983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2361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204891051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99759926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63580698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3513132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085521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83326432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45451322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205141188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9267667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363898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26859662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162484196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993434761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51264609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231880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98272326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71489920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687629875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60873274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375224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44125676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84290529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93694648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4978645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23637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73804861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8380627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12284726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02438575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03869209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7902092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63301670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63983073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793571604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737725602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909293632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1620641334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57141723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117978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206411764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45559044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148681080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065131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65670781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84853554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1051008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397981518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204341114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52949272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30760033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87053239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8590013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530901074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 lang="en-GB"/>
          </a:p>
        </p:txBody>
      </p:sp>
      <p:sp>
        <p:nvSpPr>
          <p:cNvPr id="1559164149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706678189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801150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145969600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412176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782083913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65278681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69677496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37685158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232316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657525114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453203431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44170995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GB"/>
          </a:p>
        </p:txBody>
      </p:sp>
      <p:sp>
        <p:nvSpPr>
          <p:cNvPr id="203597532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0572787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91700288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77138898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219876057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1170028429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23CA24EA-A87A-4979-940E-A83EA2C27DA6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1925858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1039996210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GB"/>
          </a:p>
        </p:txBody>
      </p:sp>
      <p:sp>
        <p:nvSpPr>
          <p:cNvPr id="1738705793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44757819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endParaRPr lang="en-GB"/>
          </a:p>
        </p:txBody>
      </p:sp>
      <p:sp>
        <p:nvSpPr>
          <p:cNvPr id="73086872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>
              <a:defRPr/>
            </a:pPr>
            <a:fld id="{09FCE3CD-8E5B-4FEB-BC1E-3D61BE3CC713}" type="slidenum">
              <a:rPr lang="en-GB"/>
              <a:t>‹#›</a:t>
            </a:fld>
            <a:endParaRPr lang="en-GB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/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3256249" name="Title 1"/>
          <p:cNvSpPr>
            <a:spLocks noGrp="1"/>
          </p:cNvSpPr>
          <p:nvPr>
            <p:ph type="ctrTitle"/>
          </p:nvPr>
        </p:nvSpPr>
        <p:spPr bwMode="auto">
          <a:xfrm>
            <a:off x="0" y="1759290"/>
            <a:ext cx="12192000" cy="2387599"/>
          </a:xfrm>
        </p:spPr>
        <p:txBody>
          <a:bodyPr>
            <a:normAutofit fontScale="90000"/>
          </a:bodyPr>
          <a:lstStyle/>
          <a:p>
            <a:pPr>
              <a:defRPr/>
            </a:pPr>
            <a:br>
              <a:rPr lang="en-GB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 1 (Sensors)</a:t>
            </a:r>
            <a:br>
              <a:rPr lang="en-GB" b="1" dirty="0">
                <a:solidFill>
                  <a:schemeClr val="accent4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b="1" dirty="0">
                <a:solidFill>
                  <a:schemeClr val="accent3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Navigational Robotics Series</a:t>
            </a:r>
            <a:br>
              <a:rPr lang="en-GB" dirty="0">
                <a:solidFill>
                  <a:schemeClr val="bg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GB" sz="5400" b="1" dirty="0">
                <a:solidFill>
                  <a:srgbClr val="0070C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ZAS Robotics Training</a:t>
            </a:r>
            <a:endParaRPr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70972368" name="Picture 1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8149037" y="32658"/>
            <a:ext cx="4042963" cy="1089705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90DCE8D-F5A3-9AF2-6049-63A9E43863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9597FEE-90EC-16D6-B606-880798EDE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1</a:t>
            </a:fld>
            <a:endParaRPr lang="en-GB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6404817" name="Title 1"/>
          <p:cNvSpPr>
            <a:spLocks noGrp="1"/>
          </p:cNvSpPr>
          <p:nvPr>
            <p:ph type="title"/>
          </p:nvPr>
        </p:nvSpPr>
        <p:spPr bwMode="auto">
          <a:xfrm>
            <a:off x="10883" y="-4987"/>
            <a:ext cx="7736936" cy="1005519"/>
          </a:xfrm>
        </p:spPr>
        <p:txBody>
          <a:bodyPr>
            <a:normAutofit/>
          </a:bodyPr>
          <a:lstStyle/>
          <a:p>
            <a:pPr>
              <a:defRPr/>
            </a:pPr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Car1 Training - Objectives</a:t>
            </a:r>
            <a:endParaRPr sz="40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195200416" name="TextBox 2"/>
          <p:cNvSpPr txBox="1"/>
          <p:nvPr/>
        </p:nvSpPr>
        <p:spPr bwMode="auto">
          <a:xfrm>
            <a:off x="142875" y="1000532"/>
            <a:ext cx="11910208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/>
            </a:pPr>
            <a:endParaRPr lang="en-GB" sz="24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lvl="0" indent="-342900">
              <a:buFont typeface="Arial"/>
              <a:buChar char="•"/>
              <a:defRPr/>
            </a:pPr>
            <a:r>
              <a:rPr lang="en-GB" sz="2400" dirty="0">
                <a:solidFill>
                  <a:schemeClr val="accent2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Review the Contents in the Box</a:t>
            </a:r>
            <a:endParaRPr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lvl="0" indent="-342900">
              <a:buFont typeface="Arial"/>
              <a:buChar char="•"/>
              <a:defRPr/>
            </a:pPr>
            <a:endParaRPr lang="en-GB" sz="2400" dirty="0">
              <a:solidFill>
                <a:srgbClr val="F9CB4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lvl="0" indent="-342900">
              <a:buFont typeface="Arial"/>
              <a:buChar char="•"/>
              <a:defRPr/>
            </a:pPr>
            <a:r>
              <a:rPr lang="en-GB" sz="2400" dirty="0">
                <a:solidFill>
                  <a:schemeClr val="accent2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Discuss the Health &amp; Safety Precautions</a:t>
            </a:r>
          </a:p>
          <a:p>
            <a:pPr marL="342900" lvl="0" indent="-342900">
              <a:buFont typeface="Arial"/>
              <a:buChar char="•"/>
              <a:defRPr/>
            </a:pPr>
            <a:endParaRPr lang="en-GB" sz="2400" dirty="0">
              <a:solidFill>
                <a:schemeClr val="accent2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indent="-342900">
              <a:buFont typeface="Arial"/>
              <a:buChar char="•"/>
              <a:defRPr/>
            </a:pPr>
            <a:r>
              <a:rPr lang="en-GB" sz="2400" dirty="0">
                <a:solidFill>
                  <a:schemeClr val="accent2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Discuss TB6612 Motor Driver Module</a:t>
            </a:r>
            <a:endParaRPr sz="2400" dirty="0">
              <a:solidFill>
                <a:schemeClr val="accent2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lvl="0" indent="-342900">
              <a:buFont typeface="Arial"/>
              <a:buChar char="•"/>
              <a:defRPr/>
            </a:pPr>
            <a:endParaRPr lang="en-GB" sz="2400" dirty="0">
              <a:solidFill>
                <a:prstClr val="white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lvl="0" indent="-342900">
              <a:buFont typeface="Arial"/>
              <a:buChar char="•"/>
              <a:defRPr/>
            </a:pPr>
            <a:r>
              <a:rPr lang="en-GB" sz="2400" dirty="0">
                <a:solidFill>
                  <a:schemeClr val="accent5">
                    <a:lumMod val="7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Labs</a:t>
            </a:r>
            <a:endParaRPr dirty="0">
              <a:solidFill>
                <a:schemeClr val="accent5">
                  <a:lumMod val="7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800100" lvl="1" indent="-342900">
              <a:buFont typeface="Arial"/>
              <a:buChar char="•"/>
              <a:defRPr/>
            </a:pPr>
            <a:r>
              <a:rPr lang="en-GB" sz="2400" dirty="0">
                <a:solidFill>
                  <a:schemeClr val="accent5">
                    <a:lumMod val="7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Lab 1 -  Car1  :  Car Basic Movements</a:t>
            </a:r>
            <a:endParaRPr dirty="0">
              <a:solidFill>
                <a:schemeClr val="accent5">
                  <a:lumMod val="7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800100" lvl="1" indent="-342900">
              <a:buFont typeface="Arial"/>
              <a:buChar char="•"/>
              <a:defRPr/>
            </a:pPr>
            <a:r>
              <a:rPr lang="en-GB" sz="2400" dirty="0">
                <a:solidFill>
                  <a:schemeClr val="accent5">
                    <a:lumMod val="7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Discuss Calibration of IR Sensors</a:t>
            </a:r>
            <a:endParaRPr dirty="0">
              <a:solidFill>
                <a:schemeClr val="accent5">
                  <a:lumMod val="7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800100" lvl="1" indent="-342900">
              <a:buFont typeface="Arial"/>
              <a:buChar char="•"/>
              <a:defRPr/>
            </a:pPr>
            <a:r>
              <a:rPr lang="en-GB" sz="2400" dirty="0">
                <a:solidFill>
                  <a:schemeClr val="accent5">
                    <a:lumMod val="75000"/>
                  </a:schemeClr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Lab 2 -  Car1  : IR Obstruction/Edge Following</a:t>
            </a:r>
            <a:endParaRPr dirty="0">
              <a:solidFill>
                <a:schemeClr val="accent5">
                  <a:lumMod val="75000"/>
                </a:schemeClr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indent="-342900">
              <a:buFont typeface="Arial"/>
              <a:buChar char="•"/>
              <a:defRPr/>
            </a:pPr>
            <a:endParaRPr lang="en-GB" sz="2400" dirty="0">
              <a:solidFill>
                <a:srgbClr val="F9CB4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indent="-342900">
              <a:buFont typeface="Arial"/>
              <a:buChar char="•"/>
              <a:defRPr/>
            </a:pPr>
            <a:r>
              <a:rPr lang="en-GB" sz="2400" dirty="0">
                <a:solidFill>
                  <a:schemeClr val="accent2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Discuss the Features: </a:t>
            </a:r>
            <a:endParaRPr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800100" lvl="1" indent="-342900">
              <a:buFont typeface="Arial"/>
              <a:buChar char="•"/>
              <a:defRPr/>
            </a:pPr>
            <a:r>
              <a:rPr lang="en-GB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List of other possible Modes</a:t>
            </a:r>
            <a:endParaRPr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800100" lvl="1" indent="-342900">
              <a:buFont typeface="Arial"/>
              <a:buChar char="•"/>
              <a:defRPr/>
            </a:pPr>
            <a:r>
              <a:rPr lang="en-GB" sz="24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Wooden fence test zig to test the modes</a:t>
            </a:r>
            <a:endParaRPr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indent="-342900">
              <a:buFont typeface="Arial"/>
              <a:buChar char="•"/>
              <a:defRPr/>
            </a:pPr>
            <a:endParaRPr lang="en-GB" sz="24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216114092" name="Picture 1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EA13A2A-59C9-5CDB-85A8-F6CDD9BCD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7E051DD-24CE-D570-9F62-AAB17210D7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2</a:t>
            </a:fld>
            <a:endParaRPr lang="en-GB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8606808" name="Title 1"/>
          <p:cNvSpPr>
            <a:spLocks noGrp="1"/>
          </p:cNvSpPr>
          <p:nvPr>
            <p:ph type="title"/>
          </p:nvPr>
        </p:nvSpPr>
        <p:spPr bwMode="auto">
          <a:xfrm>
            <a:off x="0" y="19520"/>
            <a:ext cx="10515600" cy="106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Car1 - Contents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748628688" name="Picture 1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AB73CFF-33E6-9F71-493B-C9E499400E8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385" y="1126220"/>
            <a:ext cx="5952615" cy="50336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84F31B0-0A40-583F-F41D-5640E68EFC04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1743" y="1035756"/>
            <a:ext cx="5306610" cy="516731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ECCC8261-7F29-A897-055B-B0FC67DD789C}"/>
              </a:ext>
            </a:extLst>
          </p:cNvPr>
          <p:cNvCxnSpPr>
            <a:cxnSpLocks/>
          </p:cNvCxnSpPr>
          <p:nvPr/>
        </p:nvCxnSpPr>
        <p:spPr bwMode="auto">
          <a:xfrm>
            <a:off x="3119692" y="4267200"/>
            <a:ext cx="1432643" cy="2064774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FDB32E75-1289-3ADF-CB25-219F6D2361DB}"/>
              </a:ext>
            </a:extLst>
          </p:cNvPr>
          <p:cNvSpPr txBox="1"/>
          <p:nvPr/>
        </p:nvSpPr>
        <p:spPr>
          <a:xfrm>
            <a:off x="4552335" y="6234213"/>
            <a:ext cx="18603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Wall Following IR Module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B9DAAAD-708E-E873-0F37-F13C86FB79A2}"/>
              </a:ext>
            </a:extLst>
          </p:cNvPr>
          <p:cNvCxnSpPr/>
          <p:nvPr/>
        </p:nvCxnSpPr>
        <p:spPr bwMode="auto">
          <a:xfrm flipH="1">
            <a:off x="1209368" y="4906297"/>
            <a:ext cx="599767" cy="1425677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D87D4622-85CF-03E4-F813-6A311E7E3AA0}"/>
              </a:ext>
            </a:extLst>
          </p:cNvPr>
          <p:cNvSpPr txBox="1"/>
          <p:nvPr/>
        </p:nvSpPr>
        <p:spPr bwMode="auto">
          <a:xfrm>
            <a:off x="294880" y="6339659"/>
            <a:ext cx="27863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Line Following IR Module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8B3A758A-5124-A7D8-5985-22E00D8F5370}"/>
              </a:ext>
            </a:extLst>
          </p:cNvPr>
          <p:cNvCxnSpPr>
            <a:cxnSpLocks/>
          </p:cNvCxnSpPr>
          <p:nvPr/>
        </p:nvCxnSpPr>
        <p:spPr bwMode="auto">
          <a:xfrm flipH="1">
            <a:off x="1688050" y="2281835"/>
            <a:ext cx="1158389" cy="323713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F09B363E-0FF4-CFD6-C6DF-7E51AED3669D}"/>
              </a:ext>
            </a:extLst>
          </p:cNvPr>
          <p:cNvSpPr txBox="1"/>
          <p:nvPr/>
        </p:nvSpPr>
        <p:spPr bwMode="auto">
          <a:xfrm>
            <a:off x="294881" y="2414194"/>
            <a:ext cx="13931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Ultrasonic Mount</a:t>
            </a: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0BCB878-9A12-6745-9B5B-58819DF4F32A}"/>
              </a:ext>
            </a:extLst>
          </p:cNvPr>
          <p:cNvCxnSpPr>
            <a:cxnSpLocks/>
          </p:cNvCxnSpPr>
          <p:nvPr/>
        </p:nvCxnSpPr>
        <p:spPr bwMode="auto">
          <a:xfrm flipH="1">
            <a:off x="1509251" y="1924782"/>
            <a:ext cx="1158389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1BB8BF96-1FCB-D240-AF26-684DF84EF476}"/>
              </a:ext>
            </a:extLst>
          </p:cNvPr>
          <p:cNvSpPr txBox="1"/>
          <p:nvPr/>
        </p:nvSpPr>
        <p:spPr bwMode="auto">
          <a:xfrm>
            <a:off x="361887" y="1587095"/>
            <a:ext cx="139317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Ultrasonic Sensor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A9C1C1F-2CF6-1BF7-34CD-763527FA93DE}"/>
              </a:ext>
            </a:extLst>
          </p:cNvPr>
          <p:cNvCxnSpPr>
            <a:cxnSpLocks/>
          </p:cNvCxnSpPr>
          <p:nvPr/>
        </p:nvCxnSpPr>
        <p:spPr bwMode="auto">
          <a:xfrm flipH="1">
            <a:off x="7792303" y="4906297"/>
            <a:ext cx="909245" cy="530942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2879DD0-455D-8C27-93C4-20E9254701F3}"/>
              </a:ext>
            </a:extLst>
          </p:cNvPr>
          <p:cNvSpPr txBox="1"/>
          <p:nvPr/>
        </p:nvSpPr>
        <p:spPr bwMode="auto">
          <a:xfrm>
            <a:off x="6655202" y="5537607"/>
            <a:ext cx="20201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DC Motor Wheels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A5654D32-4452-56E5-CC36-C8C0C1381BAF}"/>
              </a:ext>
            </a:extLst>
          </p:cNvPr>
          <p:cNvCxnSpPr>
            <a:cxnSpLocks/>
          </p:cNvCxnSpPr>
          <p:nvPr/>
        </p:nvCxnSpPr>
        <p:spPr bwMode="auto">
          <a:xfrm flipH="1">
            <a:off x="7665254" y="3429000"/>
            <a:ext cx="1183778" cy="976976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6EE3111-CAA6-F6A4-FD35-A97E63053AB2}"/>
              </a:ext>
            </a:extLst>
          </p:cNvPr>
          <p:cNvSpPr txBox="1"/>
          <p:nvPr/>
        </p:nvSpPr>
        <p:spPr bwMode="auto">
          <a:xfrm>
            <a:off x="6566522" y="3906179"/>
            <a:ext cx="129251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Car1 Motor Controller Board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0B77554-DB99-A971-10E3-11035D544697}"/>
              </a:ext>
            </a:extLst>
          </p:cNvPr>
          <p:cNvCxnSpPr>
            <a:cxnSpLocks/>
          </p:cNvCxnSpPr>
          <p:nvPr/>
        </p:nvCxnSpPr>
        <p:spPr bwMode="auto">
          <a:xfrm flipV="1">
            <a:off x="10164293" y="3060525"/>
            <a:ext cx="818339" cy="218742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8E026812-C995-6BB6-73AF-87142F9BE0F9}"/>
              </a:ext>
            </a:extLst>
          </p:cNvPr>
          <p:cNvSpPr txBox="1"/>
          <p:nvPr/>
        </p:nvSpPr>
        <p:spPr bwMode="auto">
          <a:xfrm>
            <a:off x="10796658" y="5302361"/>
            <a:ext cx="13019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Battery </a:t>
            </a:r>
          </a:p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Connector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43CAC8B8-CA26-4E23-3245-B8D87F54D64F}"/>
              </a:ext>
            </a:extLst>
          </p:cNvPr>
          <p:cNvCxnSpPr>
            <a:cxnSpLocks/>
          </p:cNvCxnSpPr>
          <p:nvPr/>
        </p:nvCxnSpPr>
        <p:spPr bwMode="auto">
          <a:xfrm flipV="1">
            <a:off x="9554794" y="2443691"/>
            <a:ext cx="1065293" cy="34708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DBEE08C0-34C1-37B8-B916-9F1E683DC9F1}"/>
              </a:ext>
            </a:extLst>
          </p:cNvPr>
          <p:cNvSpPr txBox="1"/>
          <p:nvPr/>
        </p:nvSpPr>
        <p:spPr bwMode="auto">
          <a:xfrm>
            <a:off x="10575842" y="2111444"/>
            <a:ext cx="15157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TB6612 Motor Driver</a:t>
            </a: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23257BEF-620A-D83C-6549-B15F50EB7822}"/>
              </a:ext>
            </a:extLst>
          </p:cNvPr>
          <p:cNvCxnSpPr>
            <a:cxnSpLocks/>
          </p:cNvCxnSpPr>
          <p:nvPr/>
        </p:nvCxnSpPr>
        <p:spPr bwMode="auto">
          <a:xfrm>
            <a:off x="2862094" y="3539614"/>
            <a:ext cx="2251917" cy="653273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1A56228F-654D-F956-F90D-DF832B04E13C}"/>
              </a:ext>
            </a:extLst>
          </p:cNvPr>
          <p:cNvSpPr txBox="1"/>
          <p:nvPr/>
        </p:nvSpPr>
        <p:spPr bwMode="auto">
          <a:xfrm>
            <a:off x="4458036" y="4206897"/>
            <a:ext cx="18603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Servo Motor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CF9B2307-DC98-2F20-61CE-02AE08B0EF4A}"/>
              </a:ext>
            </a:extLst>
          </p:cNvPr>
          <p:cNvCxnSpPr>
            <a:cxnSpLocks/>
          </p:cNvCxnSpPr>
          <p:nvPr/>
        </p:nvCxnSpPr>
        <p:spPr bwMode="auto">
          <a:xfrm>
            <a:off x="11333740" y="3680869"/>
            <a:ext cx="0" cy="1618718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CDCC44B5-AB24-4ECD-958B-AA5378A07097}"/>
              </a:ext>
            </a:extLst>
          </p:cNvPr>
          <p:cNvSpPr txBox="1"/>
          <p:nvPr/>
        </p:nvSpPr>
        <p:spPr bwMode="auto">
          <a:xfrm>
            <a:off x="11001973" y="2895587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OLED</a:t>
            </a: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425B53A9-FD9A-A97A-2D94-50E80D0E76BE}"/>
              </a:ext>
            </a:extLst>
          </p:cNvPr>
          <p:cNvCxnSpPr>
            <a:cxnSpLocks/>
          </p:cNvCxnSpPr>
          <p:nvPr/>
        </p:nvCxnSpPr>
        <p:spPr bwMode="auto">
          <a:xfrm flipH="1">
            <a:off x="10245213" y="4151418"/>
            <a:ext cx="165438" cy="95509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F73F4C95-F800-0675-8100-40F89E56F2D1}"/>
              </a:ext>
            </a:extLst>
          </p:cNvPr>
          <p:cNvSpPr txBox="1"/>
          <p:nvPr/>
        </p:nvSpPr>
        <p:spPr bwMode="auto">
          <a:xfrm>
            <a:off x="9741725" y="5008456"/>
            <a:ext cx="11264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Arduino UNO</a:t>
            </a:r>
          </a:p>
        </p:txBody>
      </p:sp>
      <p:sp>
        <p:nvSpPr>
          <p:cNvPr id="48" name="Date Placeholder 47">
            <a:extLst>
              <a:ext uri="{FF2B5EF4-FFF2-40B4-BE49-F238E27FC236}">
                <a16:creationId xmlns:a16="http://schemas.microsoft.com/office/drawing/2014/main" id="{18B95C81-8C8E-B61A-5341-7D04F09DE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49" name="Slide Number Placeholder 48">
            <a:extLst>
              <a:ext uri="{FF2B5EF4-FFF2-40B4-BE49-F238E27FC236}">
                <a16:creationId xmlns:a16="http://schemas.microsoft.com/office/drawing/2014/main" id="{22F4992A-4F7D-5C67-B98C-CD26612AC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3</a:t>
            </a:fld>
            <a:endParaRPr lang="en-GB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65BCBA6-1180-6431-39A8-24E33B97BA9C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8606808" name="Title 1">
            <a:extLst>
              <a:ext uri="{FF2B5EF4-FFF2-40B4-BE49-F238E27FC236}">
                <a16:creationId xmlns:a16="http://schemas.microsoft.com/office/drawing/2014/main" id="{BA63B1C2-53D5-C684-8FB2-A95A6C2A21E8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0" y="19520"/>
            <a:ext cx="10515600" cy="106353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Robot Car1 - Contents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748628688" name="Picture 1">
            <a:extLst>
              <a:ext uri="{FF2B5EF4-FFF2-40B4-BE49-F238E27FC236}">
                <a16:creationId xmlns:a16="http://schemas.microsoft.com/office/drawing/2014/main" id="{8CD231AD-451B-E6B6-4016-8A9AC6B746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894AD20-01C5-E271-B9E7-43D8604EFD3C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1186" y="1714636"/>
            <a:ext cx="6091683" cy="3858745"/>
          </a:xfrm>
          <a:prstGeom prst="rect">
            <a:avLst/>
          </a:prstGeom>
        </p:spPr>
      </p:pic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7D9527B-B077-CAB5-FF84-E4F092F62FC0}"/>
              </a:ext>
            </a:extLst>
          </p:cNvPr>
          <p:cNvCxnSpPr/>
          <p:nvPr/>
        </p:nvCxnSpPr>
        <p:spPr bwMode="auto">
          <a:xfrm flipH="1">
            <a:off x="5496233" y="4316361"/>
            <a:ext cx="599767" cy="1425677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BAF7AFA-92A8-10EB-BFA4-80355CFF8A72}"/>
              </a:ext>
            </a:extLst>
          </p:cNvPr>
          <p:cNvCxnSpPr>
            <a:cxnSpLocks/>
          </p:cNvCxnSpPr>
          <p:nvPr/>
        </p:nvCxnSpPr>
        <p:spPr bwMode="auto">
          <a:xfrm flipH="1" flipV="1">
            <a:off x="2143432" y="3795252"/>
            <a:ext cx="1710812" cy="275303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BF083798-5065-50B2-930B-12D2271ED35E}"/>
              </a:ext>
            </a:extLst>
          </p:cNvPr>
          <p:cNvCxnSpPr>
            <a:cxnSpLocks/>
          </p:cNvCxnSpPr>
          <p:nvPr/>
        </p:nvCxnSpPr>
        <p:spPr bwMode="auto">
          <a:xfrm flipH="1">
            <a:off x="2143432" y="3062749"/>
            <a:ext cx="1912373" cy="36625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DFCB1B2C-514D-C82F-2654-99098F91E3C8}"/>
              </a:ext>
            </a:extLst>
          </p:cNvPr>
          <p:cNvSpPr txBox="1"/>
          <p:nvPr/>
        </p:nvSpPr>
        <p:spPr bwMode="auto">
          <a:xfrm>
            <a:off x="806158" y="3425920"/>
            <a:ext cx="14454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DC Motors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3A17BBD-6E67-F2C3-248C-FFA6BD3B05E3}"/>
              </a:ext>
            </a:extLst>
          </p:cNvPr>
          <p:cNvSpPr txBox="1"/>
          <p:nvPr/>
        </p:nvSpPr>
        <p:spPr bwMode="auto">
          <a:xfrm>
            <a:off x="4124589" y="5545845"/>
            <a:ext cx="14454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18650 Li ion Battery Holder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EE0216B-FD6B-0056-FB80-ACCF1D383BF0}"/>
              </a:ext>
            </a:extLst>
          </p:cNvPr>
          <p:cNvCxnSpPr>
            <a:cxnSpLocks/>
          </p:cNvCxnSpPr>
          <p:nvPr/>
        </p:nvCxnSpPr>
        <p:spPr bwMode="auto">
          <a:xfrm>
            <a:off x="7128429" y="3529781"/>
            <a:ext cx="914383" cy="1995456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E231EF4-465F-EDCB-656B-18C49A25119C}"/>
              </a:ext>
            </a:extLst>
          </p:cNvPr>
          <p:cNvSpPr txBox="1"/>
          <p:nvPr/>
        </p:nvSpPr>
        <p:spPr bwMode="auto">
          <a:xfrm>
            <a:off x="7716184" y="5588131"/>
            <a:ext cx="9733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Castor Wheel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0EF8F04-1965-CC92-5FDD-A4452B6CC73F}"/>
              </a:ext>
            </a:extLst>
          </p:cNvPr>
          <p:cNvCxnSpPr>
            <a:cxnSpLocks/>
          </p:cNvCxnSpPr>
          <p:nvPr/>
        </p:nvCxnSpPr>
        <p:spPr bwMode="auto">
          <a:xfrm flipV="1">
            <a:off x="6509275" y="1207354"/>
            <a:ext cx="102939" cy="2403232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9E1A2AA9-85E5-D49A-DDDB-9A5B99E823FB}"/>
              </a:ext>
            </a:extLst>
          </p:cNvPr>
          <p:cNvSpPr txBox="1"/>
          <p:nvPr/>
        </p:nvSpPr>
        <p:spPr bwMode="auto">
          <a:xfrm>
            <a:off x="6641753" y="682885"/>
            <a:ext cx="97335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Servo Motor</a:t>
            </a:r>
          </a:p>
        </p:txBody>
      </p:sp>
      <p:sp>
        <p:nvSpPr>
          <p:cNvPr id="39" name="Date Placeholder 38">
            <a:extLst>
              <a:ext uri="{FF2B5EF4-FFF2-40B4-BE49-F238E27FC236}">
                <a16:creationId xmlns:a16="http://schemas.microsoft.com/office/drawing/2014/main" id="{89AB2CFF-B2D4-BDD2-CF16-009A8EDEA4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40" name="Slide Number Placeholder 39">
            <a:extLst>
              <a:ext uri="{FF2B5EF4-FFF2-40B4-BE49-F238E27FC236}">
                <a16:creationId xmlns:a16="http://schemas.microsoft.com/office/drawing/2014/main" id="{3AE3D320-7A39-6243-5380-B730E37F9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4</a:t>
            </a:fld>
            <a:endParaRPr lang="en-GB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EC31D63-49AB-A59D-48E4-8AD1A8BE12DD}"/>
              </a:ext>
            </a:extLst>
          </p:cNvPr>
          <p:cNvSpPr txBox="1"/>
          <p:nvPr/>
        </p:nvSpPr>
        <p:spPr>
          <a:xfrm>
            <a:off x="4605364" y="6418580"/>
            <a:ext cx="2323072" cy="4001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GB" sz="2000" b="1" dirty="0">
                <a:solidFill>
                  <a:schemeClr val="accent3">
                    <a:lumMod val="50000"/>
                    <a:lumOff val="50000"/>
                  </a:schemeClr>
                </a:solidFill>
              </a:rPr>
              <a:t>Robot Car 1 (Back)</a:t>
            </a:r>
          </a:p>
        </p:txBody>
      </p:sp>
    </p:spTree>
    <p:extLst>
      <p:ext uri="{BB962C8B-B14F-4D97-AF65-F5344CB8AC3E}">
        <p14:creationId xmlns:p14="http://schemas.microsoft.com/office/powerpoint/2010/main" val="16639109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2524180" name="Title 1"/>
          <p:cNvSpPr>
            <a:spLocks noGrp="1"/>
          </p:cNvSpPr>
          <p:nvPr>
            <p:ph type="title"/>
          </p:nvPr>
        </p:nvSpPr>
        <p:spPr bwMode="auto">
          <a:xfrm>
            <a:off x="0" y="0"/>
            <a:ext cx="12192001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Health &amp; Safety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70387889" name="TextBox 2"/>
          <p:cNvSpPr txBox="1"/>
          <p:nvPr/>
        </p:nvSpPr>
        <p:spPr bwMode="auto">
          <a:xfrm>
            <a:off x="207380" y="966334"/>
            <a:ext cx="1100490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US" sz="1800" b="1" i="0" u="none" strike="noStrike" cap="none" spc="0" dirty="0">
                <a:ln>
                  <a:noFill/>
                </a:ln>
                <a:solidFill>
                  <a:srgbClr val="F9CB4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Double-check all power connections.</a:t>
            </a:r>
            <a:b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Ensure correct </a:t>
            </a:r>
            <a:r>
              <a:rPr lang="en-US" sz="1800" b="1" i="0" u="none" strike="noStrike" cap="none" spc="0" dirty="0">
                <a:ln>
                  <a:noFill/>
                </a:ln>
                <a:solidFill>
                  <a:srgbClr val="FF715B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GND</a:t>
            </a:r>
            <a: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and </a:t>
            </a:r>
            <a:r>
              <a:rPr lang="en-US" sz="1800" b="1" i="0" u="none" strike="noStrike" cap="none" spc="0" dirty="0">
                <a:ln>
                  <a:noFill/>
                </a:ln>
                <a:solidFill>
                  <a:srgbClr val="FF715B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VCC</a:t>
            </a:r>
            <a: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wiring for the power supply, OLED, motor drivers, GPS, sensors, and other modules.</a:t>
            </a: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US" sz="1800" b="1" i="0" u="none" strike="noStrike" cap="none" spc="0" dirty="0">
                <a:ln>
                  <a:noFill/>
                </a:ln>
                <a:solidFill>
                  <a:srgbClr val="F9CB4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Use the correct input voltage</a:t>
            </a:r>
            <a:b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Battery input should be </a:t>
            </a:r>
            <a:r>
              <a:rPr lang="en-US" sz="1800" b="1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between 5V and 12V</a:t>
            </a:r>
            <a: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only.</a:t>
            </a:r>
            <a:endParaRPr lang="en-US" sz="1800" b="1" i="0" u="none" strike="noStrike" cap="none" spc="0" dirty="0">
              <a:ln>
                <a:noFill/>
              </a:ln>
              <a:solidFill>
                <a:srgbClr val="F9CB4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US" sz="1800" b="1" i="0" u="none" strike="noStrike" cap="none" spc="0" dirty="0">
                <a:ln>
                  <a:noFill/>
                </a:ln>
                <a:solidFill>
                  <a:srgbClr val="F9CB4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Work on a safe surface</a:t>
            </a:r>
            <a:b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Use the kit on an </a:t>
            </a:r>
            <a:r>
              <a:rPr lang="en-US" sz="1800" b="1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insulated table</a:t>
            </a:r>
            <a: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(e.g., wood) and ensure the surface is </a:t>
            </a:r>
            <a:r>
              <a:rPr lang="en-US" sz="1800" b="1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dry and clean</a:t>
            </a:r>
            <a: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.</a:t>
            </a:r>
            <a:endParaRPr lang="en-US" sz="1800" b="1" i="0" u="none" strike="noStrike" cap="none" spc="0" dirty="0">
              <a:ln>
                <a:noFill/>
              </a:ln>
              <a:solidFill>
                <a:srgbClr val="F9CB4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US" sz="1800" b="1" i="0" u="none" strike="noStrike" cap="none" spc="0" dirty="0">
                <a:ln>
                  <a:noFill/>
                </a:ln>
                <a:solidFill>
                  <a:srgbClr val="F9CB4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Avoid leaving the kit unattended</a:t>
            </a:r>
            <a:b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Do </a:t>
            </a:r>
            <a:r>
              <a:rPr lang="en-US" sz="1800" b="1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not</a:t>
            </a:r>
            <a: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keep the system powered on without supervision.</a:t>
            </a:r>
            <a:endParaRPr lang="en-GB" sz="1800" b="1" i="0" u="none" strike="noStrike" cap="none" spc="0" dirty="0">
              <a:ln>
                <a:noFill/>
              </a:ln>
              <a:solidFill>
                <a:srgbClr val="F9CB4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sz="1800" b="1" i="0" u="none" strike="noStrike" cap="none" spc="0" dirty="0">
                <a:ln>
                  <a:noFill/>
                </a:ln>
                <a:solidFill>
                  <a:srgbClr val="F9CB4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Build and Test Incrementally</a:t>
            </a:r>
            <a:b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Turn on the </a:t>
            </a:r>
            <a:r>
              <a:rPr lang="en-US" sz="1800" b="1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microcontroller first</a:t>
            </a:r>
            <a: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, then </a:t>
            </a:r>
            <a:r>
              <a:rPr lang="en-US" sz="1800" b="1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build and test the circuit step-by-step</a:t>
            </a:r>
            <a: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.</a:t>
            </a:r>
            <a:b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lang="en-US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Avoid wiring the entire system at once and powering it without intermediate testing.</a:t>
            </a:r>
            <a:endParaRPr lang="en-GB" sz="1800" b="1" i="0" u="none" strike="noStrike" cap="none" spc="0" dirty="0">
              <a:ln>
                <a:noFill/>
              </a:ln>
              <a:solidFill>
                <a:srgbClr val="F9CB40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lvl="0" indent="-342900">
              <a:buFont typeface="+mj-lt"/>
              <a:buAutoNum type="arabicPeriod"/>
              <a:defRPr/>
            </a:pPr>
            <a:r>
              <a:rPr lang="en-US" b="1" dirty="0">
                <a:solidFill>
                  <a:srgbClr val="FFC0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18650 Battery</a:t>
            </a:r>
            <a:r>
              <a:rPr lang="en-US" dirty="0">
                <a:solidFill>
                  <a:srgbClr val="FFC0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</a:t>
            </a:r>
            <a:r>
              <a:rPr lang="en-US" b="1" dirty="0">
                <a:solidFill>
                  <a:srgbClr val="FFC0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Care </a:t>
            </a:r>
            <a:r>
              <a:rPr lang="en-US" dirty="0">
                <a:solidFill>
                  <a:srgbClr val="FFC00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– </a:t>
            </a:r>
            <a:r>
              <a:rPr lang="en-US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For long battery life, charge it at regular intervals. Avoid battery complete draining (going down to 0%), Do not leave the battery unattended while charging or charge it overnight. If the battery appears swollen, leakage or bulging, do not use it. Use a proper Li-ion charger, Dispose of faulty batteries safely and responsibly.</a:t>
            </a:r>
            <a:endParaRPr lang="en-US" sz="1800" b="0" i="0" u="none" strike="noStrike" cap="none" spc="0" dirty="0">
              <a:ln>
                <a:noFill/>
              </a:ln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sz="1800" b="1" i="0" u="none" strike="noStrike" cap="none" spc="0" dirty="0">
                <a:ln>
                  <a:noFill/>
                </a:ln>
                <a:solidFill>
                  <a:srgbClr val="F9CB40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Robotic car is for in-door use only</a:t>
            </a:r>
            <a:endParaRPr lang="en-GB" sz="1800" b="0" i="0" u="none" strike="noStrike" cap="none" spc="0" dirty="0">
              <a:ln>
                <a:noFill/>
              </a:ln>
              <a:solidFill>
                <a:prstClr val="white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1543556019" name="Picture 3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966709508" name="Flowchart: Punched Tape 4"/>
          <p:cNvSpPr/>
          <p:nvPr/>
        </p:nvSpPr>
        <p:spPr bwMode="auto">
          <a:xfrm>
            <a:off x="9241420" y="1914265"/>
            <a:ext cx="2743200" cy="1930147"/>
          </a:xfrm>
          <a:prstGeom prst="flowChartPunchedTape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20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Always follow 4-eyes principle when it comes to checking</a:t>
            </a:r>
            <a:r>
              <a:rPr lang="en-GB" sz="24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 </a:t>
            </a:r>
            <a:r>
              <a:rPr lang="en-GB" sz="2400" b="1" i="0" u="sng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VCC &amp; GND</a:t>
            </a:r>
            <a:endParaRPr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9FDA9C-1E5F-8E6D-F956-D6AFBF1085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CEB391-C2CC-176C-869A-D7C961E98D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9FCE3CD-8E5B-4FEB-BC1E-3D61BE3CC713}" type="slidenum">
              <a:rPr lang="en-GB" smtClean="0"/>
              <a:t>5</a:t>
            </a:fld>
            <a:endParaRPr lang="en-GB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3620162" name="Title 1"/>
          <p:cNvSpPr>
            <a:spLocks noGrp="1"/>
          </p:cNvSpPr>
          <p:nvPr>
            <p:ph type="title"/>
          </p:nvPr>
        </p:nvSpPr>
        <p:spPr bwMode="auto">
          <a:xfrm>
            <a:off x="10884" y="-4988"/>
            <a:ext cx="10515600" cy="117827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Motor Driver Module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470597223" name="Picture 2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470025617" name="TextBox 10"/>
          <p:cNvSpPr txBox="1"/>
          <p:nvPr/>
        </p:nvSpPr>
        <p:spPr bwMode="auto">
          <a:xfrm>
            <a:off x="5255040" y="1326051"/>
            <a:ext cx="30543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2400" b="1" i="0" u="none" strike="noStrike" cap="none" spc="0" dirty="0">
                <a:ln>
                  <a:noFill/>
                </a:ln>
                <a:solidFill>
                  <a:srgbClr val="8ECAE6"/>
                </a:solidFill>
                <a:latin typeface="Aptos"/>
                <a:ea typeface="+mn-ea"/>
                <a:cs typeface="+mn-cs"/>
              </a:rPr>
              <a:t>TB 6612 Motor Driver</a:t>
            </a:r>
            <a:endParaRPr dirty="0"/>
          </a:p>
        </p:txBody>
      </p:sp>
      <p:sp>
        <p:nvSpPr>
          <p:cNvPr id="225172678" name="TextBox 11"/>
          <p:cNvSpPr txBox="1"/>
          <p:nvPr/>
        </p:nvSpPr>
        <p:spPr bwMode="auto">
          <a:xfrm>
            <a:off x="9235900" y="2150073"/>
            <a:ext cx="28616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2400" b="1" i="0" u="none" strike="noStrike" cap="none" spc="0" dirty="0">
                <a:ln>
                  <a:noFill/>
                </a:ln>
                <a:solidFill>
                  <a:srgbClr val="8ECAE6"/>
                </a:solidFill>
                <a:latin typeface="Aptos"/>
                <a:ea typeface="+mn-ea"/>
                <a:cs typeface="+mn-cs"/>
              </a:rPr>
              <a:t>TT  DC Motor Driver</a:t>
            </a:r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2400" b="1" dirty="0">
                <a:solidFill>
                  <a:srgbClr val="8ECAE6"/>
                </a:solidFill>
                <a:latin typeface="Aptos"/>
              </a:rPr>
              <a:t>(130 RPM, 6V)</a:t>
            </a:r>
            <a:endParaRPr dirty="0"/>
          </a:p>
        </p:txBody>
      </p:sp>
      <p:pic>
        <p:nvPicPr>
          <p:cNvPr id="1574858720" name="Picture 7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8787763" y="3172801"/>
            <a:ext cx="3025402" cy="2255715"/>
          </a:xfrm>
          <a:prstGeom prst="rect">
            <a:avLst/>
          </a:prstGeom>
        </p:spPr>
      </p:pic>
      <p:sp>
        <p:nvSpPr>
          <p:cNvPr id="2" name="TextBox 10">
            <a:extLst>
              <a:ext uri="{FF2B5EF4-FFF2-40B4-BE49-F238E27FC236}">
                <a16:creationId xmlns:a16="http://schemas.microsoft.com/office/drawing/2014/main" id="{8EBAC4C0-56E8-E7F6-E0C7-E651D6BDB022}"/>
              </a:ext>
            </a:extLst>
          </p:cNvPr>
          <p:cNvSpPr txBox="1"/>
          <p:nvPr/>
        </p:nvSpPr>
        <p:spPr bwMode="auto">
          <a:xfrm>
            <a:off x="1954758" y="4386179"/>
            <a:ext cx="244650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b="1" u="sng" dirty="0">
                <a:solidFill>
                  <a:srgbClr val="219EBC"/>
                </a:solidFill>
                <a:latin typeface="Aptos"/>
              </a:rPr>
              <a:t>Right</a:t>
            </a:r>
            <a:r>
              <a:rPr lang="en-GB" sz="1800" b="1" i="0" u="sng" strike="noStrike" cap="none" spc="0" dirty="0">
                <a:ln>
                  <a:noFill/>
                </a:ln>
                <a:solidFill>
                  <a:srgbClr val="219EBC"/>
                </a:solidFill>
                <a:latin typeface="Aptos"/>
                <a:ea typeface="+mn-ea"/>
                <a:cs typeface="+mn-cs"/>
              </a:rPr>
              <a:t> Motor</a:t>
            </a:r>
            <a:endParaRPr dirty="0"/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A-IN1 – Arduino </a:t>
            </a:r>
            <a:r>
              <a:rPr lang="en-GB" dirty="0">
                <a:solidFill>
                  <a:prstClr val="white"/>
                </a:solidFill>
                <a:latin typeface="Aptos"/>
              </a:rPr>
              <a:t>Un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o 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srgbClr val="F9CB40"/>
                </a:solidFill>
                <a:latin typeface="Aptos"/>
                <a:ea typeface="+mn-ea"/>
                <a:cs typeface="+mn-cs"/>
              </a:rPr>
              <a:t>3</a:t>
            </a:r>
            <a:endParaRPr dirty="0"/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A-IN2 – Arduino </a:t>
            </a:r>
            <a:r>
              <a:rPr lang="en-GB" dirty="0">
                <a:solidFill>
                  <a:prstClr val="white"/>
                </a:solidFill>
                <a:latin typeface="Aptos"/>
              </a:rPr>
              <a:t>Un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o 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srgbClr val="F9CB40"/>
                </a:solidFill>
                <a:latin typeface="Aptos"/>
                <a:ea typeface="+mn-ea"/>
                <a:cs typeface="+mn-cs"/>
              </a:rPr>
              <a:t>4</a:t>
            </a:r>
            <a:endParaRPr dirty="0"/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PWMA – Arduino </a:t>
            </a:r>
            <a:r>
              <a:rPr lang="en-GB" dirty="0">
                <a:solidFill>
                  <a:prstClr val="white"/>
                </a:solidFill>
                <a:latin typeface="Aptos"/>
              </a:rPr>
              <a:t>Un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o 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srgbClr val="F9CB40"/>
                </a:solidFill>
                <a:latin typeface="Aptos"/>
                <a:ea typeface="+mn-ea"/>
                <a:cs typeface="+mn-cs"/>
              </a:rPr>
              <a:t>5</a:t>
            </a:r>
            <a:endParaRPr lang="en-GB" sz="1800" b="0" i="0" u="none" strike="noStrike" cap="none" spc="0" dirty="0">
              <a:ln>
                <a:noFill/>
              </a:ln>
              <a:solidFill>
                <a:prstClr val="white"/>
              </a:solidFill>
              <a:latin typeface="Aptos"/>
              <a:ea typeface="+mn-ea"/>
              <a:cs typeface="+mn-cs"/>
            </a:endParaRPr>
          </a:p>
        </p:txBody>
      </p:sp>
      <p:sp>
        <p:nvSpPr>
          <p:cNvPr id="3" name="TextBox 11">
            <a:extLst>
              <a:ext uri="{FF2B5EF4-FFF2-40B4-BE49-F238E27FC236}">
                <a16:creationId xmlns:a16="http://schemas.microsoft.com/office/drawing/2014/main" id="{69A929C4-ED20-68A7-042C-AC5A30024BA6}"/>
              </a:ext>
            </a:extLst>
          </p:cNvPr>
          <p:cNvSpPr txBox="1"/>
          <p:nvPr/>
        </p:nvSpPr>
        <p:spPr bwMode="auto">
          <a:xfrm>
            <a:off x="5562802" y="4386178"/>
            <a:ext cx="2496196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b="1" u="sng" dirty="0">
                <a:solidFill>
                  <a:srgbClr val="219EBC"/>
                </a:solidFill>
                <a:latin typeface="Aptos"/>
              </a:rPr>
              <a:t>Left</a:t>
            </a:r>
            <a:r>
              <a:rPr lang="en-GB" sz="1800" b="1" i="0" u="sng" strike="noStrike" cap="none" spc="0" dirty="0">
                <a:ln>
                  <a:noFill/>
                </a:ln>
                <a:solidFill>
                  <a:srgbClr val="219EBC"/>
                </a:solidFill>
                <a:latin typeface="Aptos"/>
                <a:ea typeface="+mn-ea"/>
                <a:cs typeface="+mn-cs"/>
              </a:rPr>
              <a:t> Motor</a:t>
            </a:r>
            <a:endParaRPr dirty="0"/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B-IN1 – Arduino </a:t>
            </a:r>
            <a:r>
              <a:rPr lang="en-GB" dirty="0">
                <a:solidFill>
                  <a:prstClr val="white"/>
                </a:solidFill>
                <a:latin typeface="Aptos"/>
              </a:rPr>
              <a:t>Un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o 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srgbClr val="F9CB40"/>
                </a:solidFill>
                <a:latin typeface="Aptos"/>
                <a:ea typeface="+mn-ea"/>
                <a:cs typeface="+mn-cs"/>
              </a:rPr>
              <a:t>8</a:t>
            </a:r>
            <a:endParaRPr dirty="0"/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B-IN2 – Arduino </a:t>
            </a:r>
            <a:r>
              <a:rPr lang="en-GB" dirty="0">
                <a:solidFill>
                  <a:prstClr val="white"/>
                </a:solidFill>
                <a:latin typeface="Aptos"/>
              </a:rPr>
              <a:t>U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no 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srgbClr val="F9CB40"/>
                </a:solidFill>
                <a:latin typeface="Aptos"/>
                <a:ea typeface="+mn-ea"/>
                <a:cs typeface="+mn-cs"/>
              </a:rPr>
              <a:t>7</a:t>
            </a:r>
            <a:endParaRPr dirty="0"/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PWMB – Arduino </a:t>
            </a:r>
            <a:r>
              <a:rPr lang="en-GB" dirty="0">
                <a:solidFill>
                  <a:prstClr val="white"/>
                </a:solidFill>
                <a:latin typeface="Aptos"/>
              </a:rPr>
              <a:t>U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no 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srgbClr val="F9CB40"/>
                </a:solidFill>
                <a:latin typeface="Aptos"/>
                <a:ea typeface="+mn-ea"/>
                <a:cs typeface="+mn-cs"/>
              </a:rPr>
              <a:t>6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 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6FB7F44-E7A1-E4DC-0785-E7D55AFFE16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>
            <a:off x="1806644" y="1664095"/>
            <a:ext cx="3043008" cy="2015237"/>
          </a:xfrm>
          <a:prstGeom prst="rect">
            <a:avLst/>
          </a:prstGeom>
        </p:spPr>
      </p:pic>
      <p:pic>
        <p:nvPicPr>
          <p:cNvPr id="5" name="Picture 6">
            <a:extLst>
              <a:ext uri="{FF2B5EF4-FFF2-40B4-BE49-F238E27FC236}">
                <a16:creationId xmlns:a16="http://schemas.microsoft.com/office/drawing/2014/main" id="{1224BDC8-2BDA-36F9-5286-4E85B0F3E3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>
            <a:off x="5750128" y="1787716"/>
            <a:ext cx="1729890" cy="1767993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CF6E80A-353E-1AB1-FE80-067F9700F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3C5887-F42B-AB36-837B-EE54EE93B5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9FCE3CD-8E5B-4FEB-BC1E-3D61BE3CC713}" type="slidenum">
              <a:rPr lang="en-GB" smtClean="0"/>
              <a:t>6</a:t>
            </a:fld>
            <a:endParaRPr lang="en-GB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3206442" name="Title 1"/>
          <p:cNvSpPr>
            <a:spLocks noGrp="1"/>
          </p:cNvSpPr>
          <p:nvPr>
            <p:ph type="title"/>
          </p:nvPr>
        </p:nvSpPr>
        <p:spPr bwMode="auto">
          <a:xfrm>
            <a:off x="0" y="0"/>
            <a:ext cx="12192001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Lab 1:  Basic Movements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67460504" name="TextBox 3"/>
          <p:cNvSpPr txBox="1"/>
          <p:nvPr/>
        </p:nvSpPr>
        <p:spPr bwMode="auto">
          <a:xfrm>
            <a:off x="422818" y="1774094"/>
            <a:ext cx="4884671" cy="286232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>
            <a:spAutoFit/>
          </a:bodyPr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it-IT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// ============== Pin </a:t>
            </a:r>
            <a:r>
              <a:rPr lang="en-GB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Definitions</a:t>
            </a:r>
            <a:r>
              <a:rPr lang="it-IT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 ==========</a:t>
            </a:r>
            <a:endParaRPr dirty="0"/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it-IT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highlight>
                  <a:srgbClr val="FF0000"/>
                </a:highlight>
                <a:latin typeface="Aptos"/>
                <a:ea typeface="+mn-ea"/>
                <a:cs typeface="+mn-cs"/>
              </a:rPr>
              <a:t>// Left Motor</a:t>
            </a:r>
            <a:endParaRPr dirty="0">
              <a:highlight>
                <a:srgbClr val="FF0000"/>
              </a:highlight>
            </a:endParaRPr>
          </a:p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#define Left1 7</a:t>
            </a:r>
          </a:p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#define Left2 8</a:t>
            </a:r>
          </a:p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#define </a:t>
            </a:r>
            <a:r>
              <a:rPr lang="en-US" dirty="0" err="1">
                <a:solidFill>
                  <a:schemeClr val="bg1"/>
                </a:solidFill>
              </a:rPr>
              <a:t>Left_Speed</a:t>
            </a:r>
            <a:r>
              <a:rPr lang="en-US" dirty="0">
                <a:solidFill>
                  <a:schemeClr val="bg1"/>
                </a:solidFill>
              </a:rPr>
              <a:t> 6</a:t>
            </a:r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it-IT" sz="1800" b="0" i="0" u="none" strike="noStrike" cap="none" spc="0" dirty="0">
              <a:ln>
                <a:noFill/>
              </a:ln>
              <a:solidFill>
                <a:prstClr val="white"/>
              </a:solidFill>
              <a:latin typeface="Aptos"/>
              <a:ea typeface="+mn-ea"/>
              <a:cs typeface="+mn-cs"/>
            </a:endParaRPr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it-IT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highlight>
                  <a:srgbClr val="FF0000"/>
                </a:highlight>
                <a:latin typeface="Aptos"/>
                <a:ea typeface="+mn-ea"/>
                <a:cs typeface="+mn-cs"/>
              </a:rPr>
              <a:t>// </a:t>
            </a:r>
            <a:r>
              <a:rPr lang="it-IT" sz="1800" b="0" i="0" u="none" strike="noStrike" cap="none" spc="0" dirty="0" err="1">
                <a:ln>
                  <a:noFill/>
                </a:ln>
                <a:solidFill>
                  <a:prstClr val="white"/>
                </a:solidFill>
                <a:highlight>
                  <a:srgbClr val="FF0000"/>
                </a:highlight>
                <a:latin typeface="Aptos"/>
                <a:ea typeface="+mn-ea"/>
                <a:cs typeface="+mn-cs"/>
              </a:rPr>
              <a:t>Right</a:t>
            </a:r>
            <a:r>
              <a:rPr lang="it-IT" sz="1800" b="0" i="0" u="none" strike="noStrike" cap="none" spc="0" dirty="0">
                <a:ln>
                  <a:noFill/>
                </a:ln>
                <a:solidFill>
                  <a:prstClr val="white"/>
                </a:solidFill>
                <a:highlight>
                  <a:srgbClr val="FF0000"/>
                </a:highlight>
                <a:latin typeface="Aptos"/>
                <a:ea typeface="+mn-ea"/>
                <a:cs typeface="+mn-cs"/>
              </a:rPr>
              <a:t> Motor</a:t>
            </a:r>
            <a:endParaRPr dirty="0">
              <a:highlight>
                <a:srgbClr val="FF0000"/>
              </a:highlight>
            </a:endParaRPr>
          </a:p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#define Right1 3</a:t>
            </a:r>
          </a:p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#define Right2 4</a:t>
            </a:r>
          </a:p>
          <a:p>
            <a:pPr>
              <a:defRPr/>
            </a:pPr>
            <a:r>
              <a:rPr lang="en-US" dirty="0">
                <a:solidFill>
                  <a:schemeClr val="bg1"/>
                </a:solidFill>
              </a:rPr>
              <a:t>#define </a:t>
            </a:r>
            <a:r>
              <a:rPr lang="en-US" dirty="0" err="1">
                <a:solidFill>
                  <a:schemeClr val="bg1"/>
                </a:solidFill>
              </a:rPr>
              <a:t>Right_Speed</a:t>
            </a:r>
            <a:r>
              <a:rPr lang="en-US" dirty="0">
                <a:solidFill>
                  <a:schemeClr val="bg1"/>
                </a:solidFill>
              </a:rPr>
              <a:t> 5</a:t>
            </a:r>
          </a:p>
        </p:txBody>
      </p:sp>
      <p:sp>
        <p:nvSpPr>
          <p:cNvPr id="1477010180" name="TextBox 4"/>
          <p:cNvSpPr txBox="1"/>
          <p:nvPr/>
        </p:nvSpPr>
        <p:spPr bwMode="auto">
          <a:xfrm>
            <a:off x="5965371" y="1774094"/>
            <a:ext cx="5954486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3600" b="1" i="0" u="none" strike="noStrike" cap="none" spc="0">
                <a:ln>
                  <a:noFill/>
                </a:ln>
                <a:solidFill>
                  <a:srgbClr val="8ECAE6"/>
                </a:solidFill>
                <a:latin typeface="Aptos"/>
                <a:ea typeface="+mn-ea"/>
                <a:cs typeface="+mn-cs"/>
              </a:rPr>
              <a:t>Please test each direction in </a:t>
            </a:r>
            <a:r>
              <a:rPr lang="en-GB" sz="3600" b="1" i="0" u="none" strike="noStrike" cap="none" spc="0">
                <a:ln>
                  <a:noFill/>
                </a:ln>
                <a:solidFill>
                  <a:srgbClr val="FF715B"/>
                </a:solidFill>
                <a:latin typeface="Aptos"/>
                <a:ea typeface="+mn-ea"/>
                <a:cs typeface="+mn-cs"/>
              </a:rPr>
              <a:t>isolation</a:t>
            </a:r>
            <a:endParaRPr lang="en-GB" sz="1800" b="0" i="0" u="none" strike="noStrike" cap="none" spc="0">
              <a:ln>
                <a:noFill/>
              </a:ln>
              <a:solidFill>
                <a:srgbClr val="FF715B"/>
              </a:solidFill>
              <a:latin typeface="Aptos"/>
              <a:ea typeface="+mn-ea"/>
              <a:cs typeface="+mn-cs"/>
            </a:endParaRPr>
          </a:p>
          <a:p>
            <a:pPr marL="742950" marR="0" lvl="1" indent="-28575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GB" sz="2400" b="0" i="0" u="none" strike="noStrike" cap="none" spc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Forward</a:t>
            </a:r>
            <a:endParaRPr/>
          </a:p>
          <a:p>
            <a:pPr marL="742950" marR="0" lvl="1" indent="-28575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GB" sz="2400" b="0" i="0" u="none" strike="noStrike" cap="none" spc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Backward</a:t>
            </a:r>
            <a:endParaRPr/>
          </a:p>
          <a:p>
            <a:pPr marL="742950" marR="0" lvl="1" indent="-28575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GB" sz="2400" b="0" i="0" u="none" strike="noStrike" cap="none" spc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Left</a:t>
            </a:r>
            <a:endParaRPr/>
          </a:p>
          <a:p>
            <a:pPr marL="742950" marR="0" lvl="1" indent="-28575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/>
              <a:buChar char="•"/>
              <a:defRPr/>
            </a:pPr>
            <a:r>
              <a:rPr lang="en-GB" sz="2400" b="0" i="0" u="none" strike="noStrike" cap="none" spc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Right</a:t>
            </a:r>
            <a:endParaRPr/>
          </a:p>
        </p:txBody>
      </p:sp>
      <p:pic>
        <p:nvPicPr>
          <p:cNvPr id="223090054" name="Picture 5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99222827" name="TextBox 9"/>
          <p:cNvSpPr txBox="1"/>
          <p:nvPr/>
        </p:nvSpPr>
        <p:spPr bwMode="auto">
          <a:xfrm>
            <a:off x="832542" y="4617562"/>
            <a:ext cx="10265657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2400" b="1" i="0" u="none" strike="noStrike" cap="none" spc="0">
                <a:ln>
                  <a:noFill/>
                </a:ln>
                <a:solidFill>
                  <a:srgbClr val="FF715B"/>
                </a:solidFill>
                <a:latin typeface="Aptos"/>
                <a:ea typeface="+mn-ea"/>
                <a:cs typeface="+mn-cs"/>
              </a:rPr>
              <a:t>If incorrect direction,</a:t>
            </a:r>
            <a:r>
              <a:rPr lang="en-GB" sz="2400" b="1" i="0" u="none" strike="noStrike" cap="none" spc="0">
                <a:ln>
                  <a:noFill/>
                </a:ln>
                <a:solidFill>
                  <a:srgbClr val="F9CB40"/>
                </a:solidFill>
                <a:latin typeface="Aptos"/>
                <a:ea typeface="+mn-ea"/>
                <a:cs typeface="+mn-cs"/>
              </a:rPr>
              <a:t> then swap IN1/IN2 pins of the corresponding motor</a:t>
            </a:r>
            <a:endParaRPr/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lang="en-GB" sz="2400" b="1" i="0" u="none" strike="noStrike" cap="none" spc="0">
              <a:ln>
                <a:noFill/>
              </a:ln>
              <a:solidFill>
                <a:srgbClr val="F9CB40"/>
              </a:solidFill>
              <a:latin typeface="Aptos"/>
              <a:ea typeface="+mn-ea"/>
              <a:cs typeface="+mn-cs"/>
            </a:endParaRPr>
          </a:p>
          <a:p>
            <a:pPr marL="0" marR="0" lvl="0" indent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2400" b="1" i="0" u="none" strike="noStrike" cap="none" spc="0">
                <a:ln>
                  <a:noFill/>
                </a:ln>
                <a:solidFill>
                  <a:srgbClr val="FF715B"/>
                </a:solidFill>
                <a:latin typeface="Aptos"/>
                <a:ea typeface="+mn-ea"/>
                <a:cs typeface="+mn-cs"/>
              </a:rPr>
              <a:t>Expected Output:</a:t>
            </a:r>
            <a:r>
              <a:rPr lang="en-GB" sz="2400" b="1" i="0" u="none" strike="noStrike" cap="none" spc="0">
                <a:ln>
                  <a:noFill/>
                </a:ln>
                <a:solidFill>
                  <a:srgbClr val="F9CB40"/>
                </a:solidFill>
                <a:latin typeface="Aptos"/>
                <a:ea typeface="+mn-ea"/>
                <a:cs typeface="+mn-cs"/>
              </a:rPr>
              <a:t> The car moves in the desired direction</a:t>
            </a:r>
            <a:endParaRPr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19364B4-2240-D5AD-58C9-B17652C52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8558435-332F-107D-CD94-BCBF0EFB6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9FCE3CD-8E5B-4FEB-BC1E-3D61BE3CC713}" type="slidenum">
              <a:rPr lang="en-GB" smtClean="0"/>
              <a:t>7</a:t>
            </a:fld>
            <a:endParaRPr lang="en-GB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525157" name="Title 1"/>
          <p:cNvSpPr>
            <a:spLocks noGrp="1"/>
          </p:cNvSpPr>
          <p:nvPr>
            <p:ph type="title"/>
          </p:nvPr>
        </p:nvSpPr>
        <p:spPr bwMode="auto">
          <a:xfrm>
            <a:off x="10884" y="0"/>
            <a:ext cx="5711142" cy="132556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Lab 1:  Basic Movements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238332744" name="Table 716623741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312477995"/>
              </p:ext>
            </p:extLst>
          </p:nvPr>
        </p:nvGraphicFramePr>
        <p:xfrm>
          <a:off x="887211" y="1728317"/>
          <a:ext cx="6664223" cy="468305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32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425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20768"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400"/>
                        <a:t>Basic Movement</a:t>
                      </a:r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endParaRPr sz="1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62284">
                <a:tc>
                  <a:txBody>
                    <a:bodyPr/>
                    <a:lstStyle/>
                    <a:p>
                      <a:pPr marL="0" indent="0">
                        <a:buNone/>
                        <a:defRPr/>
                      </a:pPr>
                      <a:r>
                        <a:rPr lang="en-US" sz="1400" dirty="0"/>
                        <a:t>#define Left1 7</a:t>
                      </a:r>
                    </a:p>
                    <a:p>
                      <a:pPr marL="0" indent="0">
                        <a:buNone/>
                        <a:defRPr/>
                      </a:pPr>
                      <a:r>
                        <a:rPr lang="en-US" sz="1400" dirty="0"/>
                        <a:t>#define Left2 8</a:t>
                      </a:r>
                    </a:p>
                    <a:p>
                      <a:pPr marL="0" indent="0">
                        <a:buNone/>
                        <a:defRPr/>
                      </a:pPr>
                      <a:r>
                        <a:rPr lang="en-US" sz="1400" dirty="0"/>
                        <a:t>#define </a:t>
                      </a:r>
                      <a:r>
                        <a:rPr lang="en-US" sz="1400" dirty="0" err="1"/>
                        <a:t>Left_Speed</a:t>
                      </a:r>
                      <a:r>
                        <a:rPr lang="en-US" sz="1400" dirty="0"/>
                        <a:t> 6</a:t>
                      </a:r>
                    </a:p>
                    <a:p>
                      <a:pPr>
                        <a:defRPr/>
                      </a:pPr>
                      <a:endParaRPr lang="en-GB" sz="1400" dirty="0"/>
                    </a:p>
                    <a:p>
                      <a:pPr marL="0" indent="0">
                        <a:buNone/>
                        <a:defRPr/>
                      </a:pPr>
                      <a:r>
                        <a:rPr lang="en-US" sz="1400" dirty="0"/>
                        <a:t>#define Right1 3</a:t>
                      </a:r>
                    </a:p>
                    <a:p>
                      <a:pPr marL="0" indent="0">
                        <a:buNone/>
                        <a:defRPr/>
                      </a:pPr>
                      <a:r>
                        <a:rPr lang="en-US" sz="1400" dirty="0"/>
                        <a:t>#define Right2 4</a:t>
                      </a:r>
                    </a:p>
                    <a:p>
                      <a:pPr marL="0" indent="0">
                        <a:buNone/>
                        <a:defRPr/>
                      </a:pPr>
                      <a:r>
                        <a:rPr lang="en-US" sz="1400" dirty="0"/>
                        <a:t>#define </a:t>
                      </a:r>
                      <a:r>
                        <a:rPr lang="en-US" sz="1400" dirty="0" err="1"/>
                        <a:t>Right_Speed</a:t>
                      </a:r>
                      <a:r>
                        <a:rPr lang="en-US" sz="1400" dirty="0"/>
                        <a:t> 5</a:t>
                      </a:r>
                      <a:endParaRPr sz="1400" dirty="0"/>
                    </a:p>
                    <a:p>
                      <a:pPr>
                        <a:defRPr/>
                      </a:pP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/>
                        <a:t>setup():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Set all motor control pins as OUTPUT</a:t>
                      </a:r>
                      <a:endParaRPr dirty="0"/>
                    </a:p>
                    <a:p>
                      <a:pPr>
                        <a:defRPr/>
                      </a:pP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/>
                        <a:t>loop():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</a:t>
                      </a:r>
                      <a:r>
                        <a:rPr lang="en-US" sz="1400" b="1" i="0" u="none" strike="noStrike" cap="none" spc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Set motor speed to medium (127)</a:t>
                      </a: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/>
                        <a:t>  forward()      // 2 sec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backward()     // 2 sec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</a:t>
                      </a:r>
                      <a:r>
                        <a:rPr sz="1400" dirty="0" err="1"/>
                        <a:t>turnRight</a:t>
                      </a:r>
                      <a:r>
                        <a:rPr sz="1400" dirty="0"/>
                        <a:t>()    // 0.5 sec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</a:t>
                      </a:r>
                      <a:r>
                        <a:rPr sz="1400" dirty="0" err="1"/>
                        <a:t>turnLeft</a:t>
                      </a:r>
                      <a:r>
                        <a:rPr sz="1400" dirty="0"/>
                        <a:t>()     // 0.5 sec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Stop()         // 1.5 sec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/>
                      </a:pPr>
                      <a:r>
                        <a:rPr sz="1400" dirty="0"/>
                        <a:t>forward():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Left1=HIGH, Left2=LOW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Right1=HIGH, Right2=LOW</a:t>
                      </a:r>
                      <a:endParaRPr dirty="0"/>
                    </a:p>
                    <a:p>
                      <a:pPr>
                        <a:defRPr/>
                      </a:pP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/>
                        <a:t>backward():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Left1=LOW, Left2=HIGH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Right1=LOW, Right2=HIGH</a:t>
                      </a:r>
                      <a:endParaRPr dirty="0"/>
                    </a:p>
                    <a:p>
                      <a:pPr>
                        <a:defRPr/>
                      </a:pP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 err="1"/>
                        <a:t>turnRight</a:t>
                      </a:r>
                      <a:r>
                        <a:rPr sz="1400" dirty="0"/>
                        <a:t>():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Left1=HIGH, Left2=LOW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Right1=LOW, Right2=HIGH</a:t>
                      </a:r>
                      <a:endParaRPr dirty="0"/>
                    </a:p>
                    <a:p>
                      <a:pPr>
                        <a:defRPr/>
                      </a:pP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 err="1"/>
                        <a:t>turnLeft</a:t>
                      </a:r>
                      <a:r>
                        <a:rPr sz="1400" dirty="0"/>
                        <a:t>():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Left1=LOW, Left2=HIGH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Right1=HIGH, Right2=LOW</a:t>
                      </a:r>
                      <a:endParaRPr dirty="0"/>
                    </a:p>
                    <a:p>
                      <a:pPr>
                        <a:defRPr/>
                      </a:pPr>
                      <a:endParaRPr sz="1400" dirty="0"/>
                    </a:p>
                    <a:p>
                      <a:pPr>
                        <a:defRPr/>
                      </a:pPr>
                      <a:r>
                        <a:rPr sz="1400" dirty="0"/>
                        <a:t>Stop():</a:t>
                      </a:r>
                      <a:endParaRPr dirty="0"/>
                    </a:p>
                    <a:p>
                      <a:pPr>
                        <a:defRPr/>
                      </a:pPr>
                      <a:r>
                        <a:rPr sz="1400" dirty="0"/>
                        <a:t>  All pins LOW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pic>
        <p:nvPicPr>
          <p:cNvPr id="273976664" name="Picture 1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EF0B0BB-238E-6CCC-D860-12561B6C4286}"/>
              </a:ext>
            </a:extLst>
          </p:cNvPr>
          <p:cNvSpPr txBox="1"/>
          <p:nvPr/>
        </p:nvSpPr>
        <p:spPr>
          <a:xfrm>
            <a:off x="7834294" y="3429000"/>
            <a:ext cx="3836596" cy="2031325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b="1" dirty="0">
                <a:solidFill>
                  <a:schemeClr val="accent4"/>
                </a:solidFill>
              </a:rPr>
              <a:t>Link for the Code:</a:t>
            </a:r>
            <a:br>
              <a:rPr lang="en-GB" dirty="0">
                <a:solidFill>
                  <a:schemeClr val="bg1"/>
                </a:solidFill>
              </a:rPr>
            </a:br>
            <a:br>
              <a:rPr lang="en-GB" dirty="0">
                <a:solidFill>
                  <a:schemeClr val="bg1"/>
                </a:solidFill>
              </a:rPr>
            </a:br>
            <a:r>
              <a:rPr lang="en-GB" dirty="0">
                <a:solidFill>
                  <a:schemeClr val="bg1"/>
                </a:solidFill>
              </a:rPr>
              <a:t>https://github.com/info-zas/Training/tree/main/GPREC/04_Navigational_Robot_Car-1-Sensors/01_Code/01_Car1_Basic_Movements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0D191C76-FDCA-EC42-7D1C-976AFC0E93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3A0C7C2-6EAA-A5CC-BFBF-93F745A59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8</a:t>
            </a:fld>
            <a:endParaRPr lang="en-GB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7826978" name="Title 1"/>
          <p:cNvSpPr>
            <a:spLocks noGrp="1"/>
          </p:cNvSpPr>
          <p:nvPr>
            <p:ph type="title"/>
          </p:nvPr>
        </p:nvSpPr>
        <p:spPr bwMode="auto">
          <a:xfrm>
            <a:off x="0" y="1"/>
            <a:ext cx="6128278" cy="10200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IR Sensor Calibration Steps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59882132" name="Picture 1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4" name="TextBox 2">
            <a:extLst>
              <a:ext uri="{FF2B5EF4-FFF2-40B4-BE49-F238E27FC236}">
                <a16:creationId xmlns:a16="http://schemas.microsoft.com/office/drawing/2014/main" id="{EE4F3A82-B1D7-260A-BD33-743F1FD8F5EC}"/>
              </a:ext>
            </a:extLst>
          </p:cNvPr>
          <p:cNvSpPr txBox="1"/>
          <p:nvPr/>
        </p:nvSpPr>
        <p:spPr bwMode="auto">
          <a:xfrm>
            <a:off x="271287" y="1323857"/>
            <a:ext cx="7265136" cy="53245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endParaRPr lang="en-GB" sz="2000" b="1" i="0" u="none" strike="noStrike" cap="none" spc="0" dirty="0">
              <a:ln>
                <a:noFill/>
              </a:ln>
              <a:solidFill>
                <a:prstClr val="white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sz="2000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Slide Switch S2 (on Motor Controller Board) to Power ON the ‘Wall Following Module’.</a:t>
            </a: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sz="2000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‘Power LED’ Will be ON </a:t>
            </a: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sz="2000" b="1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Turn all the knobs of  </a:t>
            </a:r>
            <a:r>
              <a:rPr lang="en-GB" sz="2000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blue potentiometers </a:t>
            </a:r>
            <a:r>
              <a:rPr lang="en-GB" sz="2000" b="1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‘clockwise’ fully</a:t>
            </a: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sz="2000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All the LEDs (L, C1, C2, R) are all will be OFF</a:t>
            </a: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sz="2000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All four IR modules (Left, Centre Left, Centre Right, Right)                                                                                                        have to be individually calibrated</a:t>
            </a: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sz="2000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To calibrate one (For example: Centre Left IR Module),  keep obstruction at the ‘required’ distance and turn the appropriate blue knob (in anti-clockwise) direction until the C1 LED is just ON.</a:t>
            </a: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sz="2000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Remove the hand. C1 LED will be off. Now Centre Left IR module is calibrated.</a:t>
            </a: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r>
              <a:rPr lang="en-GB" sz="2000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Repeat the above steps to all the other IR modules to calibrate to required distance. </a:t>
            </a:r>
          </a:p>
          <a:p>
            <a:pPr marR="0" lvl="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defRPr/>
            </a:pPr>
            <a:endParaRPr lang="en-GB" sz="2000" b="1" dirty="0">
              <a:solidFill>
                <a:prstClr val="white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marR="0" lvl="0" indent="-342900" algn="l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defRPr/>
            </a:pPr>
            <a:endParaRPr lang="en-GB" sz="2000" b="1" i="0" u="none" strike="noStrike" cap="none" spc="0" dirty="0">
              <a:ln>
                <a:noFill/>
              </a:ln>
              <a:solidFill>
                <a:prstClr val="white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58E9CEA-DBFF-B83F-0EEA-1DC71097E15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7824609" y="468451"/>
            <a:ext cx="2402805" cy="171081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3E3D71A-492B-F5DE-0F4B-4CB16B32BAF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9999" y="2626634"/>
            <a:ext cx="3043084" cy="19941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3039356-81A7-9677-F43C-8A4DF426B4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9999" y="4736117"/>
            <a:ext cx="3043084" cy="2001364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98E3F388-DCEC-13F5-E0FC-A82AC2111514}"/>
              </a:ext>
            </a:extLst>
          </p:cNvPr>
          <p:cNvCxnSpPr/>
          <p:nvPr/>
        </p:nvCxnSpPr>
        <p:spPr bwMode="auto">
          <a:xfrm flipH="1">
            <a:off x="7536423" y="1160206"/>
            <a:ext cx="1302777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2E8E70D6-62AE-0FDC-0403-7D959DA81C72}"/>
              </a:ext>
            </a:extLst>
          </p:cNvPr>
          <p:cNvSpPr txBox="1"/>
          <p:nvPr/>
        </p:nvSpPr>
        <p:spPr bwMode="auto">
          <a:xfrm>
            <a:off x="6327826" y="987288"/>
            <a:ext cx="13083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Power LED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4F61886-204B-AE4B-210B-0C64D5742E36}"/>
              </a:ext>
            </a:extLst>
          </p:cNvPr>
          <p:cNvCxnSpPr>
            <a:cxnSpLocks/>
          </p:cNvCxnSpPr>
          <p:nvPr/>
        </p:nvCxnSpPr>
        <p:spPr bwMode="auto">
          <a:xfrm>
            <a:off x="9264446" y="5814639"/>
            <a:ext cx="1659193" cy="173206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1F605D26-6E3F-7712-DCF2-27EF51E64F75}"/>
              </a:ext>
            </a:extLst>
          </p:cNvPr>
          <p:cNvSpPr txBox="1"/>
          <p:nvPr/>
        </p:nvSpPr>
        <p:spPr bwMode="auto">
          <a:xfrm>
            <a:off x="10746659" y="5993331"/>
            <a:ext cx="1385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b="1" dirty="0">
                <a:solidFill>
                  <a:schemeClr val="accent3">
                    <a:lumMod val="25000"/>
                    <a:lumOff val="75000"/>
                  </a:schemeClr>
                </a:solidFill>
              </a:rPr>
              <a:t>Left C1 LED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B4E983-14A0-11B6-6039-40C04E08C900}"/>
              </a:ext>
            </a:extLst>
          </p:cNvPr>
          <p:cNvSpPr txBox="1"/>
          <p:nvPr/>
        </p:nvSpPr>
        <p:spPr>
          <a:xfrm>
            <a:off x="8642555" y="3569109"/>
            <a:ext cx="511277" cy="215444"/>
          </a:xfrm>
          <a:prstGeom prst="rect">
            <a:avLst/>
          </a:prstGeom>
          <a:noFill/>
          <a:ln w="381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endParaRPr lang="en-GB" sz="800" dirty="0"/>
          </a:p>
        </p:txBody>
      </p:sp>
      <p:sp>
        <p:nvSpPr>
          <p:cNvPr id="19" name="Date Placeholder 18">
            <a:extLst>
              <a:ext uri="{FF2B5EF4-FFF2-40B4-BE49-F238E27FC236}">
                <a16:creationId xmlns:a16="http://schemas.microsoft.com/office/drawing/2014/main" id="{02C6A295-B423-CB37-E042-2D2D589E0C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20" name="Slide Number Placeholder 19">
            <a:extLst>
              <a:ext uri="{FF2B5EF4-FFF2-40B4-BE49-F238E27FC236}">
                <a16:creationId xmlns:a16="http://schemas.microsoft.com/office/drawing/2014/main" id="{7B217DF5-4973-BE18-2211-1E7B85B1F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9</a:t>
            </a:fld>
            <a:endParaRPr lang="en-GB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C462D78-0CA1-57FA-2788-EA615F5FC1D8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7826978" name="Title 1">
            <a:extLst>
              <a:ext uri="{FF2B5EF4-FFF2-40B4-BE49-F238E27FC236}">
                <a16:creationId xmlns:a16="http://schemas.microsoft.com/office/drawing/2014/main" id="{9EB0480D-09B1-1383-908B-5BF8FDF44E7D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0" y="1"/>
            <a:ext cx="6327826" cy="102005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IR Sensor Calibration Steps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259882132" name="Picture 1">
            <a:extLst>
              <a:ext uri="{FF2B5EF4-FFF2-40B4-BE49-F238E27FC236}">
                <a16:creationId xmlns:a16="http://schemas.microsoft.com/office/drawing/2014/main" id="{6E00A8A1-4D0E-FB76-8968-7CFA6A19A2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4" name="TextBox 2">
            <a:extLst>
              <a:ext uri="{FF2B5EF4-FFF2-40B4-BE49-F238E27FC236}">
                <a16:creationId xmlns:a16="http://schemas.microsoft.com/office/drawing/2014/main" id="{99BA3846-CB09-5151-9A10-E53C456985FF}"/>
              </a:ext>
            </a:extLst>
          </p:cNvPr>
          <p:cNvSpPr txBox="1"/>
          <p:nvPr/>
        </p:nvSpPr>
        <p:spPr bwMode="auto">
          <a:xfrm>
            <a:off x="271287" y="1323857"/>
            <a:ext cx="726513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marR="0" lvl="0" indent="-34290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GB" sz="2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2400" b="1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 can check the c</a:t>
            </a:r>
            <a:r>
              <a:rPr lang="en-GB" sz="2400" b="1" dirty="0" err="1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alibration</a:t>
            </a:r>
            <a:r>
              <a:rPr lang="en-GB" sz="2400" b="1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values of IR sensors in the Serial Monitor by using the following code.</a:t>
            </a:r>
            <a:endParaRPr kumimoji="0" lang="en-GB" sz="2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marR="0" lvl="0" indent="-34290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GB" sz="2400" b="1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4B12684-F760-B230-0072-222A2003D6C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7824609" y="468451"/>
            <a:ext cx="2402805" cy="171081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350FD1-95E6-7E91-76AF-E2BF620313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19999" y="2626634"/>
            <a:ext cx="3043084" cy="19941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355A638-3F33-91F4-C51D-FF69777E75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19999" y="4736117"/>
            <a:ext cx="3043084" cy="2001364"/>
          </a:xfrm>
          <a:prstGeom prst="rect">
            <a:avLst/>
          </a:prstGeom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732DAF8A-E63C-3769-3311-F06E2BA01F81}"/>
              </a:ext>
            </a:extLst>
          </p:cNvPr>
          <p:cNvCxnSpPr/>
          <p:nvPr/>
        </p:nvCxnSpPr>
        <p:spPr bwMode="auto">
          <a:xfrm flipH="1">
            <a:off x="7536423" y="1160206"/>
            <a:ext cx="1302777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B62DB9F7-D0DD-1468-9157-464BF9C1FAE3}"/>
              </a:ext>
            </a:extLst>
          </p:cNvPr>
          <p:cNvSpPr txBox="1"/>
          <p:nvPr/>
        </p:nvSpPr>
        <p:spPr bwMode="auto">
          <a:xfrm>
            <a:off x="6327826" y="987288"/>
            <a:ext cx="13083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Power LED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E7EBA6C-9859-4469-7305-9BDF115E55E4}"/>
              </a:ext>
            </a:extLst>
          </p:cNvPr>
          <p:cNvCxnSpPr>
            <a:cxnSpLocks/>
          </p:cNvCxnSpPr>
          <p:nvPr/>
        </p:nvCxnSpPr>
        <p:spPr bwMode="auto">
          <a:xfrm>
            <a:off x="9264446" y="5814639"/>
            <a:ext cx="1659193" cy="173206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B6DFC013-EC1D-A414-E774-1A61400C93D2}"/>
              </a:ext>
            </a:extLst>
          </p:cNvPr>
          <p:cNvSpPr txBox="1"/>
          <p:nvPr/>
        </p:nvSpPr>
        <p:spPr bwMode="auto">
          <a:xfrm>
            <a:off x="10746659" y="5993331"/>
            <a:ext cx="13853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1" i="0" u="none" strike="noStrike" kern="0" cap="none" spc="0" normalizeH="0" baseline="0" noProof="0" dirty="0">
                <a:ln>
                  <a:noFill/>
                </a:ln>
                <a:solidFill>
                  <a:srgbClr val="023047">
                    <a:lumMod val="25000"/>
                    <a:lumOff val="75000"/>
                  </a:srgbClr>
                </a:solidFill>
                <a:effectLst/>
                <a:uLnTx/>
                <a:uFillTx/>
                <a:latin typeface="Aptos"/>
                <a:cs typeface="Arial"/>
              </a:rPr>
              <a:t>Left C1 LED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6543794-F511-764F-EE05-1E9C30FD3534}"/>
              </a:ext>
            </a:extLst>
          </p:cNvPr>
          <p:cNvSpPr txBox="1"/>
          <p:nvPr/>
        </p:nvSpPr>
        <p:spPr>
          <a:xfrm>
            <a:off x="8642555" y="3569109"/>
            <a:ext cx="511277" cy="215444"/>
          </a:xfrm>
          <a:prstGeom prst="rect">
            <a:avLst/>
          </a:prstGeom>
          <a:noFill/>
          <a:ln w="38100">
            <a:solidFill>
              <a:schemeClr val="accent4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421D907-951D-DDE6-976E-DE7EB3B758BE}"/>
              </a:ext>
            </a:extLst>
          </p:cNvPr>
          <p:cNvSpPr txBox="1"/>
          <p:nvPr/>
        </p:nvSpPr>
        <p:spPr>
          <a:xfrm>
            <a:off x="395750" y="3076495"/>
            <a:ext cx="6218902" cy="923330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https://github.com/info-zas/Training/tree/main/GPREC/04_Navigational_Robot_Car-1-Sensors/01_Code/02_Car1_IR_Sensor_Calibration</a:t>
            </a:r>
          </a:p>
        </p:txBody>
      </p:sp>
      <p:sp>
        <p:nvSpPr>
          <p:cNvPr id="5" name="Flowchart: Punched Tape 8">
            <a:extLst>
              <a:ext uri="{FF2B5EF4-FFF2-40B4-BE49-F238E27FC236}">
                <a16:creationId xmlns:a16="http://schemas.microsoft.com/office/drawing/2014/main" id="{2B270108-D19F-0613-B6A6-8CBFC512971A}"/>
              </a:ext>
            </a:extLst>
          </p:cNvPr>
          <p:cNvSpPr/>
          <p:nvPr/>
        </p:nvSpPr>
        <p:spPr bwMode="auto">
          <a:xfrm>
            <a:off x="1406270" y="4149230"/>
            <a:ext cx="3851530" cy="2588251"/>
          </a:xfrm>
          <a:prstGeom prst="flowChartPunchedTap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24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IR Sensor is Very Sensitive to Infrared Light from the Sun so Avoid Direct/Indirect Sun Light if Possible</a:t>
            </a:r>
            <a:endParaRPr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63269BC-7828-AC76-BE12-1977A7DCA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F8D2EE9-ACD6-4650-82D4-2D543D0374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148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0891443" name="Title 1"/>
          <p:cNvSpPr>
            <a:spLocks noGrp="1"/>
          </p:cNvSpPr>
          <p:nvPr>
            <p:ph type="title"/>
          </p:nvPr>
        </p:nvSpPr>
        <p:spPr bwMode="auto">
          <a:xfrm>
            <a:off x="0" y="1"/>
            <a:ext cx="7177548" cy="98536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Lab 2 : IR Obstruction Avoidance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977818073" name="Content Placeholder 2"/>
          <p:cNvSpPr>
            <a:spLocks noGrp="1"/>
          </p:cNvSpPr>
          <p:nvPr>
            <p:ph idx="1"/>
          </p:nvPr>
        </p:nvSpPr>
        <p:spPr bwMode="auto">
          <a:xfrm>
            <a:off x="660161" y="1269302"/>
            <a:ext cx="10515600" cy="467714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rmAutofit/>
          </a:bodyPr>
          <a:lstStyle/>
          <a:p>
            <a:pPr marL="0" indent="0">
              <a:buFont typeface="Arial"/>
              <a:buNone/>
              <a:defRPr/>
            </a:pPr>
            <a:endParaRPr/>
          </a:p>
          <a:p>
            <a:pPr marL="0" indent="0">
              <a:buFont typeface="Arial"/>
              <a:buNone/>
              <a:defRPr/>
            </a:pPr>
            <a:endParaRPr/>
          </a:p>
        </p:txBody>
      </p:sp>
      <p:pic>
        <p:nvPicPr>
          <p:cNvPr id="1456360328" name="Picture 1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1076202697" name="TextBox 3"/>
          <p:cNvSpPr txBox="1"/>
          <p:nvPr/>
        </p:nvSpPr>
        <p:spPr bwMode="auto">
          <a:xfrm>
            <a:off x="660161" y="1020634"/>
            <a:ext cx="999695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/>
              <a:buChar char="•"/>
              <a:defRPr/>
            </a:pPr>
            <a:r>
              <a:rPr lang="en-GB" sz="2400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The purpose of this exercise is to test IR sensor calibration for Obstacle Avoidance or Edge Following</a:t>
            </a:r>
            <a:endParaRPr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lvl="0">
              <a:defRPr/>
            </a:pPr>
            <a:endParaRPr lang="en-GB" sz="2400" dirty="0">
              <a:solidFill>
                <a:prstClr val="white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342900" lvl="0" indent="-342900">
              <a:buFont typeface="Arial"/>
              <a:buChar char="•"/>
              <a:defRPr/>
            </a:pPr>
            <a:r>
              <a:rPr lang="en-GB" sz="2400" dirty="0">
                <a:solidFill>
                  <a:prstClr val="white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Also to get familiarity with the usage of the test zig (boundary wall fence)</a:t>
            </a:r>
            <a:endParaRPr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805404085" name="Picture 5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>
            <a:off x="1714500" y="2696617"/>
            <a:ext cx="8763000" cy="3953075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ED6B28D-77D6-4545-D069-67EB857E1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54026F1-AA00-E41D-7D31-E239D9008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11</a:t>
            </a:fld>
            <a:endParaRPr lang="en-GB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50861" name="Title 1"/>
          <p:cNvSpPr>
            <a:spLocks noGrp="1"/>
          </p:cNvSpPr>
          <p:nvPr>
            <p:ph type="title"/>
          </p:nvPr>
        </p:nvSpPr>
        <p:spPr bwMode="auto">
          <a:xfrm>
            <a:off x="1" y="0"/>
            <a:ext cx="7069394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Lab 2 : IR Obstruction Avoidance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108645543" name="Picture 4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1485423380" name="Flowchart: Punched Tape 8"/>
          <p:cNvSpPr/>
          <p:nvPr/>
        </p:nvSpPr>
        <p:spPr bwMode="auto">
          <a:xfrm>
            <a:off x="6821737" y="2527790"/>
            <a:ext cx="3851530" cy="2588251"/>
          </a:xfrm>
          <a:prstGeom prst="flowChartPunchedTap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GB" sz="2400" b="0" i="0" u="none" strike="noStrike" cap="none" spc="0" dirty="0">
                <a:ln>
                  <a:noFill/>
                </a:ln>
                <a:solidFill>
                  <a:prstClr val="white"/>
                </a:solidFill>
                <a:latin typeface="Aptos"/>
                <a:ea typeface="+mn-ea"/>
                <a:cs typeface="+mn-cs"/>
              </a:rPr>
              <a:t>IR Sensor is Very Sensitive to Infrared Light from the Sun so Avoid Direct/Indirect Sun Light if Possible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DDD9D5-1377-39F3-6A87-F0934E5C1333}"/>
              </a:ext>
            </a:extLst>
          </p:cNvPr>
          <p:cNvSpPr txBox="1"/>
          <p:nvPr/>
        </p:nvSpPr>
        <p:spPr>
          <a:xfrm>
            <a:off x="474406" y="5934670"/>
            <a:ext cx="6218902" cy="923330"/>
          </a:xfrm>
          <a:prstGeom prst="rect">
            <a:avLst/>
          </a:prstGeom>
          <a:noFill/>
          <a:ln w="28575">
            <a:solidFill>
              <a:schemeClr val="accent4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https://github.com/info-zas/Training/tree/main/GPREC/04_Navigational_Robot_Car-1-Sensors/01_Code/03_Car1_IR_Obstruction_Avoidance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FDC15B-D9E7-66CD-213D-950D1AF24E5A}"/>
              </a:ext>
            </a:extLst>
          </p:cNvPr>
          <p:cNvSpPr txBox="1"/>
          <p:nvPr/>
        </p:nvSpPr>
        <p:spPr>
          <a:xfrm>
            <a:off x="612058" y="1028343"/>
            <a:ext cx="3232354" cy="4801314"/>
          </a:xfrm>
          <a:prstGeom prst="rect">
            <a:avLst/>
          </a:prstGeom>
          <a:noFill/>
          <a:ln w="38100">
            <a:solidFill>
              <a:schemeClr val="accent3">
                <a:lumMod val="50000"/>
                <a:lumOff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setup()</a:t>
            </a:r>
          </a:p>
          <a:p>
            <a:r>
              <a:rPr lang="en-GB" dirty="0">
                <a:solidFill>
                  <a:schemeClr val="bg1"/>
                </a:solidFill>
              </a:rPr>
              <a:t>  start Serial</a:t>
            </a:r>
          </a:p>
          <a:p>
            <a:r>
              <a:rPr lang="en-GB" dirty="0">
                <a:solidFill>
                  <a:schemeClr val="bg1"/>
                </a:solidFill>
              </a:rPr>
              <a:t>  set all motor pins as OUTPUT</a:t>
            </a:r>
          </a:p>
          <a:p>
            <a:r>
              <a:rPr lang="en-GB" dirty="0">
                <a:solidFill>
                  <a:schemeClr val="bg1"/>
                </a:solidFill>
              </a:rPr>
              <a:t>  set IR pins A1, A2 as INPUT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loop()</a:t>
            </a:r>
          </a:p>
          <a:p>
            <a:r>
              <a:rPr lang="en-GB" dirty="0">
                <a:solidFill>
                  <a:schemeClr val="bg1"/>
                </a:solidFill>
              </a:rPr>
              <a:t>  set motor speeds (PWM)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  read ir1 = </a:t>
            </a:r>
            <a:r>
              <a:rPr lang="en-GB" dirty="0" err="1">
                <a:solidFill>
                  <a:schemeClr val="bg1"/>
                </a:solidFill>
              </a:rPr>
              <a:t>digitalRead</a:t>
            </a:r>
            <a:r>
              <a:rPr lang="en-GB" dirty="0">
                <a:solidFill>
                  <a:schemeClr val="bg1"/>
                </a:solidFill>
              </a:rPr>
              <a:t>(A1)</a:t>
            </a:r>
          </a:p>
          <a:p>
            <a:r>
              <a:rPr lang="en-GB" dirty="0">
                <a:solidFill>
                  <a:schemeClr val="bg1"/>
                </a:solidFill>
              </a:rPr>
              <a:t>  read ir2 = </a:t>
            </a:r>
            <a:r>
              <a:rPr lang="en-GB" dirty="0" err="1">
                <a:solidFill>
                  <a:schemeClr val="bg1"/>
                </a:solidFill>
              </a:rPr>
              <a:t>digitalRead</a:t>
            </a:r>
            <a:r>
              <a:rPr lang="en-GB" dirty="0">
                <a:solidFill>
                  <a:schemeClr val="bg1"/>
                </a:solidFill>
              </a:rPr>
              <a:t>(A2)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  print ir1, ir2</a:t>
            </a:r>
          </a:p>
          <a:p>
            <a:endParaRPr lang="en-GB" dirty="0">
              <a:solidFill>
                <a:schemeClr val="bg1"/>
              </a:solidFill>
            </a:endParaRPr>
          </a:p>
          <a:p>
            <a:r>
              <a:rPr lang="en-GB" dirty="0">
                <a:solidFill>
                  <a:schemeClr val="bg1"/>
                </a:solidFill>
              </a:rPr>
              <a:t>  if ir1 == 0 AND ir2 == 0:</a:t>
            </a:r>
          </a:p>
          <a:p>
            <a:r>
              <a:rPr lang="en-GB" dirty="0">
                <a:solidFill>
                  <a:schemeClr val="bg1"/>
                </a:solidFill>
              </a:rPr>
              <a:t>        forward()</a:t>
            </a:r>
          </a:p>
          <a:p>
            <a:r>
              <a:rPr lang="en-GB" dirty="0">
                <a:solidFill>
                  <a:schemeClr val="bg1"/>
                </a:solidFill>
              </a:rPr>
              <a:t>  else:</a:t>
            </a:r>
          </a:p>
          <a:p>
            <a:r>
              <a:rPr lang="en-GB" dirty="0">
                <a:solidFill>
                  <a:schemeClr val="bg1"/>
                </a:solidFill>
              </a:rPr>
              <a:t>        stop()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B77DCE8B-46B2-B8BC-6481-480C7ECC93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025838-1A80-4925-300C-675F5229CB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09FCE3CD-8E5B-4FEB-BC1E-3D61BE3CC713}" type="slidenum">
              <a:rPr lang="en-GB" smtClean="0"/>
              <a:t>12</a:t>
            </a:fld>
            <a:endParaRPr lang="en-GB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4940672" name="Title 1"/>
          <p:cNvSpPr>
            <a:spLocks noGrp="1"/>
          </p:cNvSpPr>
          <p:nvPr>
            <p:ph type="title"/>
          </p:nvPr>
        </p:nvSpPr>
        <p:spPr bwMode="auto">
          <a:xfrm>
            <a:off x="0" y="18307"/>
            <a:ext cx="5427406" cy="97809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Car 1 – Further Modes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346917911" name="Content Placeholder 2"/>
          <p:cNvSpPr>
            <a:spLocks noGrp="1"/>
          </p:cNvSpPr>
          <p:nvPr>
            <p:ph idx="1"/>
          </p:nvPr>
        </p:nvSpPr>
        <p:spPr bwMode="auto">
          <a:xfrm>
            <a:off x="571670" y="1393929"/>
            <a:ext cx="3971767" cy="467714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compatLnSpc="0">
            <a:noAutofit/>
          </a:bodyPr>
          <a:lstStyle/>
          <a:p>
            <a:pPr marL="0" indent="0">
              <a:buNone/>
              <a:defRPr/>
            </a:pPr>
            <a:r>
              <a:rPr lang="en-GB" sz="1800" dirty="0">
                <a:solidFill>
                  <a:schemeClr val="accent5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Modes/Algorithms</a:t>
            </a:r>
            <a:endParaRPr sz="1800" dirty="0">
              <a:solidFill>
                <a:schemeClr val="accent5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>
              <a:defRPr/>
            </a:pPr>
            <a:r>
              <a:rPr sz="1800" b="0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Hands-on Training for Car-1</a:t>
            </a:r>
            <a:br>
              <a:rPr sz="1800" b="0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</a:br>
            <a:r>
              <a:rPr sz="1800" b="0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 Modes: </a:t>
            </a:r>
          </a:p>
          <a:p>
            <a:pPr lvl="1">
              <a:defRPr/>
            </a:pPr>
            <a:r>
              <a:rPr sz="1800" b="0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Infrared Obstacle Avoidance </a:t>
            </a:r>
            <a:endParaRPr sz="18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lvl="1">
              <a:defRPr/>
            </a:pPr>
            <a:r>
              <a:rPr lang="en-US" sz="1800" b="0" i="0" u="none" strike="noStrike" cap="none" spc="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Ultrasound Obstacle Avoidance</a:t>
            </a:r>
            <a:endParaRPr lang="en-GB" sz="1800" b="0" i="0" u="none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lvl="1">
              <a:defRPr/>
            </a:pPr>
            <a:r>
              <a:rPr sz="1800" b="0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Line Following</a:t>
            </a:r>
          </a:p>
          <a:p>
            <a:pPr lvl="1">
              <a:defRPr/>
            </a:pPr>
            <a:r>
              <a:rPr sz="1800" b="0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Pit Avoidance</a:t>
            </a:r>
            <a:endParaRPr sz="18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lvl="1">
              <a:defRPr/>
            </a:pPr>
            <a:r>
              <a:rPr sz="1800" b="0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Wall Following</a:t>
            </a:r>
          </a:p>
          <a:p>
            <a:pPr lvl="2">
              <a:defRPr/>
            </a:pPr>
            <a:r>
              <a:rPr lang="en-US" sz="1800" b="0" i="0" u="none" strike="noStrike" cap="none" spc="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External Wall Following - Left,</a:t>
            </a:r>
            <a:endParaRPr sz="1800" b="0" i="0" u="none" strike="noStrike" cap="none" spc="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lvl="2">
              <a:defRPr/>
            </a:pPr>
            <a:r>
              <a:rPr lang="en-US" sz="1800" b="0" i="0" u="none" strike="noStrike" cap="none" spc="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External Wall Following - Right,</a:t>
            </a:r>
            <a:endParaRPr sz="1800" b="0" i="0" u="none" strike="noStrike" cap="none" spc="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lvl="2">
              <a:defRPr/>
            </a:pPr>
            <a:r>
              <a:rPr lang="en-US" sz="1800" b="0" i="0" u="none" strike="noStrike" cap="none" spc="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Internal Wall Following - Right,</a:t>
            </a:r>
            <a:endParaRPr sz="1800" b="0" i="0" u="none" strike="noStrike" cap="none" spc="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lvl="2">
              <a:defRPr/>
            </a:pPr>
            <a:r>
              <a:rPr lang="en-US" sz="1800" b="0" i="0" u="none" strike="noStrike" cap="none" spc="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Internal Wall Following - Left</a:t>
            </a:r>
            <a:endParaRPr sz="18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lvl="1">
              <a:defRPr/>
            </a:pPr>
            <a:r>
              <a:rPr sz="1800" b="0" i="0" u="none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IR Remote.</a:t>
            </a:r>
            <a:endParaRPr lang="en-GB" sz="1800" b="0" i="0" u="none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lvl="1">
              <a:defRPr/>
            </a:pPr>
            <a:r>
              <a:rPr lang="en-GB" sz="1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Bluetooth.</a:t>
            </a:r>
            <a:endParaRPr sz="18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  <a:p>
            <a:pPr marL="0" indent="0">
              <a:buFont typeface="Arial"/>
              <a:buNone/>
              <a:defRPr/>
            </a:pPr>
            <a:endParaRPr sz="1800" dirty="0"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pic>
        <p:nvPicPr>
          <p:cNvPr id="679853314" name="Picture 1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0080966" y="0"/>
            <a:ext cx="2100150" cy="566056"/>
          </a:xfrm>
          <a:prstGeom prst="rect">
            <a:avLst/>
          </a:prstGeom>
        </p:spPr>
      </p:pic>
      <p:sp>
        <p:nvSpPr>
          <p:cNvPr id="2" name="TextBox 3">
            <a:extLst>
              <a:ext uri="{FF2B5EF4-FFF2-40B4-BE49-F238E27FC236}">
                <a16:creationId xmlns:a16="http://schemas.microsoft.com/office/drawing/2014/main" id="{49F64232-140B-926B-E9FC-B77AE357D741}"/>
              </a:ext>
            </a:extLst>
          </p:cNvPr>
          <p:cNvSpPr txBox="1"/>
          <p:nvPr/>
        </p:nvSpPr>
        <p:spPr bwMode="auto">
          <a:xfrm>
            <a:off x="417820" y="790275"/>
            <a:ext cx="999695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/>
              <a:buChar char="•"/>
              <a:defRPr/>
            </a:pPr>
            <a:r>
              <a:rPr lang="en-GB" sz="2400" dirty="0">
                <a:solidFill>
                  <a:prstClr val="white"/>
                </a:solidFill>
              </a:rPr>
              <a:t>Using Car1, further 10+ modes can be carried out. </a:t>
            </a:r>
          </a:p>
          <a:p>
            <a:pPr lvl="0">
              <a:defRPr/>
            </a:pPr>
            <a:endParaRPr lang="en-GB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690A917-4AF4-0006-E193-EE3447CAB353}"/>
              </a:ext>
            </a:extLst>
          </p:cNvPr>
          <p:cNvSpPr txBox="1"/>
          <p:nvPr/>
        </p:nvSpPr>
        <p:spPr>
          <a:xfrm>
            <a:off x="5600646" y="6313645"/>
            <a:ext cx="6218902" cy="369332"/>
          </a:xfrm>
          <a:prstGeom prst="rect">
            <a:avLst/>
          </a:prstGeom>
          <a:noFill/>
          <a:ln>
            <a:solidFill>
              <a:schemeClr val="accent3">
                <a:lumMod val="50000"/>
                <a:lumOff val="50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GB" dirty="0">
                <a:solidFill>
                  <a:schemeClr val="bg1"/>
                </a:solidFill>
              </a:rPr>
              <a:t>https://github.com/info-zas/zas-robotics-car-1-sensors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B16B24B-84F8-E408-4FEF-4B5C4E151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7118A2-2900-2466-E3ED-C8100FB99F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13</a:t>
            </a:fld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BF16E17-AD93-C50C-13D5-3C915B5D5E6A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6088" y="1338024"/>
            <a:ext cx="5389024" cy="455709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2940378" name="Title 1"/>
          <p:cNvSpPr>
            <a:spLocks noGrp="1"/>
          </p:cNvSpPr>
          <p:nvPr>
            <p:ph type="title"/>
          </p:nvPr>
        </p:nvSpPr>
        <p:spPr bwMode="auto">
          <a:xfrm>
            <a:off x="10884" y="0"/>
            <a:ext cx="2860135" cy="1325562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sz="4000" b="1" dirty="0">
                <a:solidFill>
                  <a:srgbClr val="FF33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Summary</a:t>
            </a:r>
            <a:endParaRPr sz="4000" b="1" dirty="0">
              <a:solidFill>
                <a:srgbClr val="FF33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501719022" name="Picture 1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9982200" y="0"/>
            <a:ext cx="2100150" cy="5660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DAD5B66-1714-8684-8464-3B128E3BF774}"/>
              </a:ext>
            </a:extLst>
          </p:cNvPr>
          <p:cNvSpPr txBox="1"/>
          <p:nvPr/>
        </p:nvSpPr>
        <p:spPr>
          <a:xfrm>
            <a:off x="1376515" y="1443841"/>
            <a:ext cx="8406582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In this presentation, we explored Car 1 based on sensors – The First Car in the ZAS Robotics Navigational Series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We explored a basic car movements, IR calibration, Obstruction avoidance using IR sensors.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>
                <a:solidFill>
                  <a:schemeClr val="bg1"/>
                </a:solidFill>
                <a:latin typeface="Calibri Light" panose="020F0302020204030204" pitchFamily="34" charset="0"/>
                <a:ea typeface="Calibri Light" panose="020F0302020204030204" pitchFamily="34" charset="0"/>
                <a:cs typeface="Calibri Light" panose="020F0302020204030204" pitchFamily="34" charset="0"/>
              </a:rPr>
              <a:t>Next in the Series: We explore Car 2 based on Communication module – to control the car wirelessly using various communication technologies.</a:t>
            </a:r>
            <a:endParaRPr lang="en-GB" sz="2800" dirty="0">
              <a:solidFill>
                <a:schemeClr val="bg1"/>
              </a:solidFill>
              <a:latin typeface="Calibri Light" panose="020F0302020204030204" pitchFamily="34" charset="0"/>
              <a:ea typeface="Calibri Light" panose="020F03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4C4E61-9109-3203-E487-EF2C39704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GB"/>
              <a:t>07/12/2025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39A869-F421-62A1-F22F-D24917A180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3CA24EA-A87A-4979-940E-A83EA2C27DA6}" type="slidenum">
              <a:rPr lang="en-GB" smtClean="0"/>
              <a:t>14</a:t>
            </a:fld>
            <a:endParaRPr lang="en-GB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1_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ZASRobotics">
      <a:dk1>
        <a:sysClr val="windowText" lastClr="000000"/>
      </a:dk1>
      <a:lt1>
        <a:sysClr val="window" lastClr="FFFFFF"/>
      </a:lt1>
      <a:dk2>
        <a:srgbClr val="0E2841"/>
      </a:dk2>
      <a:lt2>
        <a:srgbClr val="8ECAE6"/>
      </a:lt2>
      <a:accent1>
        <a:srgbClr val="219EBC"/>
      </a:accent1>
      <a:accent2>
        <a:srgbClr val="8ECAE6"/>
      </a:accent2>
      <a:accent3>
        <a:srgbClr val="023047"/>
      </a:accent3>
      <a:accent4>
        <a:srgbClr val="FF715B"/>
      </a:accent4>
      <a:accent5>
        <a:srgbClr val="F9CB40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 Display"/>
        <a:ea typeface="Arial"/>
        <a:cs typeface="Arial"/>
      </a:majorFont>
      <a:minorFont>
        <a:latin typeface="Aptos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 bwMode="auto"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547</TotalTime>
  <Words>1273</Words>
  <Application>Microsoft Office PowerPoint</Application>
  <PresentationFormat>Widescreen</PresentationFormat>
  <Paragraphs>220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Calibri Light</vt:lpstr>
      <vt:lpstr>Office Theme</vt:lpstr>
      <vt:lpstr>1_Office Theme</vt:lpstr>
      <vt:lpstr> Car 1 (Sensors) Navigational Robotics Series ZAS Robotics Training</vt:lpstr>
      <vt:lpstr>Robot Car1 Training - Objectives</vt:lpstr>
      <vt:lpstr>Robot Car1 - Contents</vt:lpstr>
      <vt:lpstr>Robot Car1 - Contents</vt:lpstr>
      <vt:lpstr>Health &amp; Safety</vt:lpstr>
      <vt:lpstr>Motor Driver Module</vt:lpstr>
      <vt:lpstr>Lab 1:  Basic Movements</vt:lpstr>
      <vt:lpstr>Lab 1:  Basic Movements</vt:lpstr>
      <vt:lpstr>IR Sensor Calibration Steps</vt:lpstr>
      <vt:lpstr>IR Sensor Calibration Steps</vt:lpstr>
      <vt:lpstr>Lab 2 : IR Obstruction Avoidance</vt:lpstr>
      <vt:lpstr>Lab 2 : IR Obstruction Avoidance</vt:lpstr>
      <vt:lpstr>Car 1 – Further Modes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Fakruddin Mohammed</dc:creator>
  <cp:lastModifiedBy>Fakruddin Mohammed</cp:lastModifiedBy>
  <cp:revision>60</cp:revision>
  <dcterms:created xsi:type="dcterms:W3CDTF">2025-11-15T20:03:39Z</dcterms:created>
  <dcterms:modified xsi:type="dcterms:W3CDTF">2025-12-02T17:26:40Z</dcterms:modified>
</cp:coreProperties>
</file>