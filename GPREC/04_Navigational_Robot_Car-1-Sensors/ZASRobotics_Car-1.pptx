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0"/>
  </p:notesMasterIdLst>
  <p:sldIdLst>
    <p:sldId id="256" r:id="rId3"/>
    <p:sldId id="257" r:id="rId4"/>
    <p:sldId id="258" r:id="rId5"/>
    <p:sldId id="278" r:id="rId6"/>
    <p:sldId id="262" r:id="rId7"/>
    <p:sldId id="281" r:id="rId8"/>
    <p:sldId id="264" r:id="rId9"/>
    <p:sldId id="268" r:id="rId10"/>
    <p:sldId id="269" r:id="rId11"/>
    <p:sldId id="259" r:id="rId12"/>
    <p:sldId id="280" r:id="rId13"/>
    <p:sldId id="273" r:id="rId14"/>
    <p:sldId id="274" r:id="rId15"/>
    <p:sldId id="260" r:id="rId16"/>
    <p:sldId id="275" r:id="rId17"/>
    <p:sldId id="283" r:id="rId18"/>
    <p:sldId id="282" r:id="rId19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8536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89385535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70816058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873874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207539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9472749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34058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1799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6754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E65F0-3DD2-D815-294B-8E71C04DBEF5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32424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154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7637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FD46E4-0058-8968-16D4-4C62A875C58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62690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5563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815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592D0-080F-A99C-BD1E-3D8029FBF75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B9FA-1C4D-FA0A-F8DC-26E2A49DC6C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626904" name="Slide Image Placeholder 1">
            <a:extLst>
              <a:ext uri="{FF2B5EF4-FFF2-40B4-BE49-F238E27FC236}">
                <a16:creationId xmlns:a16="http://schemas.microsoft.com/office/drawing/2014/main" id="{46A772E4-41D0-8D75-4F29-B58E64C4A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5563895" name="Notes Placeholder 2">
            <a:extLst>
              <a:ext uri="{FF2B5EF4-FFF2-40B4-BE49-F238E27FC236}">
                <a16:creationId xmlns:a16="http://schemas.microsoft.com/office/drawing/2014/main" id="{33D85FB5-7148-F06E-A218-914F63B04FA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815154" name="Slide Number Placeholder 3">
            <a:extLst>
              <a:ext uri="{FF2B5EF4-FFF2-40B4-BE49-F238E27FC236}">
                <a16:creationId xmlns:a16="http://schemas.microsoft.com/office/drawing/2014/main" id="{FB2163A6-D395-134B-3906-A118B32C3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0592D0-080F-A99C-BD1E-3D8029FBF750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9470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9BFFD2-D2A5-E4FC-DCEE-980CA958B20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24A1-B409-7574-744D-931D571B595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9C48C-55A4-7C71-98B9-605B71E52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AA77F-D851-5936-57D8-3FD47F3CC5D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6FF2C-82A5-C1B7-2114-AFC7753E94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9BFFD2-D2A5-E4FC-DCEE-980CA958B203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5366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C8939-3E88-5189-4BFF-33566C64303D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CA908F-7FAB-24C7-0710-DFC59F62181A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89603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550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352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506443-09A2-4C7E-0FEA-8DC0CE5C92D5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99264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77055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298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EFFA8F-62AE-87A1-1C9A-B2758EA6294C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3CBFF-2CC4-3466-6931-8569FEF83BD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992649" name="Slide Image Placeholder 1">
            <a:extLst>
              <a:ext uri="{FF2B5EF4-FFF2-40B4-BE49-F238E27FC236}">
                <a16:creationId xmlns:a16="http://schemas.microsoft.com/office/drawing/2014/main" id="{1822682F-A62E-F56F-B90C-C3858DD8A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7705578" name="Notes Placeholder 2">
            <a:extLst>
              <a:ext uri="{FF2B5EF4-FFF2-40B4-BE49-F238E27FC236}">
                <a16:creationId xmlns:a16="http://schemas.microsoft.com/office/drawing/2014/main" id="{DB7890B0-222A-6601-7B87-A4743E09A11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298884" name="Slide Number Placeholder 3">
            <a:extLst>
              <a:ext uri="{FF2B5EF4-FFF2-40B4-BE49-F238E27FC236}">
                <a16:creationId xmlns:a16="http://schemas.microsoft.com/office/drawing/2014/main" id="{072F245A-003A-BAFC-1474-FE8935552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FFA8F-62AE-87A1-1C9A-B2758EA6294C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4931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9991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629907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9099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0BF6A5-E3FB-7263-6386-32C983929299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1846B9-60F9-C8FA-8131-746DF48D95A0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7214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5759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803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D377EF-AB0E-4E04-502A-8773159447B2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8649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60841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671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0C8C5-F8E2-F7DD-63B2-36F4C46DB246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864978" name="Slide Image Placeholder 1">
            <a:extLst>
              <a:ext uri="{FF2B5EF4-FFF2-40B4-BE49-F238E27FC236}">
                <a16:creationId xmlns:a16="http://schemas.microsoft.com/office/drawing/2014/main" id="{45E6FDBE-C3C0-892D-773E-658CA53371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6084192" name="Notes Placeholder 2">
            <a:extLst>
              <a:ext uri="{FF2B5EF4-FFF2-40B4-BE49-F238E27FC236}">
                <a16:creationId xmlns:a16="http://schemas.microsoft.com/office/drawing/2014/main" id="{0665A151-B54F-500B-B415-1745E90A352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671864" name="Slide Number Placeholder 3">
            <a:extLst>
              <a:ext uri="{FF2B5EF4-FFF2-40B4-BE49-F238E27FC236}">
                <a16:creationId xmlns:a16="http://schemas.microsoft.com/office/drawing/2014/main" id="{6D975023-CCE1-9AA6-D562-630F06A822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85957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8332-7742-F226-EF66-C6DDF23B6EB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992649" name="Slide Image Placeholder 1">
            <a:extLst>
              <a:ext uri="{FF2B5EF4-FFF2-40B4-BE49-F238E27FC236}">
                <a16:creationId xmlns:a16="http://schemas.microsoft.com/office/drawing/2014/main" id="{92BAC43D-F455-3B3E-AB4C-CD250B70C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7705578" name="Notes Placeholder 2">
            <a:extLst>
              <a:ext uri="{FF2B5EF4-FFF2-40B4-BE49-F238E27FC236}">
                <a16:creationId xmlns:a16="http://schemas.microsoft.com/office/drawing/2014/main" id="{C6A05EBA-53C4-1807-C86D-7EE5B97D282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298884" name="Slide Number Placeholder 3">
            <a:extLst>
              <a:ext uri="{FF2B5EF4-FFF2-40B4-BE49-F238E27FC236}">
                <a16:creationId xmlns:a16="http://schemas.microsoft.com/office/drawing/2014/main" id="{F945F792-0C85-494B-D64F-C205605377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EFFA8F-62AE-87A1-1C9A-B2758EA6294C}" type="slidenum">
              <a:rPr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06055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58177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266530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0930098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655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041820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670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8190169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17285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105747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48079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35829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39436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51813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8054923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79629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0135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1559240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8607882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006700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502579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333738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36075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71454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771977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242718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4661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5460512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806767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6013819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6621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0083320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6954823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1211326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43618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000680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0522892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3066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2379133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85972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790924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600034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2551713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86715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7852192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0530673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22485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2680929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94098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236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048910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75992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358069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351313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0855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3326432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45132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514118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267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6389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685966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6248419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93434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26460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3188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982723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4899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876298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087327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522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41256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429052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369464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49786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3637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380486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838062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228472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24385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86920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9020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3016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8307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935716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77256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092936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06413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71417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179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64117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555904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4868108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65131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56707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485355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0510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9798151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4111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94927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76003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05323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5900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090107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5591641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66781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801150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9696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121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20839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52786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967749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68515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23231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5752511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32034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17099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359753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57278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170028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7138898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1987605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700284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9258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399962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87057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757819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308687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256249" name="Title 1"/>
          <p:cNvSpPr>
            <a:spLocks noGrp="1"/>
          </p:cNvSpPr>
          <p:nvPr>
            <p:ph type="ctrTitle"/>
          </p:nvPr>
        </p:nvSpPr>
        <p:spPr bwMode="auto">
          <a:xfrm>
            <a:off x="0" y="1759290"/>
            <a:ext cx="12192000" cy="2387599"/>
          </a:xfrm>
        </p:spPr>
        <p:txBody>
          <a:bodyPr>
            <a:normAutofit fontScale="90000"/>
          </a:bodyPr>
          <a:lstStyle/>
          <a:p>
            <a:pPr>
              <a:defRPr/>
            </a:pPr>
            <a:b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1 (Sensors)</a:t>
            </a:r>
            <a:br>
              <a:rPr lang="en-GB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b="1" dirty="0">
                <a:solidFill>
                  <a:schemeClr val="accent3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Navigational Robotics Series</a:t>
            </a:r>
            <a:br>
              <a:rPr lang="en-GB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5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ZAS Robotics Training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7097236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149037" y="32658"/>
            <a:ext cx="4042963" cy="108970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0DCE8D-F5A3-9AF2-6049-63A9E4386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597FEE-90EC-16D6-B606-880798EDE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404817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7736936" cy="100551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Training - Objectives</a:t>
            </a:r>
            <a:endParaRPr sz="4000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95200416" name="TextBox 2"/>
          <p:cNvSpPr txBox="1"/>
          <p:nvPr/>
        </p:nvSpPr>
        <p:spPr bwMode="auto">
          <a:xfrm>
            <a:off x="142875" y="1000532"/>
            <a:ext cx="11910208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Review the Contents in the Box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the Health &amp; Safety Precautions</a:t>
            </a: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schemeClr val="accent2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TB6612 Motor Driver Module</a:t>
            </a:r>
            <a:endParaRPr sz="2400" dirty="0">
              <a:solidFill>
                <a:schemeClr val="accent2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1 -  Car1  :  Car Basic Movements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Calibration of IR Sensors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2 -  Car1  : IR Obstruction/Edge Following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the Features: 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List of other possible Modes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Wooden fence test zig to test the modes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611409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A13A2A-59C9-5CDB-85A8-F6CDD9BCD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051DD-24CE-D570-9F62-AAB17210D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606808" name="Title 1"/>
          <p:cNvSpPr>
            <a:spLocks noGrp="1"/>
          </p:cNvSpPr>
          <p:nvPr>
            <p:ph type="title"/>
          </p:nvPr>
        </p:nvSpPr>
        <p:spPr bwMode="auto">
          <a:xfrm>
            <a:off x="0" y="19520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Car1 - Contents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4862868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B73CFF-33E6-9F71-493B-C9E499400E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5" y="1126220"/>
            <a:ext cx="5952615" cy="5033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4F31B0-0A40-583F-F41D-5640E68EFC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743" y="1035756"/>
            <a:ext cx="5306610" cy="516731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CCC8261-7F29-A897-055B-B0FC67DD789C}"/>
              </a:ext>
            </a:extLst>
          </p:cNvPr>
          <p:cNvCxnSpPr>
            <a:cxnSpLocks/>
          </p:cNvCxnSpPr>
          <p:nvPr/>
        </p:nvCxnSpPr>
        <p:spPr bwMode="auto">
          <a:xfrm>
            <a:off x="3119692" y="4267200"/>
            <a:ext cx="1432643" cy="206477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DB32E75-1289-3ADF-CB25-219F6D2361DB}"/>
              </a:ext>
            </a:extLst>
          </p:cNvPr>
          <p:cNvSpPr txBox="1"/>
          <p:nvPr/>
        </p:nvSpPr>
        <p:spPr>
          <a:xfrm>
            <a:off x="4552335" y="6234213"/>
            <a:ext cx="1860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Wall Following IR Module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9DAAAD-708E-E873-0F37-F13C86FB79A2}"/>
              </a:ext>
            </a:extLst>
          </p:cNvPr>
          <p:cNvCxnSpPr/>
          <p:nvPr/>
        </p:nvCxnSpPr>
        <p:spPr bwMode="auto">
          <a:xfrm flipH="1">
            <a:off x="1209368" y="4906297"/>
            <a:ext cx="599767" cy="142567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87D4622-85CF-03E4-F813-6A311E7E3AA0}"/>
              </a:ext>
            </a:extLst>
          </p:cNvPr>
          <p:cNvSpPr txBox="1"/>
          <p:nvPr/>
        </p:nvSpPr>
        <p:spPr bwMode="auto">
          <a:xfrm>
            <a:off x="294880" y="6339659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Line Following IR Module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3A758A-5124-A7D8-5985-22E00D8F53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688050" y="2281835"/>
            <a:ext cx="1158389" cy="32371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9B363E-0FF4-CFD6-C6DF-7E51AED3669D}"/>
              </a:ext>
            </a:extLst>
          </p:cNvPr>
          <p:cNvSpPr txBox="1"/>
          <p:nvPr/>
        </p:nvSpPr>
        <p:spPr bwMode="auto">
          <a:xfrm>
            <a:off x="294881" y="2414194"/>
            <a:ext cx="1393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Ultrasonic Mount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0BCB878-9A12-6745-9B5B-58819DF4F32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09251" y="1924782"/>
            <a:ext cx="1158389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BB8BF96-1FCB-D240-AF26-684DF84EF476}"/>
              </a:ext>
            </a:extLst>
          </p:cNvPr>
          <p:cNvSpPr txBox="1"/>
          <p:nvPr/>
        </p:nvSpPr>
        <p:spPr bwMode="auto">
          <a:xfrm>
            <a:off x="361887" y="1587095"/>
            <a:ext cx="1393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Ultrasonic Sensor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A9C1C1F-2CF6-1BF7-34CD-763527FA93DE}"/>
              </a:ext>
            </a:extLst>
          </p:cNvPr>
          <p:cNvCxnSpPr>
            <a:cxnSpLocks/>
          </p:cNvCxnSpPr>
          <p:nvPr/>
        </p:nvCxnSpPr>
        <p:spPr bwMode="auto">
          <a:xfrm flipH="1">
            <a:off x="7792303" y="4906297"/>
            <a:ext cx="909245" cy="53094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2879DD0-455D-8C27-93C4-20E9254701F3}"/>
              </a:ext>
            </a:extLst>
          </p:cNvPr>
          <p:cNvSpPr txBox="1"/>
          <p:nvPr/>
        </p:nvSpPr>
        <p:spPr bwMode="auto">
          <a:xfrm>
            <a:off x="6655202" y="5537607"/>
            <a:ext cx="2020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DC Motor Wheels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654D32-4452-56E5-CC36-C8C0C1381BAF}"/>
              </a:ext>
            </a:extLst>
          </p:cNvPr>
          <p:cNvCxnSpPr>
            <a:cxnSpLocks/>
          </p:cNvCxnSpPr>
          <p:nvPr/>
        </p:nvCxnSpPr>
        <p:spPr bwMode="auto">
          <a:xfrm flipH="1">
            <a:off x="7665254" y="3429000"/>
            <a:ext cx="1183778" cy="97697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6EE3111-CAA6-F6A4-FD35-A97E63053AB2}"/>
              </a:ext>
            </a:extLst>
          </p:cNvPr>
          <p:cNvSpPr txBox="1"/>
          <p:nvPr/>
        </p:nvSpPr>
        <p:spPr bwMode="auto">
          <a:xfrm>
            <a:off x="6566522" y="3906179"/>
            <a:ext cx="1292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Car1 Motor Controller Board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B77554-DB99-A971-10E3-11035D544697}"/>
              </a:ext>
            </a:extLst>
          </p:cNvPr>
          <p:cNvCxnSpPr>
            <a:cxnSpLocks/>
          </p:cNvCxnSpPr>
          <p:nvPr/>
        </p:nvCxnSpPr>
        <p:spPr bwMode="auto">
          <a:xfrm flipV="1">
            <a:off x="10164293" y="3060525"/>
            <a:ext cx="818339" cy="21874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E026812-C995-6BB6-73AF-87142F9BE0F9}"/>
              </a:ext>
            </a:extLst>
          </p:cNvPr>
          <p:cNvSpPr txBox="1"/>
          <p:nvPr/>
        </p:nvSpPr>
        <p:spPr bwMode="auto">
          <a:xfrm>
            <a:off x="10796658" y="5302361"/>
            <a:ext cx="1301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Battery 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Connector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CAC8B8-CA26-4E23-3245-B8D87F54D64F}"/>
              </a:ext>
            </a:extLst>
          </p:cNvPr>
          <p:cNvCxnSpPr>
            <a:cxnSpLocks/>
          </p:cNvCxnSpPr>
          <p:nvPr/>
        </p:nvCxnSpPr>
        <p:spPr bwMode="auto">
          <a:xfrm flipV="1">
            <a:off x="9554794" y="2443691"/>
            <a:ext cx="1065293" cy="34708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BEE08C0-34C1-37B8-B916-9F1E683DC9F1}"/>
              </a:ext>
            </a:extLst>
          </p:cNvPr>
          <p:cNvSpPr txBox="1"/>
          <p:nvPr/>
        </p:nvSpPr>
        <p:spPr bwMode="auto">
          <a:xfrm>
            <a:off x="10575842" y="2111444"/>
            <a:ext cx="15157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TB6612 Motor Driver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257BEF-620A-D83C-6549-B15F50EB7822}"/>
              </a:ext>
            </a:extLst>
          </p:cNvPr>
          <p:cNvCxnSpPr>
            <a:cxnSpLocks/>
          </p:cNvCxnSpPr>
          <p:nvPr/>
        </p:nvCxnSpPr>
        <p:spPr bwMode="auto">
          <a:xfrm>
            <a:off x="2862094" y="3539614"/>
            <a:ext cx="2251917" cy="65327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A56228F-654D-F956-F90D-DF832B04E13C}"/>
              </a:ext>
            </a:extLst>
          </p:cNvPr>
          <p:cNvSpPr txBox="1"/>
          <p:nvPr/>
        </p:nvSpPr>
        <p:spPr bwMode="auto">
          <a:xfrm>
            <a:off x="4458036" y="4206897"/>
            <a:ext cx="1860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Servo Motor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F9B2307-DC98-2F20-61CE-02AE08B0EF4A}"/>
              </a:ext>
            </a:extLst>
          </p:cNvPr>
          <p:cNvCxnSpPr>
            <a:cxnSpLocks/>
          </p:cNvCxnSpPr>
          <p:nvPr/>
        </p:nvCxnSpPr>
        <p:spPr bwMode="auto">
          <a:xfrm>
            <a:off x="11333740" y="3680869"/>
            <a:ext cx="0" cy="161871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DCC44B5-AB24-4ECD-958B-AA5378A07097}"/>
              </a:ext>
            </a:extLst>
          </p:cNvPr>
          <p:cNvSpPr txBox="1"/>
          <p:nvPr/>
        </p:nvSpPr>
        <p:spPr bwMode="auto">
          <a:xfrm>
            <a:off x="11001973" y="2895587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OLED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25B53A9-FD9A-A97A-2D94-50E80D0E76BE}"/>
              </a:ext>
            </a:extLst>
          </p:cNvPr>
          <p:cNvCxnSpPr>
            <a:cxnSpLocks/>
          </p:cNvCxnSpPr>
          <p:nvPr/>
        </p:nvCxnSpPr>
        <p:spPr bwMode="auto">
          <a:xfrm flipH="1">
            <a:off x="10245213" y="4151418"/>
            <a:ext cx="165438" cy="95509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73F4C95-F800-0675-8100-40F89E56F2D1}"/>
              </a:ext>
            </a:extLst>
          </p:cNvPr>
          <p:cNvSpPr txBox="1"/>
          <p:nvPr/>
        </p:nvSpPr>
        <p:spPr bwMode="auto">
          <a:xfrm>
            <a:off x="9741725" y="5008456"/>
            <a:ext cx="11264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Arduino UNO</a:t>
            </a:r>
          </a:p>
        </p:txBody>
      </p:sp>
      <p:sp>
        <p:nvSpPr>
          <p:cNvPr id="48" name="Date Placeholder 47">
            <a:extLst>
              <a:ext uri="{FF2B5EF4-FFF2-40B4-BE49-F238E27FC236}">
                <a16:creationId xmlns:a16="http://schemas.microsoft.com/office/drawing/2014/main" id="{18B95C81-8C8E-B61A-5341-7D04F09D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22F4992A-4F7D-5C67-B98C-CD26612A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5BCBA6-1180-6431-39A8-24E33B97BA9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606808" name="Title 1">
            <a:extLst>
              <a:ext uri="{FF2B5EF4-FFF2-40B4-BE49-F238E27FC236}">
                <a16:creationId xmlns:a16="http://schemas.microsoft.com/office/drawing/2014/main" id="{BA63B1C2-53D5-C684-8FB2-A95A6C2A21E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19520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Car1 - Contents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48628688" name="Picture 1">
            <a:extLst>
              <a:ext uri="{FF2B5EF4-FFF2-40B4-BE49-F238E27FC236}">
                <a16:creationId xmlns:a16="http://schemas.microsoft.com/office/drawing/2014/main" id="{8CD231AD-451B-E6B6-4016-8A9AC6B74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894AD20-01C5-E271-B9E7-43D8604EFD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186" y="1714636"/>
            <a:ext cx="6091683" cy="385874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D9527B-B077-CAB5-FF84-E4F092F62FC0}"/>
              </a:ext>
            </a:extLst>
          </p:cNvPr>
          <p:cNvCxnSpPr/>
          <p:nvPr/>
        </p:nvCxnSpPr>
        <p:spPr bwMode="auto">
          <a:xfrm flipH="1">
            <a:off x="5496233" y="4316361"/>
            <a:ext cx="599767" cy="142567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F7AFA-92A8-10EB-BFA4-80355CFF8A7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143432" y="3795252"/>
            <a:ext cx="1710812" cy="27530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083798-5065-50B2-930B-12D2271ED35E}"/>
              </a:ext>
            </a:extLst>
          </p:cNvPr>
          <p:cNvCxnSpPr>
            <a:cxnSpLocks/>
          </p:cNvCxnSpPr>
          <p:nvPr/>
        </p:nvCxnSpPr>
        <p:spPr bwMode="auto">
          <a:xfrm flipH="1">
            <a:off x="2143432" y="3062749"/>
            <a:ext cx="1912373" cy="3662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CB1B2C-514D-C82F-2654-99098F91E3C8}"/>
              </a:ext>
            </a:extLst>
          </p:cNvPr>
          <p:cNvSpPr txBox="1"/>
          <p:nvPr/>
        </p:nvSpPr>
        <p:spPr bwMode="auto">
          <a:xfrm>
            <a:off x="806158" y="3425920"/>
            <a:ext cx="1445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DC Motors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A17BBD-6E67-F2C3-248C-FFA6BD3B05E3}"/>
              </a:ext>
            </a:extLst>
          </p:cNvPr>
          <p:cNvSpPr txBox="1"/>
          <p:nvPr/>
        </p:nvSpPr>
        <p:spPr bwMode="auto">
          <a:xfrm>
            <a:off x="4124589" y="5545845"/>
            <a:ext cx="14454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18650 Li ion Battery Holder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EE0216B-FD6B-0056-FB80-ACCF1D383BF0}"/>
              </a:ext>
            </a:extLst>
          </p:cNvPr>
          <p:cNvCxnSpPr>
            <a:cxnSpLocks/>
          </p:cNvCxnSpPr>
          <p:nvPr/>
        </p:nvCxnSpPr>
        <p:spPr bwMode="auto">
          <a:xfrm>
            <a:off x="7128429" y="3529781"/>
            <a:ext cx="914383" cy="199545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E231EF4-465F-EDCB-656B-18C49A25119C}"/>
              </a:ext>
            </a:extLst>
          </p:cNvPr>
          <p:cNvSpPr txBox="1"/>
          <p:nvPr/>
        </p:nvSpPr>
        <p:spPr bwMode="auto">
          <a:xfrm>
            <a:off x="7716184" y="5588131"/>
            <a:ext cx="973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0EF8F04-1965-CC92-5FDD-A4452B6CC73F}"/>
              </a:ext>
            </a:extLst>
          </p:cNvPr>
          <p:cNvCxnSpPr>
            <a:cxnSpLocks/>
          </p:cNvCxnSpPr>
          <p:nvPr/>
        </p:nvCxnSpPr>
        <p:spPr bwMode="auto">
          <a:xfrm flipV="1">
            <a:off x="6509275" y="1207354"/>
            <a:ext cx="102939" cy="240323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E1A2AA9-85E5-D49A-DDDB-9A5B99E823FB}"/>
              </a:ext>
            </a:extLst>
          </p:cNvPr>
          <p:cNvSpPr txBox="1"/>
          <p:nvPr/>
        </p:nvSpPr>
        <p:spPr bwMode="auto">
          <a:xfrm>
            <a:off x="6641753" y="682885"/>
            <a:ext cx="973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Servo Motor</a:t>
            </a:r>
          </a:p>
        </p:txBody>
      </p:sp>
      <p:sp>
        <p:nvSpPr>
          <p:cNvPr id="39" name="Date Placeholder 38">
            <a:extLst>
              <a:ext uri="{FF2B5EF4-FFF2-40B4-BE49-F238E27FC236}">
                <a16:creationId xmlns:a16="http://schemas.microsoft.com/office/drawing/2014/main" id="{89AB2CFF-B2D4-BDD2-CF16-009A8EDEA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3AE3D320-7A39-6243-5380-B730E37F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4</a:t>
            </a:fld>
            <a:endParaRPr lang="en-GB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C31D63-49AB-A59D-48E4-8AD1A8BE12DD}"/>
              </a:ext>
            </a:extLst>
          </p:cNvPr>
          <p:cNvSpPr txBox="1"/>
          <p:nvPr/>
        </p:nvSpPr>
        <p:spPr>
          <a:xfrm>
            <a:off x="4605364" y="6418580"/>
            <a:ext cx="232307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Robot Car 1 (Back)</a:t>
            </a:r>
          </a:p>
        </p:txBody>
      </p:sp>
    </p:spTree>
    <p:extLst>
      <p:ext uri="{BB962C8B-B14F-4D97-AF65-F5344CB8AC3E}">
        <p14:creationId xmlns:p14="http://schemas.microsoft.com/office/powerpoint/2010/main" val="1663910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524180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&amp; Safety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0387889" name="TextBox 2"/>
          <p:cNvSpPr txBox="1"/>
          <p:nvPr/>
        </p:nvSpPr>
        <p:spPr bwMode="auto">
          <a:xfrm>
            <a:off x="207380" y="966334"/>
            <a:ext cx="1100490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Double-check all power connections.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correct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srgbClr val="FF715B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GND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srgbClr val="FF715B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VCC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wiring for the power supply, OLED, motor drivers, GPS, sensors, and other modules.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correct input voltage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Battery input should be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between 5V and 12V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only.</a:t>
            </a:r>
            <a:endParaRPr lang="en-US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Work on a safe surface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kit on an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insulated table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(e.g., wood) and ensure the surface is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dry and clean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lang="en-US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leaving the kit unattended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keep the system powered on without supervision.</a:t>
            </a:r>
            <a:endParaRPr lang="en-GB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Incrementally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on the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microcontroller first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then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the circuit step-by-step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wiring the entire system at once and powering it without intermediate testing.</a:t>
            </a:r>
            <a:endParaRPr lang="en-GB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b="1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18650 Battery</a:t>
            </a:r>
            <a:r>
              <a:rPr lang="en-US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Care </a:t>
            </a:r>
            <a:r>
              <a:rPr lang="en-US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lang="en-US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long battery life, charge it at regular intervals. Avoid battery complete draining (going down to 0%), Do not leave the battery unattended while charging or charge it overnight. If the battery appears swollen, leakage or bulging, do not use it. Use a proper Li-ion charger, Dispose of faulty batteries safely and responsibly.</a:t>
            </a:r>
            <a:endParaRPr lang="en-US" sz="1800" b="0" i="0" u="none" strike="noStrike" cap="none" spc="0" dirty="0">
              <a:ln>
                <a:noFill/>
              </a:ln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Robotic car is for in-door use only</a:t>
            </a: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5435560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66709508" name="Flowchart: Punched Tape 4"/>
          <p:cNvSpPr/>
          <p:nvPr/>
        </p:nvSpPr>
        <p:spPr bwMode="auto">
          <a:xfrm>
            <a:off x="9241420" y="1914265"/>
            <a:ext cx="2743200" cy="1930147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0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Always follow 4-eyes principle when it comes to checking</a:t>
            </a: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</a:t>
            </a:r>
            <a:r>
              <a:rPr lang="en-GB" sz="2400" b="1" i="0" u="sng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VCC &amp; GND</a:t>
            </a:r>
            <a:endParaRPr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FDA9C-1E5F-8E6D-F956-D6AFBF108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CEB391-C2CC-176C-869A-D7C961E9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D039F5-2AF9-88F8-38A4-20BC9AE020F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524180" name="Title 1">
            <a:extLst>
              <a:ext uri="{FF2B5EF4-FFF2-40B4-BE49-F238E27FC236}">
                <a16:creationId xmlns:a16="http://schemas.microsoft.com/office/drawing/2014/main" id="{A96AA2EE-DC03-1E14-88BA-82DE2E935E0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Orientation Guidelines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43556019" name="Picture 3">
            <a:extLst>
              <a:ext uri="{FF2B5EF4-FFF2-40B4-BE49-F238E27FC236}">
                <a16:creationId xmlns:a16="http://schemas.microsoft.com/office/drawing/2014/main" id="{26906B89-164B-0AC1-82B9-7B55F3400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5D723B-0DC2-4639-3CE9-5D8B7C76F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7CC9E-9198-E97E-6E7E-C739128B7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6</a:t>
            </a:fld>
            <a:endParaRPr lang="en-GB"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BAD5D8D-DDFA-460E-9972-080C2164097B}"/>
              </a:ext>
            </a:extLst>
          </p:cNvPr>
          <p:cNvSpPr txBox="1"/>
          <p:nvPr/>
        </p:nvSpPr>
        <p:spPr bwMode="auto">
          <a:xfrm>
            <a:off x="207380" y="966334"/>
            <a:ext cx="11004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7BB56D-643C-09C0-CE36-AA7B9DAA56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4657" y="1274877"/>
            <a:ext cx="2886839" cy="5132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F50E66-2E71-7F3F-1721-C77D04694652}"/>
              </a:ext>
            </a:extLst>
          </p:cNvPr>
          <p:cNvSpPr txBox="1"/>
          <p:nvPr/>
        </p:nvSpPr>
        <p:spPr>
          <a:xfrm>
            <a:off x="7873690" y="803109"/>
            <a:ext cx="2924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FORWARD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89BE0-109A-C207-B0EB-C3410C33ECFF}"/>
              </a:ext>
            </a:extLst>
          </p:cNvPr>
          <p:cNvSpPr txBox="1"/>
          <p:nvPr/>
        </p:nvSpPr>
        <p:spPr bwMode="auto">
          <a:xfrm>
            <a:off x="7873690" y="6458786"/>
            <a:ext cx="3078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BACKWARD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2F6570-6F61-9023-47AC-F7460D828C05}"/>
              </a:ext>
            </a:extLst>
          </p:cNvPr>
          <p:cNvSpPr txBox="1"/>
          <p:nvPr/>
        </p:nvSpPr>
        <p:spPr bwMode="auto">
          <a:xfrm rot="16200000">
            <a:off x="6301807" y="3536468"/>
            <a:ext cx="2308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LEFT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79E6A7-32DE-E893-CD91-30D5555B06F5}"/>
              </a:ext>
            </a:extLst>
          </p:cNvPr>
          <p:cNvSpPr txBox="1"/>
          <p:nvPr/>
        </p:nvSpPr>
        <p:spPr bwMode="auto">
          <a:xfrm rot="5400000">
            <a:off x="9706292" y="3656290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RIGHT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497C75B8-39AD-B30F-5B07-17DE9BD55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64" y="1972496"/>
            <a:ext cx="6152322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 It is good practice to follow consistent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orientation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terminology when navigating the car.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 As a guideline, we use the car’s orientation shown in this picture</a:t>
            </a:r>
            <a:r>
              <a:rPr lang="en-US" altLang="en-US" sz="2800" dirty="0">
                <a:solidFill>
                  <a:schemeClr val="bg1"/>
                </a:solidFill>
                <a:latin typeface="Arial" panose="020B0604020202020204" pitchFamily="34" charset="0"/>
              </a:rPr>
              <a:t>   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the car is facing away from you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8036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20162" name="Title 1"/>
          <p:cNvSpPr>
            <a:spLocks noGrp="1"/>
          </p:cNvSpPr>
          <p:nvPr>
            <p:ph type="title"/>
          </p:nvPr>
        </p:nvSpPr>
        <p:spPr bwMode="auto">
          <a:xfrm>
            <a:off x="10884" y="-4988"/>
            <a:ext cx="10515600" cy="11782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 Driver Module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70597223" name="Picture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70025617" name="TextBox 10"/>
          <p:cNvSpPr txBox="1"/>
          <p:nvPr/>
        </p:nvSpPr>
        <p:spPr bwMode="auto">
          <a:xfrm>
            <a:off x="5255040" y="1326051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TB 6612 Motor Driver</a:t>
            </a:r>
            <a:endParaRPr dirty="0"/>
          </a:p>
        </p:txBody>
      </p:sp>
      <p:sp>
        <p:nvSpPr>
          <p:cNvPr id="225172678" name="TextBox 11"/>
          <p:cNvSpPr txBox="1"/>
          <p:nvPr/>
        </p:nvSpPr>
        <p:spPr bwMode="auto">
          <a:xfrm>
            <a:off x="9235900" y="2150073"/>
            <a:ext cx="2861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TT  DC Motor Driver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dirty="0">
                <a:solidFill>
                  <a:srgbClr val="8ECAE6"/>
                </a:solidFill>
                <a:latin typeface="Aptos"/>
              </a:rPr>
              <a:t>(130 RPM, 6V)</a:t>
            </a:r>
            <a:endParaRPr dirty="0"/>
          </a:p>
        </p:txBody>
      </p:sp>
      <p:pic>
        <p:nvPicPr>
          <p:cNvPr id="1574858720" name="Picture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7763" y="3172801"/>
            <a:ext cx="3025402" cy="2255715"/>
          </a:xfrm>
          <a:prstGeom prst="rect">
            <a:avLst/>
          </a:prstGeom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EBAC4C0-56E8-E7F6-E0C7-E651D6BDB022}"/>
              </a:ext>
            </a:extLst>
          </p:cNvPr>
          <p:cNvSpPr txBox="1"/>
          <p:nvPr/>
        </p:nvSpPr>
        <p:spPr bwMode="auto">
          <a:xfrm>
            <a:off x="1954758" y="4386179"/>
            <a:ext cx="24465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solidFill>
                  <a:srgbClr val="219EBC"/>
                </a:solidFill>
                <a:latin typeface="Aptos"/>
              </a:rPr>
              <a:t>Right</a:t>
            </a:r>
            <a:r>
              <a:rPr lang="en-GB" sz="1800" b="1" i="0" u="sng" strike="noStrike" cap="none" spc="0" dirty="0">
                <a:ln>
                  <a:noFill/>
                </a:ln>
                <a:solidFill>
                  <a:srgbClr val="219EBC"/>
                </a:solidFill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A-IN1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3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A-IN2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4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PWMA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5</a:t>
            </a: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Aptos"/>
              <a:ea typeface="+mn-ea"/>
              <a:cs typeface="+mn-c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69A929C4-ED20-68A7-042C-AC5A30024BA6}"/>
              </a:ext>
            </a:extLst>
          </p:cNvPr>
          <p:cNvSpPr txBox="1"/>
          <p:nvPr/>
        </p:nvSpPr>
        <p:spPr bwMode="auto">
          <a:xfrm>
            <a:off x="5562802" y="4386178"/>
            <a:ext cx="2496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solidFill>
                  <a:srgbClr val="219EBC"/>
                </a:solidFill>
                <a:latin typeface="Aptos"/>
              </a:rPr>
              <a:t>Left</a:t>
            </a:r>
            <a:r>
              <a:rPr lang="en-GB" sz="1800" b="1" i="0" u="sng" strike="noStrike" cap="none" spc="0" dirty="0">
                <a:ln>
                  <a:noFill/>
                </a:ln>
                <a:solidFill>
                  <a:srgbClr val="219EBC"/>
                </a:solidFill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B-IN1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8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B-IN2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no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7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PWMB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no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6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FB7F44-E7A1-E4DC-0785-E7D55AFFE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06644" y="1664095"/>
            <a:ext cx="3043008" cy="2015237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224BDC8-2BDA-36F9-5286-4E85B0F3E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750128" y="1787716"/>
            <a:ext cx="1729890" cy="1767993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F6E80A-353E-1AB1-FE80-067F9700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C5887-F42B-AB36-837B-EE54EE9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206442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67460504" name="TextBox 3"/>
          <p:cNvSpPr txBox="1"/>
          <p:nvPr/>
        </p:nvSpPr>
        <p:spPr bwMode="auto">
          <a:xfrm>
            <a:off x="422818" y="1774094"/>
            <a:ext cx="4884671" cy="286232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// ============== Pin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Definitions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==========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Left Motor</a:t>
            </a:r>
            <a:endParaRPr dirty="0"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Left1 7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Left2 8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</a:t>
            </a:r>
            <a:r>
              <a:rPr lang="en-US" dirty="0" err="1">
                <a:solidFill>
                  <a:schemeClr val="bg1"/>
                </a:solidFill>
              </a:rPr>
              <a:t>Left_Speed</a:t>
            </a:r>
            <a:r>
              <a:rPr lang="en-US" dirty="0">
                <a:solidFill>
                  <a:schemeClr val="bg1"/>
                </a:solidFill>
              </a:rPr>
              <a:t> 6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it-IT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</a:t>
            </a:r>
            <a:r>
              <a:rPr lang="it-IT" sz="1800" b="0" i="0" u="none" strike="noStrike" cap="none" spc="0" dirty="0" err="1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Right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 Motor</a:t>
            </a:r>
            <a:endParaRPr dirty="0"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Right1 3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Right2 4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</a:t>
            </a:r>
            <a:r>
              <a:rPr lang="en-US" dirty="0" err="1">
                <a:solidFill>
                  <a:schemeClr val="bg1"/>
                </a:solidFill>
              </a:rPr>
              <a:t>Right_Speed</a:t>
            </a:r>
            <a:r>
              <a:rPr lang="en-US" dirty="0">
                <a:solidFill>
                  <a:schemeClr val="bg1"/>
                </a:solidFill>
              </a:rPr>
              <a:t> 5</a:t>
            </a:r>
          </a:p>
        </p:txBody>
      </p:sp>
      <p:sp>
        <p:nvSpPr>
          <p:cNvPr id="1477010180" name="TextBox 4"/>
          <p:cNvSpPr txBox="1"/>
          <p:nvPr/>
        </p:nvSpPr>
        <p:spPr bwMode="auto"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3600" b="1" i="0" u="none" strike="noStrike" cap="none" spc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Please test each direction in </a:t>
            </a:r>
            <a:r>
              <a:rPr lang="en-GB" sz="36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isolation</a:t>
            </a:r>
            <a:endParaRPr lang="en-GB" sz="1800" b="0" i="0" u="none" strike="noStrike" cap="none" spc="0">
              <a:ln>
                <a:noFill/>
              </a:ln>
              <a:solidFill>
                <a:srgbClr val="FF715B"/>
              </a:solidFill>
              <a:latin typeface="Aptos"/>
              <a:ea typeface="+mn-ea"/>
              <a:cs typeface="+mn-cs"/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Forward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Backward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Left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Right</a:t>
            </a:r>
            <a:endParaRPr/>
          </a:p>
        </p:txBody>
      </p:sp>
      <p:pic>
        <p:nvPicPr>
          <p:cNvPr id="223090054" name="Picture 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9222827" name="TextBox 9"/>
          <p:cNvSpPr txBox="1"/>
          <p:nvPr/>
        </p:nvSpPr>
        <p:spPr bwMode="auto"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If incorrect direction,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then swap IN1/IN2 pins of the corresponding motor</a:t>
            </a:r>
            <a:endParaRPr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GB" sz="2400" b="1" i="0" u="none" strike="noStrike" cap="none" spc="0">
              <a:ln>
                <a:noFill/>
              </a:ln>
              <a:solidFill>
                <a:srgbClr val="F9CB40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Expected Output: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 car moves in the desired direction</a:t>
            </a:r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9364B4-2240-D5AD-58C9-B17652C5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58435-332F-107D-CD94-BCBF0EFB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525157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5711142" cy="132556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38332744" name="Table 71662374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2477995"/>
              </p:ext>
            </p:extLst>
          </p:nvPr>
        </p:nvGraphicFramePr>
        <p:xfrm>
          <a:off x="887211" y="1728317"/>
          <a:ext cx="6664223" cy="46830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2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2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76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284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Left1 7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Left2 8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Left_Speed</a:t>
                      </a:r>
                      <a:r>
                        <a:rPr lang="en-US" sz="1400" dirty="0"/>
                        <a:t> 6</a:t>
                      </a:r>
                    </a:p>
                    <a:p>
                      <a:pPr>
                        <a:defRPr/>
                      </a:pPr>
                      <a:endParaRPr lang="en-GB" sz="1400" dirty="0"/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Right1 3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Right2 4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Right_Speed</a:t>
                      </a:r>
                      <a:r>
                        <a:rPr lang="en-US" sz="1400" dirty="0"/>
                        <a:t> 5</a:t>
                      </a:r>
                      <a:endParaRPr sz="1400"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setup():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Set all motor control pins as OUTPUT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loop():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lang="en-US" sz="1400" b="1" i="0" u="none" strike="noStrike" cap="none" spc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Set motor speed to medium (127)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  forward() 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backward()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turnRight</a:t>
                      </a:r>
                      <a:r>
                        <a:rPr sz="1400" dirty="0"/>
                        <a:t>()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turnLeft</a:t>
                      </a:r>
                      <a:r>
                        <a:rPr sz="1400" dirty="0"/>
                        <a:t>() 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Stop()         // 1.5 sec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 dirty="0"/>
                        <a:t>forward():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backward():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turnRight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turnLeft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Stop():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All pins LOW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73976664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0B0BB-238E-6CCC-D860-12561B6C4286}"/>
              </a:ext>
            </a:extLst>
          </p:cNvPr>
          <p:cNvSpPr txBox="1"/>
          <p:nvPr/>
        </p:nvSpPr>
        <p:spPr>
          <a:xfrm>
            <a:off x="7834294" y="3429000"/>
            <a:ext cx="3836596" cy="2031325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chemeClr val="accent4"/>
                </a:solidFill>
              </a:rPr>
              <a:t>Link for the Code: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https://github.com/info-zas/Training/tree/main/GPREC/04_Navigational_Robot_Car-1-Sensors/01_Code/01_Car1_Basic_Movements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D191C76-FDCA-EC42-7D1C-976AFC0E9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0C7C2-6EAA-A5CC-BFBF-93F745A59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826978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6128278" cy="102005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 Sensor Calibration Steps</a:t>
            </a:r>
            <a:b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(Wall Following Module)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5988213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EE4F3A82-B1D7-260A-BD33-743F1FD8F5EC}"/>
              </a:ext>
            </a:extLst>
          </p:cNvPr>
          <p:cNvSpPr txBox="1"/>
          <p:nvPr/>
        </p:nvSpPr>
        <p:spPr bwMode="auto">
          <a:xfrm>
            <a:off x="255089" y="1323857"/>
            <a:ext cx="726513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lang="en-GB" sz="2000" b="1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Slide Switch S2 (on Motor Controller Board) to Power ON the ‘Wall Following Module’.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‘Power LED’  of the ‘Wall Following Module’ will be ON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all the knobs of  </a:t>
            </a: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blue potentiometers </a:t>
            </a:r>
            <a:r>
              <a:rPr lang="en-GB" sz="20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‘clockwise/anticlockwise’ fully.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the LEDs (L, C1, C2, R) are all will be OFF/ON (same state)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four IR modules (Left, Centre Left, Centre Right, Right)                                                                                                        have to be individually calibrated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calibrate one (For example: Centre Left IR Module),  keep obstruction at the ‘required’ distance and turn the appropriate blue knob until the C1 LED is </a:t>
            </a:r>
            <a:r>
              <a:rPr lang="en-GB" sz="2000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‘just’ </a:t>
            </a: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Remove the hand. C1 LED will be OFF. Now Centre Left IR module is calibrated.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Repeat the above steps to all the other IR modules to calibrate to required distance. </a:t>
            </a:r>
          </a:p>
          <a:p>
            <a:pPr marR="0" lvl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lang="en-GB" sz="2000" b="1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lang="en-GB" sz="2000" b="1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8E9CEA-DBFF-B83F-0EEA-1DC71097E1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824609" y="468451"/>
            <a:ext cx="2402805" cy="17108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E3D71A-492B-F5DE-0F4B-4CB16B32B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99" y="2626634"/>
            <a:ext cx="3043084" cy="19941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039356-81A7-9677-F43C-8A4DF426B4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999" y="4736117"/>
            <a:ext cx="3043084" cy="200136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E3F388-DCEC-13F5-E0FC-A82AC2111514}"/>
              </a:ext>
            </a:extLst>
          </p:cNvPr>
          <p:cNvCxnSpPr/>
          <p:nvPr/>
        </p:nvCxnSpPr>
        <p:spPr bwMode="auto">
          <a:xfrm flipH="1">
            <a:off x="7536423" y="1160206"/>
            <a:ext cx="130277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8E70D6-62AE-0FDC-0403-7D959DA81C72}"/>
              </a:ext>
            </a:extLst>
          </p:cNvPr>
          <p:cNvSpPr txBox="1"/>
          <p:nvPr/>
        </p:nvSpPr>
        <p:spPr bwMode="auto">
          <a:xfrm>
            <a:off x="6327826" y="987288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Power LED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F61886-204B-AE4B-210B-0C64D5742E36}"/>
              </a:ext>
            </a:extLst>
          </p:cNvPr>
          <p:cNvCxnSpPr>
            <a:cxnSpLocks/>
          </p:cNvCxnSpPr>
          <p:nvPr/>
        </p:nvCxnSpPr>
        <p:spPr bwMode="auto">
          <a:xfrm>
            <a:off x="9264446" y="5814639"/>
            <a:ext cx="1659193" cy="1732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F605D26-6E3F-7712-DCF2-27EF51E64F75}"/>
              </a:ext>
            </a:extLst>
          </p:cNvPr>
          <p:cNvSpPr txBox="1"/>
          <p:nvPr/>
        </p:nvSpPr>
        <p:spPr bwMode="auto">
          <a:xfrm>
            <a:off x="10746659" y="5993331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Left C1 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4E983-14A0-11B6-6039-40C04E08C900}"/>
              </a:ext>
            </a:extLst>
          </p:cNvPr>
          <p:cNvSpPr txBox="1"/>
          <p:nvPr/>
        </p:nvSpPr>
        <p:spPr>
          <a:xfrm>
            <a:off x="8642555" y="3569109"/>
            <a:ext cx="511277" cy="215444"/>
          </a:xfrm>
          <a:prstGeom prst="rect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GB" sz="800" dirty="0"/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02C6A295-B423-CB37-E042-2D2D589E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7B217DF5-4973-BE18-2211-1E7B85B1F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62D78-0CA1-57FA-2788-EA615F5FC1D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826978" name="Title 1">
            <a:extLst>
              <a:ext uri="{FF2B5EF4-FFF2-40B4-BE49-F238E27FC236}">
                <a16:creationId xmlns:a16="http://schemas.microsoft.com/office/drawing/2014/main" id="{9EB0480D-09B1-1383-908B-5BF8FDF44E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6327826" cy="10200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 Sensor Calibration Steps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59882132" name="Picture 1">
            <a:extLst>
              <a:ext uri="{FF2B5EF4-FFF2-40B4-BE49-F238E27FC236}">
                <a16:creationId xmlns:a16="http://schemas.microsoft.com/office/drawing/2014/main" id="{6E00A8A1-4D0E-FB76-8968-7CFA6A19A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99BA3846-CB09-5151-9A10-E53C456985FF}"/>
              </a:ext>
            </a:extLst>
          </p:cNvPr>
          <p:cNvSpPr txBox="1"/>
          <p:nvPr/>
        </p:nvSpPr>
        <p:spPr bwMode="auto">
          <a:xfrm>
            <a:off x="193578" y="973392"/>
            <a:ext cx="594067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 can check the </a:t>
            </a:r>
            <a:r>
              <a:rPr lang="en-GB" sz="24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IR sensors values in the </a:t>
            </a:r>
            <a:r>
              <a:rPr lang="en-GB" sz="2400" b="1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Serial Monitor </a:t>
            </a:r>
            <a:r>
              <a:rPr lang="en-GB" sz="24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by using the following code. 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Note: If the sensor is calibrated properly the sensor readings toggle between 0 and 1 with/without  obstruction.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12684-F760-B230-0072-222A2003D6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824609" y="468451"/>
            <a:ext cx="2402805" cy="17108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350FD1-95E6-7E91-76AF-E2BF620313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99" y="2626634"/>
            <a:ext cx="3043084" cy="19941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55A638-3F33-91F4-C51D-FF69777E7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999" y="4736117"/>
            <a:ext cx="3043084" cy="200136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32DAF8A-E63C-3769-3311-F06E2BA01F81}"/>
              </a:ext>
            </a:extLst>
          </p:cNvPr>
          <p:cNvCxnSpPr/>
          <p:nvPr/>
        </p:nvCxnSpPr>
        <p:spPr bwMode="auto">
          <a:xfrm flipH="1">
            <a:off x="7536423" y="1160206"/>
            <a:ext cx="130277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2DB9F7-D0DD-1468-9157-464BF9C1FAE3}"/>
              </a:ext>
            </a:extLst>
          </p:cNvPr>
          <p:cNvSpPr txBox="1"/>
          <p:nvPr/>
        </p:nvSpPr>
        <p:spPr bwMode="auto">
          <a:xfrm>
            <a:off x="6327826" y="987288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Power LED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7EBA6C-9859-4469-7305-9BDF115E55E4}"/>
              </a:ext>
            </a:extLst>
          </p:cNvPr>
          <p:cNvCxnSpPr>
            <a:cxnSpLocks/>
          </p:cNvCxnSpPr>
          <p:nvPr/>
        </p:nvCxnSpPr>
        <p:spPr bwMode="auto">
          <a:xfrm>
            <a:off x="9264446" y="5814639"/>
            <a:ext cx="1659193" cy="1732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6DFC013-EC1D-A414-E774-1A61400C93D2}"/>
              </a:ext>
            </a:extLst>
          </p:cNvPr>
          <p:cNvSpPr txBox="1"/>
          <p:nvPr/>
        </p:nvSpPr>
        <p:spPr bwMode="auto">
          <a:xfrm>
            <a:off x="10746659" y="5993331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Left C1 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543794-F511-764F-EE05-1E9C30FD3534}"/>
              </a:ext>
            </a:extLst>
          </p:cNvPr>
          <p:cNvSpPr txBox="1"/>
          <p:nvPr/>
        </p:nvSpPr>
        <p:spPr>
          <a:xfrm>
            <a:off x="8642555" y="3569109"/>
            <a:ext cx="511277" cy="215444"/>
          </a:xfrm>
          <a:prstGeom prst="rect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1D907-951D-DDE6-976E-DE7EB3B758BE}"/>
              </a:ext>
            </a:extLst>
          </p:cNvPr>
          <p:cNvSpPr txBox="1"/>
          <p:nvPr/>
        </p:nvSpPr>
        <p:spPr>
          <a:xfrm>
            <a:off x="361026" y="3727264"/>
            <a:ext cx="6218902" cy="92333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https://github.com/info-zas/Training/tree/main/GPREC/04_Navigational_Robot_Car-1-Sensors/01_Code/02_Car1_IR_Sensor_Calibration</a:t>
            </a:r>
          </a:p>
        </p:txBody>
      </p:sp>
      <p:sp>
        <p:nvSpPr>
          <p:cNvPr id="5" name="Flowchart: Punched Tape 8">
            <a:extLst>
              <a:ext uri="{FF2B5EF4-FFF2-40B4-BE49-F238E27FC236}">
                <a16:creationId xmlns:a16="http://schemas.microsoft.com/office/drawing/2014/main" id="{2B270108-D19F-0613-B6A6-8CBFC512971A}"/>
              </a:ext>
            </a:extLst>
          </p:cNvPr>
          <p:cNvSpPr/>
          <p:nvPr/>
        </p:nvSpPr>
        <p:spPr bwMode="auto">
          <a:xfrm>
            <a:off x="3632881" y="4987163"/>
            <a:ext cx="3185932" cy="2001364"/>
          </a:xfrm>
          <a:prstGeom prst="flowChartPunchedTap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IR Sensor is Very Sensitive to Infrared Light from the Sun so Avoid Direct/Indirect Sun Light if Possible</a:t>
            </a:r>
            <a:endParaRPr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3269BC-7828-AC76-BE12-1977A7DC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8D2EE9-ACD6-4650-82D4-2D543D037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891443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7177548" cy="9853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2 : IR Obstruction Avoidance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77818073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5636032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076202697" name="TextBox 3"/>
          <p:cNvSpPr txBox="1"/>
          <p:nvPr/>
        </p:nvSpPr>
        <p:spPr bwMode="auto">
          <a:xfrm>
            <a:off x="660161" y="1020634"/>
            <a:ext cx="99969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purpose of this exercise is to test IR sensor calibration for Obstacle Avoidance or Edge Following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0">
              <a:defRPr/>
            </a:pPr>
            <a:endParaRPr lang="en-GB" sz="2400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 to get familiarity with the usage of the test zig (boundary wall fence)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805404085" name="Picture 5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714500" y="2696617"/>
            <a:ext cx="8763000" cy="395307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D6B28D-77D6-4545-D069-67EB857E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4026F1-AA00-E41D-7D31-E239D9008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12</a:t>
            </a:fld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50861" name="Title 1"/>
          <p:cNvSpPr>
            <a:spLocks noGrp="1"/>
          </p:cNvSpPr>
          <p:nvPr>
            <p:ph type="title"/>
          </p:nvPr>
        </p:nvSpPr>
        <p:spPr bwMode="auto">
          <a:xfrm>
            <a:off x="1" y="0"/>
            <a:ext cx="7069394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2 : IR Obstruction Avoidance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08645543" name="Picture 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485423380" name="Flowchart: Punched Tape 8"/>
          <p:cNvSpPr/>
          <p:nvPr/>
        </p:nvSpPr>
        <p:spPr bwMode="auto">
          <a:xfrm>
            <a:off x="6821737" y="2527790"/>
            <a:ext cx="3851530" cy="2588251"/>
          </a:xfrm>
          <a:prstGeom prst="flowChartPunchedTap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IR Sensor is Very Sensitive to Infrared Light from the Sun so Avoid Direct/Indirect Sun Light if Possible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DDD9D5-1377-39F3-6A87-F0934E5C1333}"/>
              </a:ext>
            </a:extLst>
          </p:cNvPr>
          <p:cNvSpPr txBox="1"/>
          <p:nvPr/>
        </p:nvSpPr>
        <p:spPr>
          <a:xfrm>
            <a:off x="474406" y="5934670"/>
            <a:ext cx="6218902" cy="923330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https://github.com/info-zas/Training/tree/main/GPREC/04_Navigational_Robot_Car-1-Sensors/01_Code/03_Car1_IR_Obstruction_Avoidance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DC15B-D9E7-66CD-213D-950D1AF24E5A}"/>
              </a:ext>
            </a:extLst>
          </p:cNvPr>
          <p:cNvSpPr txBox="1"/>
          <p:nvPr/>
        </p:nvSpPr>
        <p:spPr>
          <a:xfrm>
            <a:off x="612058" y="1028343"/>
            <a:ext cx="3232354" cy="4801314"/>
          </a:xfrm>
          <a:prstGeom prst="rect">
            <a:avLst/>
          </a:prstGeom>
          <a:noFill/>
          <a:ln w="38100">
            <a:solidFill>
              <a:schemeClr val="accent3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setup()</a:t>
            </a:r>
          </a:p>
          <a:p>
            <a:r>
              <a:rPr lang="en-GB" dirty="0">
                <a:solidFill>
                  <a:schemeClr val="bg1"/>
                </a:solidFill>
              </a:rPr>
              <a:t>  start Serial</a:t>
            </a:r>
          </a:p>
          <a:p>
            <a:r>
              <a:rPr lang="en-GB" dirty="0">
                <a:solidFill>
                  <a:schemeClr val="bg1"/>
                </a:solidFill>
              </a:rPr>
              <a:t>  set all motor pins as OUTPUT</a:t>
            </a:r>
          </a:p>
          <a:p>
            <a:r>
              <a:rPr lang="en-GB" dirty="0">
                <a:solidFill>
                  <a:schemeClr val="bg1"/>
                </a:solidFill>
              </a:rPr>
              <a:t>  set IR pins A1, A2 as INPUT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loop()</a:t>
            </a:r>
          </a:p>
          <a:p>
            <a:r>
              <a:rPr lang="en-GB" dirty="0">
                <a:solidFill>
                  <a:schemeClr val="bg1"/>
                </a:solidFill>
              </a:rPr>
              <a:t>  set motor speeds (PWM)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read ir1 = </a:t>
            </a:r>
            <a:r>
              <a:rPr lang="en-GB" dirty="0" err="1">
                <a:solidFill>
                  <a:schemeClr val="bg1"/>
                </a:solidFill>
              </a:rPr>
              <a:t>digitalRead</a:t>
            </a:r>
            <a:r>
              <a:rPr lang="en-GB" dirty="0">
                <a:solidFill>
                  <a:schemeClr val="bg1"/>
                </a:solidFill>
              </a:rPr>
              <a:t>(A1)</a:t>
            </a:r>
          </a:p>
          <a:p>
            <a:r>
              <a:rPr lang="en-GB" dirty="0">
                <a:solidFill>
                  <a:schemeClr val="bg1"/>
                </a:solidFill>
              </a:rPr>
              <a:t>  read ir2 = </a:t>
            </a:r>
            <a:r>
              <a:rPr lang="en-GB" dirty="0" err="1">
                <a:solidFill>
                  <a:schemeClr val="bg1"/>
                </a:solidFill>
              </a:rPr>
              <a:t>digitalRead</a:t>
            </a:r>
            <a:r>
              <a:rPr lang="en-GB" dirty="0">
                <a:solidFill>
                  <a:schemeClr val="bg1"/>
                </a:solidFill>
              </a:rPr>
              <a:t>(A2)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print ir1, ir2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if ir1 == 0 AND ir2 == 0:</a:t>
            </a:r>
          </a:p>
          <a:p>
            <a:r>
              <a:rPr lang="en-GB" dirty="0">
                <a:solidFill>
                  <a:schemeClr val="bg1"/>
                </a:solidFill>
              </a:rPr>
              <a:t>        forward()</a:t>
            </a:r>
          </a:p>
          <a:p>
            <a:r>
              <a:rPr lang="en-GB" dirty="0">
                <a:solidFill>
                  <a:schemeClr val="bg1"/>
                </a:solidFill>
              </a:rPr>
              <a:t>  else:</a:t>
            </a:r>
          </a:p>
          <a:p>
            <a:r>
              <a:rPr lang="en-GB" dirty="0">
                <a:solidFill>
                  <a:schemeClr val="bg1"/>
                </a:solidFill>
              </a:rPr>
              <a:t>        stop()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7DCE8B-46B2-B8BC-6481-480C7ECC9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25838-1A80-4925-300C-675F5229C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13</a:t>
            </a:fld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940672" name="Title 1"/>
          <p:cNvSpPr>
            <a:spLocks noGrp="1"/>
          </p:cNvSpPr>
          <p:nvPr>
            <p:ph type="title"/>
          </p:nvPr>
        </p:nvSpPr>
        <p:spPr bwMode="auto">
          <a:xfrm>
            <a:off x="0" y="18307"/>
            <a:ext cx="5427406" cy="97809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1 – Further Modes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46917911" name="Content Placeholder 2"/>
          <p:cNvSpPr>
            <a:spLocks noGrp="1"/>
          </p:cNvSpPr>
          <p:nvPr>
            <p:ph idx="1"/>
          </p:nvPr>
        </p:nvSpPr>
        <p:spPr bwMode="auto">
          <a:xfrm>
            <a:off x="571670" y="1393929"/>
            <a:ext cx="3971767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Autofit/>
          </a:bodyPr>
          <a:lstStyle/>
          <a:p>
            <a:pPr marL="0" indent="0">
              <a:buNone/>
              <a:defRPr/>
            </a:pPr>
            <a:r>
              <a:rPr lang="en-GB" sz="1800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Modes/Algorithms</a:t>
            </a:r>
            <a:endParaRPr sz="1800" dirty="0">
              <a:solidFill>
                <a:schemeClr val="accent5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Hands-on Training for Car-1</a:t>
            </a:r>
            <a:b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Modes: </a:t>
            </a: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Infrared Obstacle Avoidance 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Ultrasound Obstacle Avoidance</a:t>
            </a:r>
            <a:endParaRPr lang="en-GB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Line Following</a:t>
            </a: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Pit Avoidance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 Following</a:t>
            </a: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External Wall Following - Left,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External Wall Following - Right,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Internal Wall Following - Right,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Internal Wall Following - Left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IR Remote.</a:t>
            </a:r>
            <a:endParaRPr lang="en-GB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Bluetooth.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/>
              <a:buNone/>
              <a:defRPr/>
            </a:pP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79853314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49F64232-140B-926B-E9FC-B77AE357D741}"/>
              </a:ext>
            </a:extLst>
          </p:cNvPr>
          <p:cNvSpPr txBox="1"/>
          <p:nvPr/>
        </p:nvSpPr>
        <p:spPr bwMode="auto">
          <a:xfrm>
            <a:off x="417820" y="790275"/>
            <a:ext cx="999695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</a:rPr>
              <a:t>Using Car1, further 10+ modes can be carried out. </a:t>
            </a:r>
          </a:p>
          <a:p>
            <a:pPr lvl="0">
              <a:defRPr/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0A917-4AF4-0006-E193-EE3447CAB353}"/>
              </a:ext>
            </a:extLst>
          </p:cNvPr>
          <p:cNvSpPr txBox="1"/>
          <p:nvPr/>
        </p:nvSpPr>
        <p:spPr>
          <a:xfrm>
            <a:off x="5600646" y="6313645"/>
            <a:ext cx="6218902" cy="369332"/>
          </a:xfrm>
          <a:prstGeom prst="rect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https://github.com/info-zas/zas-robotics-car-1-sensors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16B24B-84F8-E408-4FEF-4B5C4E151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118A2-2900-2466-E3ED-C8100FB99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14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F16E17-AD93-C50C-13D5-3C915B5D5E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088" y="1338024"/>
            <a:ext cx="5389024" cy="455709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40378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2860135" cy="132556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0171902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82200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AD5B66-1714-8684-8464-3B128E3BF774}"/>
              </a:ext>
            </a:extLst>
          </p:cNvPr>
          <p:cNvSpPr txBox="1"/>
          <p:nvPr/>
        </p:nvSpPr>
        <p:spPr>
          <a:xfrm>
            <a:off x="1376515" y="1443841"/>
            <a:ext cx="84065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this presentation, we explored Car 1 based on sensors – The First Car in the ZAS Robotics Navigational Series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 explored a basic car movements, IR calibration, Obstruction avoidance using IR sensors.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Next in the Series: We explore Car 2 based on Communication module – to control the car wirelessly using various communication technologies.</a:t>
            </a:r>
            <a:endParaRPr lang="en-GB" sz="2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C4E61-9109-3203-E487-EF2C3970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9A869-F421-62A1-F22F-D24917A18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15</a:t>
            </a:fld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265F23-E2B4-C9BA-B5E4-E606437832A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40378" name="Title 1">
            <a:extLst>
              <a:ext uri="{FF2B5EF4-FFF2-40B4-BE49-F238E27FC236}">
                <a16:creationId xmlns:a16="http://schemas.microsoft.com/office/drawing/2014/main" id="{87858F98-FEB7-35DA-C105-ED517448B20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3" y="0"/>
            <a:ext cx="6498072" cy="132556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 Following Algorithm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01719022" name="Picture 1">
            <a:extLst>
              <a:ext uri="{FF2B5EF4-FFF2-40B4-BE49-F238E27FC236}">
                <a16:creationId xmlns:a16="http://schemas.microsoft.com/office/drawing/2014/main" id="{DD5F824F-D11D-3F32-277B-6052953155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82200" y="0"/>
            <a:ext cx="2100150" cy="56605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3E8E4-852A-A021-D44E-A9A652DE2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8EC008-DDA2-71DB-BEA6-FFD7BB2A8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16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3CE539-3935-5576-43D4-8ACAF570A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690" y="64955"/>
            <a:ext cx="3955026" cy="672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752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7874A6-5FA7-8879-63DB-A88886234A0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9732AEB-7874-7FC2-EC7B-9A7243BEAE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9105191" y="1644623"/>
            <a:ext cx="2013415" cy="3579404"/>
          </a:xfrm>
          <a:prstGeom prst="rect">
            <a:avLst/>
          </a:prstGeom>
        </p:spPr>
      </p:pic>
      <p:sp>
        <p:nvSpPr>
          <p:cNvPr id="1917826978" name="Title 1">
            <a:extLst>
              <a:ext uri="{FF2B5EF4-FFF2-40B4-BE49-F238E27FC236}">
                <a16:creationId xmlns:a16="http://schemas.microsoft.com/office/drawing/2014/main" id="{A52503AA-E200-06C4-57AD-70BF2C1F969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6128278" cy="102005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 Sensor Calibration Steps</a:t>
            </a:r>
            <a:b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(Line Following Module)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59882132" name="Picture 1">
            <a:extLst>
              <a:ext uri="{FF2B5EF4-FFF2-40B4-BE49-F238E27FC236}">
                <a16:creationId xmlns:a16="http://schemas.microsoft.com/office/drawing/2014/main" id="{5F93BFB9-B76F-09F9-6D09-213138E2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18963E91-C148-5865-4998-159D3D62C84B}"/>
              </a:ext>
            </a:extLst>
          </p:cNvPr>
          <p:cNvSpPr txBox="1"/>
          <p:nvPr/>
        </p:nvSpPr>
        <p:spPr bwMode="auto">
          <a:xfrm>
            <a:off x="197707" y="1079280"/>
            <a:ext cx="77772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Slide Switch S2 (on Motor Controller Board) to Power ON the ‘Line Following Module’.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‘Power LED’ of ‘Line Following Module’ will be ON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all the knobs of  </a:t>
            </a: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blue potentiometers </a:t>
            </a:r>
            <a:r>
              <a:rPr lang="en-GB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‘clockwise/anticlockwise’ fully</a:t>
            </a: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(it doesn’t matter which direction you choose</a:t>
            </a:r>
            <a:r>
              <a:rPr lang="en-GB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.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the LEDs (L, C1, C2, R)  will be OFF/ON (same state)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four IR modules (Left, Centre Left, Centre Right, Right)                                                                                                        have to be individually calibrated.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basic line following, calibration of only the centre right and centre left are enough. For advanced line following you can choose to calibrate all 4 IR sensors.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calibrate one IR Module (For example: Centre Right IR Module),  keep the IR LEDs (particularly black one) of that module on the black line and turn the appropriate blue knob until the C2 LED is </a:t>
            </a:r>
            <a:r>
              <a:rPr lang="en-GB" b="1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“just”</a:t>
            </a:r>
            <a:r>
              <a:rPr lang="en-GB" b="1" dirty="0">
                <a:solidFill>
                  <a:srgbClr val="FF0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OFF.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Move the IR Module away from the line. C2 LED will be ON. Now Centre Right IR module is calibrated.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Repeat the above steps to all the other IR modules to calibrate to required distance. </a:t>
            </a:r>
          </a:p>
          <a:p>
            <a:pPr marR="0" lvl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lang="en-GB" b="1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lang="en-GB" b="1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C37BE9-0516-CDFB-82CA-928D7BE0253D}"/>
              </a:ext>
            </a:extLst>
          </p:cNvPr>
          <p:cNvSpPr txBox="1"/>
          <p:nvPr/>
        </p:nvSpPr>
        <p:spPr bwMode="auto">
          <a:xfrm>
            <a:off x="7392710" y="835385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Power LED</a:t>
            </a:r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EC3364B0-5D28-B421-5BD8-FF96FAAC2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07/12/2025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311BF45-E264-8F37-969E-F350FFF56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17</a:t>
            </a:fld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EC017E-A23E-8BC4-1DDD-AC500AC94D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10428" y="-188980"/>
            <a:ext cx="2141075" cy="287950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E3F796-85FE-0C0F-1D5E-9821156BC13E}"/>
              </a:ext>
            </a:extLst>
          </p:cNvPr>
          <p:cNvCxnSpPr/>
          <p:nvPr/>
        </p:nvCxnSpPr>
        <p:spPr bwMode="auto">
          <a:xfrm flipH="1">
            <a:off x="7791721" y="1192899"/>
            <a:ext cx="130277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1B0979F0-24A2-597A-D825-9286A884691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9105191" y="3925065"/>
            <a:ext cx="2013415" cy="3579405"/>
          </a:xfrm>
          <a:prstGeom prst="rect">
            <a:avLst/>
          </a:pr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1672CF-9B47-9E06-710D-32FD8D6CB765}"/>
              </a:ext>
            </a:extLst>
          </p:cNvPr>
          <p:cNvSpPr/>
          <p:nvPr/>
        </p:nvSpPr>
        <p:spPr>
          <a:xfrm>
            <a:off x="9282896" y="4838992"/>
            <a:ext cx="482943" cy="589536"/>
          </a:xfrm>
          <a:custGeom>
            <a:avLst/>
            <a:gdLst>
              <a:gd name="connsiteX0" fmla="*/ 232187 w 371092"/>
              <a:gd name="connsiteY0" fmla="*/ 23724 h 614033"/>
              <a:gd name="connsiteX1" fmla="*/ 93290 w 371092"/>
              <a:gd name="connsiteY1" fmla="*/ 70023 h 614033"/>
              <a:gd name="connsiteX2" fmla="*/ 58566 w 371092"/>
              <a:gd name="connsiteY2" fmla="*/ 139471 h 614033"/>
              <a:gd name="connsiteX3" fmla="*/ 35417 w 371092"/>
              <a:gd name="connsiteY3" fmla="*/ 162621 h 614033"/>
              <a:gd name="connsiteX4" fmla="*/ 693 w 371092"/>
              <a:gd name="connsiteY4" fmla="*/ 313091 h 614033"/>
              <a:gd name="connsiteX5" fmla="*/ 12268 w 371092"/>
              <a:gd name="connsiteY5" fmla="*/ 521436 h 614033"/>
              <a:gd name="connsiteX6" fmla="*/ 70141 w 371092"/>
              <a:gd name="connsiteY6" fmla="*/ 602459 h 614033"/>
              <a:gd name="connsiteX7" fmla="*/ 128014 w 371092"/>
              <a:gd name="connsiteY7" fmla="*/ 614033 h 614033"/>
              <a:gd name="connsiteX8" fmla="*/ 232187 w 371092"/>
              <a:gd name="connsiteY8" fmla="*/ 602459 h 614033"/>
              <a:gd name="connsiteX9" fmla="*/ 278485 w 371092"/>
              <a:gd name="connsiteY9" fmla="*/ 579309 h 614033"/>
              <a:gd name="connsiteX10" fmla="*/ 324784 w 371092"/>
              <a:gd name="connsiteY10" fmla="*/ 567734 h 614033"/>
              <a:gd name="connsiteX11" fmla="*/ 371083 w 371092"/>
              <a:gd name="connsiteY11" fmla="*/ 417264 h 614033"/>
              <a:gd name="connsiteX12" fmla="*/ 359508 w 371092"/>
              <a:gd name="connsiteY12" fmla="*/ 127897 h 614033"/>
              <a:gd name="connsiteX13" fmla="*/ 336359 w 371092"/>
              <a:gd name="connsiteY13" fmla="*/ 93172 h 614033"/>
              <a:gd name="connsiteX14" fmla="*/ 324784 w 371092"/>
              <a:gd name="connsiteY14" fmla="*/ 58448 h 614033"/>
              <a:gd name="connsiteX15" fmla="*/ 243761 w 371092"/>
              <a:gd name="connsiteY15" fmla="*/ 575 h 614033"/>
              <a:gd name="connsiteX16" fmla="*/ 232187 w 371092"/>
              <a:gd name="connsiteY16" fmla="*/ 23724 h 6140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71092" h="614033">
                <a:moveTo>
                  <a:pt x="232187" y="23724"/>
                </a:moveTo>
                <a:cubicBezTo>
                  <a:pt x="207108" y="35299"/>
                  <a:pt x="125327" y="43326"/>
                  <a:pt x="93290" y="70023"/>
                </a:cubicBezTo>
                <a:cubicBezTo>
                  <a:pt x="58169" y="99290"/>
                  <a:pt x="79105" y="105239"/>
                  <a:pt x="58566" y="139471"/>
                </a:cubicBezTo>
                <a:cubicBezTo>
                  <a:pt x="52951" y="148829"/>
                  <a:pt x="43133" y="154904"/>
                  <a:pt x="35417" y="162621"/>
                </a:cubicBezTo>
                <a:cubicBezTo>
                  <a:pt x="26851" y="196882"/>
                  <a:pt x="1271" y="297471"/>
                  <a:pt x="693" y="313091"/>
                </a:cubicBezTo>
                <a:cubicBezTo>
                  <a:pt x="-1881" y="382599"/>
                  <a:pt x="2870" y="452518"/>
                  <a:pt x="12268" y="521436"/>
                </a:cubicBezTo>
                <a:cubicBezTo>
                  <a:pt x="15337" y="543943"/>
                  <a:pt x="49212" y="591994"/>
                  <a:pt x="70141" y="602459"/>
                </a:cubicBezTo>
                <a:cubicBezTo>
                  <a:pt x="87737" y="611257"/>
                  <a:pt x="108723" y="610175"/>
                  <a:pt x="128014" y="614033"/>
                </a:cubicBezTo>
                <a:cubicBezTo>
                  <a:pt x="162738" y="610175"/>
                  <a:pt x="198144" y="610315"/>
                  <a:pt x="232187" y="602459"/>
                </a:cubicBezTo>
                <a:cubicBezTo>
                  <a:pt x="249000" y="598579"/>
                  <a:pt x="262329" y="585368"/>
                  <a:pt x="278485" y="579309"/>
                </a:cubicBezTo>
                <a:cubicBezTo>
                  <a:pt x="293380" y="573723"/>
                  <a:pt x="309351" y="571592"/>
                  <a:pt x="324784" y="567734"/>
                </a:cubicBezTo>
                <a:cubicBezTo>
                  <a:pt x="372903" y="503576"/>
                  <a:pt x="371083" y="522335"/>
                  <a:pt x="371083" y="417264"/>
                </a:cubicBezTo>
                <a:cubicBezTo>
                  <a:pt x="371083" y="320731"/>
                  <a:pt x="369792" y="223880"/>
                  <a:pt x="359508" y="127897"/>
                </a:cubicBezTo>
                <a:cubicBezTo>
                  <a:pt x="358026" y="114065"/>
                  <a:pt x="342580" y="105615"/>
                  <a:pt x="336359" y="93172"/>
                </a:cubicBezTo>
                <a:cubicBezTo>
                  <a:pt x="330903" y="82259"/>
                  <a:pt x="331552" y="68600"/>
                  <a:pt x="324784" y="58448"/>
                </a:cubicBezTo>
                <a:cubicBezTo>
                  <a:pt x="308191" y="33559"/>
                  <a:pt x="272728" y="7817"/>
                  <a:pt x="243761" y="575"/>
                </a:cubicBezTo>
                <a:cubicBezTo>
                  <a:pt x="228789" y="-3168"/>
                  <a:pt x="257266" y="12149"/>
                  <a:pt x="232187" y="23724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98B946-59F1-837F-93AA-139AECEED09C}"/>
              </a:ext>
            </a:extLst>
          </p:cNvPr>
          <p:cNvSpPr txBox="1"/>
          <p:nvPr/>
        </p:nvSpPr>
        <p:spPr>
          <a:xfrm>
            <a:off x="8219953" y="2987840"/>
            <a:ext cx="1400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Both LEDs on the Black Line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A75C13B-0403-BDBA-A25F-ECE5AC9FCAFA}"/>
              </a:ext>
            </a:extLst>
          </p:cNvPr>
          <p:cNvSpPr/>
          <p:nvPr/>
        </p:nvSpPr>
        <p:spPr>
          <a:xfrm>
            <a:off x="9051403" y="3333509"/>
            <a:ext cx="649302" cy="544010"/>
          </a:xfrm>
          <a:custGeom>
            <a:avLst/>
            <a:gdLst>
              <a:gd name="connsiteX0" fmla="*/ 0 w 649302"/>
              <a:gd name="connsiteY0" fmla="*/ 509286 h 544010"/>
              <a:gd name="connsiteX1" fmla="*/ 81022 w 649302"/>
              <a:gd name="connsiteY1" fmla="*/ 520861 h 544010"/>
              <a:gd name="connsiteX2" fmla="*/ 127321 w 649302"/>
              <a:gd name="connsiteY2" fmla="*/ 532435 h 544010"/>
              <a:gd name="connsiteX3" fmla="*/ 196769 w 649302"/>
              <a:gd name="connsiteY3" fmla="*/ 544010 h 544010"/>
              <a:gd name="connsiteX4" fmla="*/ 532435 w 649302"/>
              <a:gd name="connsiteY4" fmla="*/ 486137 h 544010"/>
              <a:gd name="connsiteX5" fmla="*/ 601883 w 649302"/>
              <a:gd name="connsiteY5" fmla="*/ 428263 h 544010"/>
              <a:gd name="connsiteX6" fmla="*/ 625032 w 649302"/>
              <a:gd name="connsiteY6" fmla="*/ 358815 h 544010"/>
              <a:gd name="connsiteX7" fmla="*/ 648182 w 649302"/>
              <a:gd name="connsiteY7" fmla="*/ 196769 h 544010"/>
              <a:gd name="connsiteX8" fmla="*/ 648182 w 649302"/>
              <a:gd name="connsiteY8" fmla="*/ 0 h 5440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9302" h="544010">
                <a:moveTo>
                  <a:pt x="0" y="509286"/>
                </a:moveTo>
                <a:cubicBezTo>
                  <a:pt x="27007" y="513144"/>
                  <a:pt x="54180" y="515981"/>
                  <a:pt x="81022" y="520861"/>
                </a:cubicBezTo>
                <a:cubicBezTo>
                  <a:pt x="96673" y="523707"/>
                  <a:pt x="111722" y="529315"/>
                  <a:pt x="127321" y="532435"/>
                </a:cubicBezTo>
                <a:cubicBezTo>
                  <a:pt x="150334" y="537038"/>
                  <a:pt x="173620" y="540152"/>
                  <a:pt x="196769" y="544010"/>
                </a:cubicBezTo>
                <a:cubicBezTo>
                  <a:pt x="231899" y="539428"/>
                  <a:pt x="447697" y="528506"/>
                  <a:pt x="532435" y="486137"/>
                </a:cubicBezTo>
                <a:cubicBezTo>
                  <a:pt x="559952" y="472378"/>
                  <a:pt x="580656" y="449490"/>
                  <a:pt x="601883" y="428263"/>
                </a:cubicBezTo>
                <a:cubicBezTo>
                  <a:pt x="609599" y="405114"/>
                  <a:pt x="620246" y="382743"/>
                  <a:pt x="625032" y="358815"/>
                </a:cubicBezTo>
                <a:cubicBezTo>
                  <a:pt x="637193" y="298014"/>
                  <a:pt x="645563" y="264852"/>
                  <a:pt x="648182" y="196769"/>
                </a:cubicBezTo>
                <a:cubicBezTo>
                  <a:pt x="650703" y="131228"/>
                  <a:pt x="648182" y="65590"/>
                  <a:pt x="648182" y="0"/>
                </a:cubicBezTo>
              </a:path>
            </a:pathLst>
          </a:custGeom>
          <a:noFill/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1ABC8F0-A0BC-46BE-8ED6-4F994F6B530A}"/>
              </a:ext>
            </a:extLst>
          </p:cNvPr>
          <p:cNvSpPr/>
          <p:nvPr/>
        </p:nvSpPr>
        <p:spPr bwMode="auto">
          <a:xfrm>
            <a:off x="9527892" y="2721404"/>
            <a:ext cx="671341" cy="614033"/>
          </a:xfrm>
          <a:custGeom>
            <a:avLst/>
            <a:gdLst>
              <a:gd name="connsiteX0" fmla="*/ 232187 w 371092"/>
              <a:gd name="connsiteY0" fmla="*/ 23724 h 614033"/>
              <a:gd name="connsiteX1" fmla="*/ 93290 w 371092"/>
              <a:gd name="connsiteY1" fmla="*/ 70023 h 614033"/>
              <a:gd name="connsiteX2" fmla="*/ 58566 w 371092"/>
              <a:gd name="connsiteY2" fmla="*/ 139471 h 614033"/>
              <a:gd name="connsiteX3" fmla="*/ 35417 w 371092"/>
              <a:gd name="connsiteY3" fmla="*/ 162621 h 614033"/>
              <a:gd name="connsiteX4" fmla="*/ 693 w 371092"/>
              <a:gd name="connsiteY4" fmla="*/ 313091 h 614033"/>
              <a:gd name="connsiteX5" fmla="*/ 12268 w 371092"/>
              <a:gd name="connsiteY5" fmla="*/ 521436 h 614033"/>
              <a:gd name="connsiteX6" fmla="*/ 70141 w 371092"/>
              <a:gd name="connsiteY6" fmla="*/ 602459 h 614033"/>
              <a:gd name="connsiteX7" fmla="*/ 128014 w 371092"/>
              <a:gd name="connsiteY7" fmla="*/ 614033 h 614033"/>
              <a:gd name="connsiteX8" fmla="*/ 232187 w 371092"/>
              <a:gd name="connsiteY8" fmla="*/ 602459 h 614033"/>
              <a:gd name="connsiteX9" fmla="*/ 278485 w 371092"/>
              <a:gd name="connsiteY9" fmla="*/ 579309 h 614033"/>
              <a:gd name="connsiteX10" fmla="*/ 324784 w 371092"/>
              <a:gd name="connsiteY10" fmla="*/ 567734 h 614033"/>
              <a:gd name="connsiteX11" fmla="*/ 371083 w 371092"/>
              <a:gd name="connsiteY11" fmla="*/ 417264 h 614033"/>
              <a:gd name="connsiteX12" fmla="*/ 359508 w 371092"/>
              <a:gd name="connsiteY12" fmla="*/ 127897 h 614033"/>
              <a:gd name="connsiteX13" fmla="*/ 336359 w 371092"/>
              <a:gd name="connsiteY13" fmla="*/ 93172 h 614033"/>
              <a:gd name="connsiteX14" fmla="*/ 324784 w 371092"/>
              <a:gd name="connsiteY14" fmla="*/ 58448 h 614033"/>
              <a:gd name="connsiteX15" fmla="*/ 243761 w 371092"/>
              <a:gd name="connsiteY15" fmla="*/ 575 h 614033"/>
              <a:gd name="connsiteX16" fmla="*/ 232187 w 371092"/>
              <a:gd name="connsiteY16" fmla="*/ 23724 h 6140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71092" h="614033">
                <a:moveTo>
                  <a:pt x="232187" y="23724"/>
                </a:moveTo>
                <a:cubicBezTo>
                  <a:pt x="207108" y="35299"/>
                  <a:pt x="125327" y="43326"/>
                  <a:pt x="93290" y="70023"/>
                </a:cubicBezTo>
                <a:cubicBezTo>
                  <a:pt x="58169" y="99290"/>
                  <a:pt x="79105" y="105239"/>
                  <a:pt x="58566" y="139471"/>
                </a:cubicBezTo>
                <a:cubicBezTo>
                  <a:pt x="52951" y="148829"/>
                  <a:pt x="43133" y="154904"/>
                  <a:pt x="35417" y="162621"/>
                </a:cubicBezTo>
                <a:cubicBezTo>
                  <a:pt x="26851" y="196882"/>
                  <a:pt x="1271" y="297471"/>
                  <a:pt x="693" y="313091"/>
                </a:cubicBezTo>
                <a:cubicBezTo>
                  <a:pt x="-1881" y="382599"/>
                  <a:pt x="2870" y="452518"/>
                  <a:pt x="12268" y="521436"/>
                </a:cubicBezTo>
                <a:cubicBezTo>
                  <a:pt x="15337" y="543943"/>
                  <a:pt x="49212" y="591994"/>
                  <a:pt x="70141" y="602459"/>
                </a:cubicBezTo>
                <a:cubicBezTo>
                  <a:pt x="87737" y="611257"/>
                  <a:pt x="108723" y="610175"/>
                  <a:pt x="128014" y="614033"/>
                </a:cubicBezTo>
                <a:cubicBezTo>
                  <a:pt x="162738" y="610175"/>
                  <a:pt x="198144" y="610315"/>
                  <a:pt x="232187" y="602459"/>
                </a:cubicBezTo>
                <a:cubicBezTo>
                  <a:pt x="249000" y="598579"/>
                  <a:pt x="262329" y="585368"/>
                  <a:pt x="278485" y="579309"/>
                </a:cubicBezTo>
                <a:cubicBezTo>
                  <a:pt x="293380" y="573723"/>
                  <a:pt x="309351" y="571592"/>
                  <a:pt x="324784" y="567734"/>
                </a:cubicBezTo>
                <a:cubicBezTo>
                  <a:pt x="372903" y="503576"/>
                  <a:pt x="371083" y="522335"/>
                  <a:pt x="371083" y="417264"/>
                </a:cubicBezTo>
                <a:cubicBezTo>
                  <a:pt x="371083" y="320731"/>
                  <a:pt x="369792" y="223880"/>
                  <a:pt x="359508" y="127897"/>
                </a:cubicBezTo>
                <a:cubicBezTo>
                  <a:pt x="358026" y="114065"/>
                  <a:pt x="342580" y="105615"/>
                  <a:pt x="336359" y="93172"/>
                </a:cubicBezTo>
                <a:cubicBezTo>
                  <a:pt x="330903" y="82259"/>
                  <a:pt x="331552" y="68600"/>
                  <a:pt x="324784" y="58448"/>
                </a:cubicBezTo>
                <a:cubicBezTo>
                  <a:pt x="308191" y="33559"/>
                  <a:pt x="272728" y="7817"/>
                  <a:pt x="243761" y="575"/>
                </a:cubicBezTo>
                <a:cubicBezTo>
                  <a:pt x="228789" y="-3168"/>
                  <a:pt x="257266" y="12149"/>
                  <a:pt x="232187" y="23724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rgbClr val="FF0000"/>
                </a:solidFill>
              </a:ln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DA9EA6-DE6D-2545-B117-610EAF7F8305}"/>
              </a:ext>
            </a:extLst>
          </p:cNvPr>
          <p:cNvSpPr txBox="1"/>
          <p:nvPr/>
        </p:nvSpPr>
        <p:spPr bwMode="auto">
          <a:xfrm>
            <a:off x="7742840" y="4636130"/>
            <a:ext cx="1400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</a:lstStyle>
          <a:p>
            <a:r>
              <a:rPr lang="en-GB" dirty="0">
                <a:solidFill>
                  <a:schemeClr val="accent1"/>
                </a:solidFill>
              </a:rPr>
              <a:t>Both LEDs away from Blackline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A2DB192-DC5D-3456-4200-78E849688990}"/>
              </a:ext>
            </a:extLst>
          </p:cNvPr>
          <p:cNvSpPr/>
          <p:nvPr/>
        </p:nvSpPr>
        <p:spPr>
          <a:xfrm>
            <a:off x="9871258" y="5033453"/>
            <a:ext cx="210291" cy="256177"/>
          </a:xfrm>
          <a:custGeom>
            <a:avLst/>
            <a:gdLst>
              <a:gd name="connsiteX0" fmla="*/ 163993 w 210291"/>
              <a:gd name="connsiteY0" fmla="*/ 1534 h 256177"/>
              <a:gd name="connsiteX1" fmla="*/ 59820 w 210291"/>
              <a:gd name="connsiteY1" fmla="*/ 70982 h 256177"/>
              <a:gd name="connsiteX2" fmla="*/ 36671 w 210291"/>
              <a:gd name="connsiteY2" fmla="*/ 105706 h 256177"/>
              <a:gd name="connsiteX3" fmla="*/ 13522 w 210291"/>
              <a:gd name="connsiteY3" fmla="*/ 128856 h 256177"/>
              <a:gd name="connsiteX4" fmla="*/ 25096 w 210291"/>
              <a:gd name="connsiteY4" fmla="*/ 233028 h 256177"/>
              <a:gd name="connsiteX5" fmla="*/ 71395 w 210291"/>
              <a:gd name="connsiteY5" fmla="*/ 256177 h 256177"/>
              <a:gd name="connsiteX6" fmla="*/ 198717 w 210291"/>
              <a:gd name="connsiteY6" fmla="*/ 198304 h 256177"/>
              <a:gd name="connsiteX7" fmla="*/ 210291 w 210291"/>
              <a:gd name="connsiteY7" fmla="*/ 140431 h 256177"/>
              <a:gd name="connsiteX8" fmla="*/ 163993 w 210291"/>
              <a:gd name="connsiteY8" fmla="*/ 1534 h 2561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0291" h="256177">
                <a:moveTo>
                  <a:pt x="163993" y="1534"/>
                </a:moveTo>
                <a:cubicBezTo>
                  <a:pt x="138914" y="-10041"/>
                  <a:pt x="83931" y="46871"/>
                  <a:pt x="59820" y="70982"/>
                </a:cubicBezTo>
                <a:cubicBezTo>
                  <a:pt x="49983" y="80819"/>
                  <a:pt x="45361" y="94843"/>
                  <a:pt x="36671" y="105706"/>
                </a:cubicBezTo>
                <a:cubicBezTo>
                  <a:pt x="29854" y="114228"/>
                  <a:pt x="21238" y="121139"/>
                  <a:pt x="13522" y="128856"/>
                </a:cubicBezTo>
                <a:cubicBezTo>
                  <a:pt x="-576" y="171148"/>
                  <a:pt x="-12299" y="183168"/>
                  <a:pt x="25096" y="233028"/>
                </a:cubicBezTo>
                <a:cubicBezTo>
                  <a:pt x="35449" y="246832"/>
                  <a:pt x="55962" y="248461"/>
                  <a:pt x="71395" y="256177"/>
                </a:cubicBezTo>
                <a:cubicBezTo>
                  <a:pt x="136813" y="241640"/>
                  <a:pt x="176302" y="258076"/>
                  <a:pt x="198717" y="198304"/>
                </a:cubicBezTo>
                <a:cubicBezTo>
                  <a:pt x="205625" y="179884"/>
                  <a:pt x="206433" y="159722"/>
                  <a:pt x="210291" y="140431"/>
                </a:cubicBezTo>
                <a:cubicBezTo>
                  <a:pt x="198368" y="9267"/>
                  <a:pt x="189072" y="13109"/>
                  <a:pt x="163993" y="1534"/>
                </a:cubicBezTo>
                <a:close/>
              </a:path>
            </a:pathLst>
          </a:cu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0727824-0DD6-0F0A-F415-55BE68F86828}"/>
              </a:ext>
            </a:extLst>
          </p:cNvPr>
          <p:cNvSpPr/>
          <p:nvPr/>
        </p:nvSpPr>
        <p:spPr>
          <a:xfrm>
            <a:off x="8831484" y="5324354"/>
            <a:ext cx="1226916" cy="880174"/>
          </a:xfrm>
          <a:custGeom>
            <a:avLst/>
            <a:gdLst>
              <a:gd name="connsiteX0" fmla="*/ 1226916 w 1226916"/>
              <a:gd name="connsiteY0" fmla="*/ 0 h 880174"/>
              <a:gd name="connsiteX1" fmla="*/ 1215341 w 1226916"/>
              <a:gd name="connsiteY1" fmla="*/ 57874 h 880174"/>
              <a:gd name="connsiteX2" fmla="*/ 1192192 w 1226916"/>
              <a:gd name="connsiteY2" fmla="*/ 150471 h 880174"/>
              <a:gd name="connsiteX3" fmla="*/ 1134319 w 1226916"/>
              <a:gd name="connsiteY3" fmla="*/ 335666 h 880174"/>
              <a:gd name="connsiteX4" fmla="*/ 1064870 w 1226916"/>
              <a:gd name="connsiteY4" fmla="*/ 451413 h 880174"/>
              <a:gd name="connsiteX5" fmla="*/ 1006997 w 1226916"/>
              <a:gd name="connsiteY5" fmla="*/ 555585 h 880174"/>
              <a:gd name="connsiteX6" fmla="*/ 891250 w 1226916"/>
              <a:gd name="connsiteY6" fmla="*/ 648183 h 880174"/>
              <a:gd name="connsiteX7" fmla="*/ 833377 w 1226916"/>
              <a:gd name="connsiteY7" fmla="*/ 694481 h 880174"/>
              <a:gd name="connsiteX8" fmla="*/ 798653 w 1226916"/>
              <a:gd name="connsiteY8" fmla="*/ 706056 h 880174"/>
              <a:gd name="connsiteX9" fmla="*/ 555584 w 1226916"/>
              <a:gd name="connsiteY9" fmla="*/ 810228 h 880174"/>
              <a:gd name="connsiteX10" fmla="*/ 416688 w 1226916"/>
              <a:gd name="connsiteY10" fmla="*/ 833378 h 880174"/>
              <a:gd name="connsiteX11" fmla="*/ 289367 w 1226916"/>
              <a:gd name="connsiteY11" fmla="*/ 868102 h 880174"/>
              <a:gd name="connsiteX12" fmla="*/ 0 w 1226916"/>
              <a:gd name="connsiteY12" fmla="*/ 879676 h 88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6916" h="880174">
                <a:moveTo>
                  <a:pt x="1226916" y="0"/>
                </a:moveTo>
                <a:cubicBezTo>
                  <a:pt x="1223058" y="19291"/>
                  <a:pt x="1219765" y="38704"/>
                  <a:pt x="1215341" y="57874"/>
                </a:cubicBezTo>
                <a:cubicBezTo>
                  <a:pt x="1208187" y="88875"/>
                  <a:pt x="1198858" y="119362"/>
                  <a:pt x="1192192" y="150471"/>
                </a:cubicBezTo>
                <a:cubicBezTo>
                  <a:pt x="1174237" y="234262"/>
                  <a:pt x="1188533" y="245310"/>
                  <a:pt x="1134319" y="335666"/>
                </a:cubicBezTo>
                <a:cubicBezTo>
                  <a:pt x="1111169" y="374248"/>
                  <a:pt x="1081580" y="409637"/>
                  <a:pt x="1064870" y="451413"/>
                </a:cubicBezTo>
                <a:cubicBezTo>
                  <a:pt x="1047779" y="494142"/>
                  <a:pt x="1041911" y="523356"/>
                  <a:pt x="1006997" y="555585"/>
                </a:cubicBezTo>
                <a:cubicBezTo>
                  <a:pt x="970691" y="589098"/>
                  <a:pt x="929832" y="617317"/>
                  <a:pt x="891250" y="648183"/>
                </a:cubicBezTo>
                <a:cubicBezTo>
                  <a:pt x="871959" y="663616"/>
                  <a:pt x="856814" y="686669"/>
                  <a:pt x="833377" y="694481"/>
                </a:cubicBezTo>
                <a:cubicBezTo>
                  <a:pt x="821802" y="698339"/>
                  <a:pt x="809709" y="700896"/>
                  <a:pt x="798653" y="706056"/>
                </a:cubicBezTo>
                <a:cubicBezTo>
                  <a:pt x="692306" y="755685"/>
                  <a:pt x="662699" y="784724"/>
                  <a:pt x="555584" y="810228"/>
                </a:cubicBezTo>
                <a:cubicBezTo>
                  <a:pt x="509923" y="821100"/>
                  <a:pt x="462508" y="823196"/>
                  <a:pt x="416688" y="833378"/>
                </a:cubicBezTo>
                <a:cubicBezTo>
                  <a:pt x="314873" y="856004"/>
                  <a:pt x="382215" y="857179"/>
                  <a:pt x="289367" y="868102"/>
                </a:cubicBezTo>
                <a:cubicBezTo>
                  <a:pt x="155583" y="883841"/>
                  <a:pt x="137449" y="879676"/>
                  <a:pt x="0" y="879676"/>
                </a:cubicBezTo>
              </a:path>
            </a:pathLst>
          </a:custGeom>
          <a:noFill/>
          <a:ln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7B6D659-CC7C-E238-0CF6-9258FCA77ABA}"/>
              </a:ext>
            </a:extLst>
          </p:cNvPr>
          <p:cNvSpPr/>
          <p:nvPr/>
        </p:nvSpPr>
        <p:spPr>
          <a:xfrm>
            <a:off x="8738886" y="5347504"/>
            <a:ext cx="555585" cy="233682"/>
          </a:xfrm>
          <a:custGeom>
            <a:avLst/>
            <a:gdLst>
              <a:gd name="connsiteX0" fmla="*/ 555585 w 555585"/>
              <a:gd name="connsiteY0" fmla="*/ 0 h 233682"/>
              <a:gd name="connsiteX1" fmla="*/ 509286 w 555585"/>
              <a:gd name="connsiteY1" fmla="*/ 57873 h 233682"/>
              <a:gd name="connsiteX2" fmla="*/ 486137 w 555585"/>
              <a:gd name="connsiteY2" fmla="*/ 92597 h 233682"/>
              <a:gd name="connsiteX3" fmla="*/ 451413 w 555585"/>
              <a:gd name="connsiteY3" fmla="*/ 115747 h 233682"/>
              <a:gd name="connsiteX4" fmla="*/ 393539 w 555585"/>
              <a:gd name="connsiteY4" fmla="*/ 173620 h 233682"/>
              <a:gd name="connsiteX5" fmla="*/ 300942 w 555585"/>
              <a:gd name="connsiteY5" fmla="*/ 196769 h 233682"/>
              <a:gd name="connsiteX6" fmla="*/ 219919 w 555585"/>
              <a:gd name="connsiteY6" fmla="*/ 208344 h 233682"/>
              <a:gd name="connsiteX7" fmla="*/ 0 w 555585"/>
              <a:gd name="connsiteY7" fmla="*/ 231493 h 23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55585" h="233682">
                <a:moveTo>
                  <a:pt x="555585" y="0"/>
                </a:moveTo>
                <a:cubicBezTo>
                  <a:pt x="540152" y="19291"/>
                  <a:pt x="524109" y="38109"/>
                  <a:pt x="509286" y="57873"/>
                </a:cubicBezTo>
                <a:cubicBezTo>
                  <a:pt x="500939" y="69002"/>
                  <a:pt x="495973" y="82760"/>
                  <a:pt x="486137" y="92597"/>
                </a:cubicBezTo>
                <a:cubicBezTo>
                  <a:pt x="476300" y="102434"/>
                  <a:pt x="461882" y="106586"/>
                  <a:pt x="451413" y="115747"/>
                </a:cubicBezTo>
                <a:cubicBezTo>
                  <a:pt x="430881" y="133712"/>
                  <a:pt x="419421" y="164993"/>
                  <a:pt x="393539" y="173620"/>
                </a:cubicBezTo>
                <a:cubicBezTo>
                  <a:pt x="348811" y="188530"/>
                  <a:pt x="356816" y="187457"/>
                  <a:pt x="300942" y="196769"/>
                </a:cubicBezTo>
                <a:cubicBezTo>
                  <a:pt x="274031" y="201254"/>
                  <a:pt x="246595" y="202628"/>
                  <a:pt x="219919" y="208344"/>
                </a:cubicBezTo>
                <a:cubicBezTo>
                  <a:pt x="52534" y="244212"/>
                  <a:pt x="235957" y="231493"/>
                  <a:pt x="0" y="231493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5C1329-11AA-4B55-6498-5D2866699F43}"/>
              </a:ext>
            </a:extLst>
          </p:cNvPr>
          <p:cNvSpPr txBox="1"/>
          <p:nvPr/>
        </p:nvSpPr>
        <p:spPr bwMode="auto">
          <a:xfrm>
            <a:off x="7583414" y="5865847"/>
            <a:ext cx="1400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C2 LED is ON</a:t>
            </a:r>
          </a:p>
        </p:txBody>
      </p:sp>
    </p:spTree>
    <p:extLst>
      <p:ext uri="{BB962C8B-B14F-4D97-AF65-F5344CB8AC3E}">
        <p14:creationId xmlns:p14="http://schemas.microsoft.com/office/powerpoint/2010/main" val="1162657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1616</Words>
  <Application>Microsoft Office PowerPoint</Application>
  <PresentationFormat>Widescreen</PresentationFormat>
  <Paragraphs>254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Calibri Light</vt:lpstr>
      <vt:lpstr>Office Theme</vt:lpstr>
      <vt:lpstr>1_Office Theme</vt:lpstr>
      <vt:lpstr> Car 1 (Sensors) Navigational Robotics Series ZAS Robotics Training</vt:lpstr>
      <vt:lpstr>Robot Car1 Training - Objectives</vt:lpstr>
      <vt:lpstr>Robot Car1 - Contents</vt:lpstr>
      <vt:lpstr>Robot Car1 - Contents</vt:lpstr>
      <vt:lpstr>Health &amp; Safety</vt:lpstr>
      <vt:lpstr>Car Orientation Guidelines</vt:lpstr>
      <vt:lpstr>Motor Driver Module</vt:lpstr>
      <vt:lpstr>Lab 1:  Basic Movements</vt:lpstr>
      <vt:lpstr>Lab 1:  Basic Movements</vt:lpstr>
      <vt:lpstr>IR Sensor Calibration Steps (Wall Following Module)</vt:lpstr>
      <vt:lpstr>IR Sensor Calibration Steps</vt:lpstr>
      <vt:lpstr>Lab 2 : IR Obstruction Avoidance</vt:lpstr>
      <vt:lpstr>Lab 2 : IR Obstruction Avoidance</vt:lpstr>
      <vt:lpstr>Car 1 – Further Modes</vt:lpstr>
      <vt:lpstr>Summary</vt:lpstr>
      <vt:lpstr>Line Following Algorithm</vt:lpstr>
      <vt:lpstr>IR Sensor Calibration Steps (Line Following Module)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83</cp:revision>
  <dcterms:created xsi:type="dcterms:W3CDTF">2025-11-15T20:03:39Z</dcterms:created>
  <dcterms:modified xsi:type="dcterms:W3CDTF">2025-12-05T21:12:01Z</dcterms:modified>
</cp:coreProperties>
</file>