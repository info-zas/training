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19.xml" ContentType="application/vnd.openxmlformats-officedocument.presentationml.notesSlid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38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8536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938553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081605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873874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207539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47274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340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799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675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E65F0-3DD2-D815-294B-8E71C04DBEF5}" type="slidenum">
              <a:rPr/>
              <a:t>1</a:t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3242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154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763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FD46E4-0058-8968-16D4-4C62A875C58B}" type="slidenum">
              <a:rPr/>
              <a:t>2</a:t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6269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563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815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0592D0-080F-A99C-BD1E-3D8029FBF750}" type="slidenum">
              <a:rPr/>
              <a:t>3</a:t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9926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7705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298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FFA8F-62AE-87A1-1C9A-B2758EA6294C}" type="slidenum">
              <a:rPr/>
              <a:t>4</a:t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721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759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803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377EF-AB0E-4E04-502A-8773159447B2}" type="slidenum">
              <a:rPr/>
              <a:t>5</a:t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138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5970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441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4F3FFF-3806-8A78-7E02-EA47687E218A}" type="slidenum">
              <a:rPr/>
              <a:t>6</a:t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9BFFD2-D2A5-E4FC-DCEE-980CA958B203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8BACDE-892B-39DA-3B28-A8CCCC8F415C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C8939-3E88-5189-4BFF-33566C64303D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47BABA-A879-BD58-3FD5-E0DE9FC35C5C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101A66-3626-977E-294F-984E0D1C44BB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004E5A-74A0-3078-E173-351AC39B151C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CA908F-7FAB-24C7-0710-DFC59F62181A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96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1550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352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506443-09A2-4C7E-0FEA-8DC0CE5C92D5}" type="slidenum">
              <a:rPr/>
              <a:t>14</a:t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88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906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490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C76EE8-2E5D-D15A-79EB-12BAFC0C0AFB}" type="slidenum">
              <a:rPr/>
              <a:t>15</a:t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423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852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330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204FCB-4EBD-B5A3-7875-EDF2C9076ED4}" type="slidenum">
              <a:rPr/>
              <a:t>16</a:t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158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2418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520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C837A8-0E34-C67F-E458-1A7A0FFB92D5}" type="slidenum">
              <a:rPr/>
              <a:t>17</a:t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999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2990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9099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0BF6A5-E3FB-7263-6386-32C983929299}" type="slidenum">
              <a:rPr/>
              <a:t>18</a:t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1846B9-60F9-C8FA-8131-746DF48D95A0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864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84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671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C837A8-0E34-C67F-E458-1A7A0FFB92D5}" type="slidenum">
              <a:rPr/>
              <a:t>20</a:t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58177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266530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0930098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30655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041820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670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8190169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917285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11105747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848079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35829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339436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51813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8054923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079629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0135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559240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8607882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006700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9502579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333738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36075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871454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71977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2427182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466193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5460512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10806767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6013819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6621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0083320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66954823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1211326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43618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5000680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0522892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3066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2379133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859727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90924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7600034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255171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86715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7852192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20530673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22485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11268092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894098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236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048910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975992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6358069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351313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08552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3326432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545132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20514118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26766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3638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2685966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6248419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19934347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126460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3188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982723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148992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6876298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08732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7522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41256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42905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19369464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497864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3637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380486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838062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228472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10243857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386920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90209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330167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398307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9357160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3772560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092936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162064133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5714172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1797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641176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45559044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486810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65131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656707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4853554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05100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9798151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434111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294927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3076003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705323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59001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3090107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55916414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66781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5801150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59696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1217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8208391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527868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6967749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768515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23231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5752511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532034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4417099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359753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57278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170028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7138898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8FDF4E3-76A3-4A80-A70D-6B1FEC2BADEB}" type="datetimeFigureOut">
              <a:rPr lang="en-GB"/>
              <a:t>23/11/2025</a:t>
            </a:fld>
            <a:endParaRPr lang="en-GB"/>
          </a:p>
        </p:txBody>
      </p:sp>
      <p:sp>
        <p:nvSpPr>
          <p:cNvPr id="21987605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7002842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2585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399962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3870579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23/11/2025</a:t>
            </a:fld>
            <a:endParaRPr lang="en-GB"/>
          </a:p>
        </p:txBody>
      </p:sp>
      <p:sp>
        <p:nvSpPr>
          <p:cNvPr id="44757819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3086872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256249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59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Robotics Series </a:t>
            </a:r>
            <a:br>
              <a:rPr lang="en-GB">
                <a:solidFill>
                  <a:schemeClr val="bg1"/>
                </a:solidFill>
              </a:rPr>
            </a:br>
            <a:r>
              <a:rPr lang="en-GB" sz="5400">
                <a:solidFill>
                  <a:schemeClr val="accent4"/>
                </a:solidFill>
              </a:rPr>
              <a:t>Robot Car-1 (Sensors)</a:t>
            </a:r>
            <a:endParaRPr/>
          </a:p>
        </p:txBody>
      </p:sp>
      <p:sp>
        <p:nvSpPr>
          <p:cNvPr id="17235653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0897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Training Slides</a:t>
            </a:r>
            <a:endParaRPr/>
          </a:p>
        </p:txBody>
      </p:sp>
      <p:pic>
        <p:nvPicPr>
          <p:cNvPr id="370972368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149037" y="32658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404817" name="Title 1"/>
          <p:cNvSpPr>
            <a:spLocks noGrp="1"/>
          </p:cNvSpPr>
          <p:nvPr>
            <p:ph type="title"/>
          </p:nvPr>
        </p:nvSpPr>
        <p:spPr bwMode="auto">
          <a:xfrm>
            <a:off x="10883" y="-4987"/>
            <a:ext cx="10515600" cy="1005519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Car-1 (Sensors)</a:t>
            </a:r>
            <a:endParaRPr/>
          </a:p>
        </p:txBody>
      </p:sp>
      <p:sp>
        <p:nvSpPr>
          <p:cNvPr id="1195200416" name="TextBox 2"/>
          <p:cNvSpPr txBox="1"/>
          <p:nvPr/>
        </p:nvSpPr>
        <p:spPr bwMode="auto">
          <a:xfrm>
            <a:off x="142875" y="1000532"/>
            <a:ext cx="1191020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GB" sz="2400">
              <a:solidFill>
                <a:schemeClr val="bg1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schemeClr val="accent2"/>
                </a:solidFill>
              </a:rPr>
              <a:t>Review the Contents in the Box</a:t>
            </a:r>
            <a:endParaRPr/>
          </a:p>
          <a:p>
            <a:pPr marL="342900" lvl="0" indent="-342900">
              <a:buFont typeface="Arial"/>
              <a:buChar char="•"/>
              <a:defRPr/>
            </a:pPr>
            <a:endParaRPr lang="en-GB" sz="2400">
              <a:solidFill>
                <a:srgbClr val="F9CB40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srgbClr val="F9CB40"/>
                </a:solidFill>
              </a:rPr>
              <a:t>Review &amp; Discuss the Motor Controller Board, Assembly, Power Supply etc.</a:t>
            </a:r>
            <a:endParaRPr/>
          </a:p>
          <a:p>
            <a:pPr marL="342900" lvl="0" indent="-342900">
              <a:buFont typeface="Arial"/>
              <a:buChar char="•"/>
              <a:defRPr/>
            </a:pPr>
            <a:endParaRPr lang="en-GB" sz="2400">
              <a:solidFill>
                <a:srgbClr val="F9CB40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schemeClr val="accent2"/>
                </a:solidFill>
              </a:rPr>
              <a:t>Discuss the Health &amp; Safety Precautions</a:t>
            </a:r>
            <a:endParaRPr/>
          </a:p>
          <a:p>
            <a:pPr marL="342900" lvl="0" indent="-342900">
              <a:buFont typeface="Arial"/>
              <a:buChar char="•"/>
              <a:defRPr/>
            </a:pPr>
            <a:endParaRPr lang="en-GB" sz="2400">
              <a:solidFill>
                <a:prstClr val="white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schemeClr val="accent5"/>
                </a:solidFill>
              </a:rPr>
              <a:t>Practice the Following Lab</a:t>
            </a:r>
            <a:endParaRPr/>
          </a:p>
          <a:p>
            <a:pPr marL="800100" lvl="1" indent="-342900">
              <a:buFont typeface="Arial"/>
              <a:buChar char="•"/>
              <a:defRPr/>
            </a:pPr>
            <a:r>
              <a:rPr lang="en-GB" sz="2400">
                <a:solidFill>
                  <a:schemeClr val="bg1"/>
                </a:solidFill>
              </a:rPr>
              <a:t>Initial Setup - Car Basic Movements</a:t>
            </a:r>
            <a:endParaRPr/>
          </a:p>
          <a:p>
            <a:pPr marL="800100" lvl="1" indent="-342900">
              <a:buFont typeface="Arial"/>
              <a:buChar char="•"/>
              <a:defRPr/>
            </a:pPr>
            <a:r>
              <a:rPr lang="en-GB" sz="2400">
                <a:solidFill>
                  <a:schemeClr val="bg1"/>
                </a:solidFill>
              </a:rPr>
              <a:t>Calibration of IR Sensors</a:t>
            </a:r>
            <a:endParaRPr/>
          </a:p>
          <a:p>
            <a:pPr marL="800100" lvl="1" indent="-342900">
              <a:buFont typeface="Arial"/>
              <a:buChar char="•"/>
              <a:defRPr/>
            </a:pPr>
            <a:r>
              <a:rPr lang="en-GB" sz="2400">
                <a:solidFill>
                  <a:schemeClr val="bg1"/>
                </a:solidFill>
              </a:rPr>
              <a:t>IR Obstruction or Edge Following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endParaRPr lang="en-GB" sz="2400">
              <a:solidFill>
                <a:srgbClr val="F9CB40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en-GB" sz="2400">
                <a:solidFill>
                  <a:schemeClr val="accent2"/>
                </a:solidFill>
              </a:rPr>
              <a:t>Discuss the Features: </a:t>
            </a:r>
            <a:endParaRPr/>
          </a:p>
          <a:p>
            <a:pPr marL="800100" lvl="1" indent="-342900">
              <a:buFont typeface="Arial"/>
              <a:buChar char="•"/>
              <a:defRPr/>
            </a:pPr>
            <a:r>
              <a:rPr lang="en-GB" sz="2400">
                <a:solidFill>
                  <a:schemeClr val="bg1"/>
                </a:solidFill>
              </a:rPr>
              <a:t>List of other possible Modes</a:t>
            </a:r>
            <a:endParaRPr/>
          </a:p>
          <a:p>
            <a:pPr marL="800100" lvl="1" indent="-342900">
              <a:buFont typeface="Arial"/>
              <a:buChar char="•"/>
              <a:defRPr/>
            </a:pPr>
            <a:r>
              <a:rPr lang="en-GB" sz="2400">
                <a:solidFill>
                  <a:schemeClr val="bg1"/>
                </a:solidFill>
              </a:rPr>
              <a:t>Wooden fence test zig to test the modes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endParaRPr lang="en-GB" sz="2400">
              <a:solidFill>
                <a:schemeClr val="bg1"/>
              </a:solidFill>
            </a:endParaRPr>
          </a:p>
        </p:txBody>
      </p:sp>
      <p:pic>
        <p:nvPicPr>
          <p:cNvPr id="216114092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606808" name="Title 1"/>
          <p:cNvSpPr>
            <a:spLocks noGrp="1"/>
          </p:cNvSpPr>
          <p:nvPr>
            <p:ph type="title"/>
          </p:nvPr>
        </p:nvSpPr>
        <p:spPr bwMode="auto">
          <a:xfrm>
            <a:off x="0" y="19520"/>
            <a:ext cx="10515600" cy="1063532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Car-1 (Sensors)</a:t>
            </a:r>
            <a:endParaRPr/>
          </a:p>
        </p:txBody>
      </p:sp>
      <p:sp>
        <p:nvSpPr>
          <p:cNvPr id="995229767" name="Content Placeholder 2"/>
          <p:cNvSpPr>
            <a:spLocks noGrp="1"/>
          </p:cNvSpPr>
          <p:nvPr>
            <p:ph idx="1"/>
          </p:nvPr>
        </p:nvSpPr>
        <p:spPr bwMode="auto">
          <a:xfrm>
            <a:off x="185057" y="1205633"/>
            <a:ext cx="5577353" cy="48106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sz="2400">
                <a:solidFill>
                  <a:schemeClr val="accent5"/>
                </a:solidFill>
              </a:rPr>
              <a:t>List of </a:t>
            </a:r>
            <a:r>
              <a:rPr sz="2400">
                <a:solidFill>
                  <a:schemeClr val="accent5"/>
                </a:solidFill>
              </a:rPr>
              <a:t>Components</a:t>
            </a:r>
            <a:r>
              <a:rPr lang="en-GB" sz="2400">
                <a:solidFill>
                  <a:schemeClr val="accent5"/>
                </a:solidFill>
              </a:rPr>
              <a:t>/Interfaces</a:t>
            </a:r>
            <a:endParaRPr sz="2400">
              <a:solidFill>
                <a:schemeClr val="accent5"/>
              </a:solidFill>
            </a:endParaRPr>
          </a:p>
        </p:txBody>
      </p:sp>
      <p:graphicFrame>
        <p:nvGraphicFramePr>
          <p:cNvPr id="684539680" name="Table 1740993706"/>
          <p:cNvGraphicFramePr>
            <a:graphicFrameLocks xmlns:a="http://schemas.openxmlformats.org/drawingml/2006/main"/>
          </p:cNvGraphicFramePr>
          <p:nvPr/>
        </p:nvGraphicFramePr>
        <p:xfrm>
          <a:off x="185057" y="1809281"/>
          <a:ext cx="5769429" cy="502920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032169"/>
                <a:gridCol w="3737259"/>
              </a:tblGrid>
              <a:tr h="270543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 / Device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 / Role</a:t>
                      </a:r>
                      <a:endParaRPr sz="2800"/>
                    </a:p>
                  </a:txBody>
                  <a:tcPr/>
                </a:tc>
              </a:tr>
              <a:tr h="46686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Board</a:t>
                      </a:r>
                      <a:endParaRPr sz="2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Core microcontroller – handles sensor inputs and motor control</a:t>
                      </a:r>
                      <a:endParaRPr sz="2400"/>
                    </a:p>
                  </a:txBody>
                  <a:tcPr/>
                </a:tc>
              </a:tr>
              <a:tr h="27054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TB6612 Motor Driver</a:t>
                      </a:r>
                      <a:endParaRPr sz="2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Controls DC motors using PWM and direction signals</a:t>
                      </a:r>
                      <a:endParaRPr sz="2400"/>
                    </a:p>
                  </a:txBody>
                  <a:tcPr/>
                </a:tc>
              </a:tr>
              <a:tr h="27054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2× DC Gear Motors</a:t>
                      </a:r>
                      <a:endParaRPr sz="2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Drives the left and right wheels</a:t>
                      </a:r>
                      <a:endParaRPr sz="2400"/>
                    </a:p>
                  </a:txBody>
                  <a:tcPr/>
                </a:tc>
              </a:tr>
              <a:tr h="44292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Ultrasonic Sensor (HC-SR04)</a:t>
                      </a:r>
                      <a:endParaRPr sz="2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Measures distance to obstacles using trigger &amp; echo</a:t>
                      </a:r>
                      <a:endParaRPr sz="2400"/>
                    </a:p>
                  </a:txBody>
                  <a:tcPr/>
                </a:tc>
              </a:tr>
              <a:tr h="44292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 Array (4 sensors)</a:t>
                      </a:r>
                      <a:endParaRPr sz="2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 edge/pit detection and obstacle avoidance via analog/digital pins</a:t>
                      </a:r>
                      <a:endParaRPr sz="2400"/>
                    </a:p>
                  </a:txBody>
                  <a:tcPr/>
                </a:tc>
              </a:tr>
              <a:tr h="44292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Servo Motor</a:t>
                      </a:r>
                      <a:endParaRPr sz="2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Rotates ultrasonic sensor for scanning left/right/middle directions</a:t>
                      </a:r>
                      <a:endParaRPr sz="2400"/>
                    </a:p>
                  </a:txBody>
                  <a:tcPr/>
                </a:tc>
              </a:tr>
              <a:tr h="27054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</a:t>
                      </a:r>
                      <a:endParaRPr sz="2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Outputs mode, UID info (if extended), or diagnostic status</a:t>
                      </a:r>
                      <a:endParaRPr sz="2400"/>
                    </a:p>
                  </a:txBody>
                  <a:tcPr/>
                </a:tc>
              </a:tr>
              <a:tr h="27054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Optional: IR Receiver</a:t>
                      </a:r>
                      <a:r>
                        <a:rPr lang="en-GB"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/Bluetooth</a:t>
                      </a:r>
                      <a:endParaRPr sz="2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 remote control or line-following edge detection logic</a:t>
                      </a:r>
                      <a:endParaRPr sz="24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48628688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126740248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17809" y="1620138"/>
            <a:ext cx="4841883" cy="4851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826978" name="Title 1"/>
          <p:cNvSpPr>
            <a:spLocks noGrp="1"/>
          </p:cNvSpPr>
          <p:nvPr>
            <p:ph type="title"/>
          </p:nvPr>
        </p:nvSpPr>
        <p:spPr bwMode="auto">
          <a:xfrm>
            <a:off x="0" y="1"/>
            <a:ext cx="10515600" cy="102005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Car-1 (Sensors)</a:t>
            </a:r>
            <a:endParaRPr/>
          </a:p>
        </p:txBody>
      </p:sp>
      <p:sp>
        <p:nvSpPr>
          <p:cNvPr id="1954934401" name="Content Placeholder 2"/>
          <p:cNvSpPr>
            <a:spLocks noGrp="1"/>
          </p:cNvSpPr>
          <p:nvPr>
            <p:ph idx="1"/>
          </p:nvPr>
        </p:nvSpPr>
        <p:spPr bwMode="auto">
          <a:xfrm>
            <a:off x="660161" y="1020050"/>
            <a:ext cx="5936582" cy="4926397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endParaRPr sz="1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1" i="0" u="none">
                <a:solidFill>
                  <a:schemeClr val="accent5"/>
                </a:solidFill>
                <a:ea typeface="Times New Roman"/>
                <a:cs typeface="Times New Roman"/>
              </a:rPr>
              <a:t>Learning </a:t>
            </a:r>
            <a:r>
              <a:rPr lang="en-GB" sz="2600" b="1" i="0" u="none">
                <a:solidFill>
                  <a:schemeClr val="accent5"/>
                </a:solidFill>
                <a:ea typeface="Times New Roman"/>
                <a:cs typeface="Times New Roman"/>
              </a:rPr>
              <a:t>Outcomes</a:t>
            </a:r>
            <a:endParaRPr sz="2600">
              <a:solidFill>
                <a:schemeClr val="accent5"/>
              </a:solidFill>
            </a:endParaRPr>
          </a:p>
          <a:p>
            <a:pPr marL="0" indent="0">
              <a:buFont typeface="Arial"/>
              <a:buNone/>
              <a:defRPr/>
            </a:pPr>
            <a:endParaRPr sz="16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20000"/>
              </a:lnSpc>
              <a:defRPr/>
            </a:pPr>
            <a:r>
              <a:rPr sz="1900" b="0" i="0" u="none">
                <a:solidFill>
                  <a:schemeClr val="bg1"/>
                </a:solidFill>
                <a:ea typeface="Times New Roman"/>
                <a:cs typeface="Times New Roman"/>
              </a:rPr>
              <a:t>Program Arduino to control motors, sensors, and logic</a:t>
            </a:r>
            <a:endParaRPr sz="190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sz="1900" b="0" i="0" u="none">
                <a:solidFill>
                  <a:schemeClr val="bg1"/>
                </a:solidFill>
                <a:ea typeface="Times New Roman"/>
                <a:cs typeface="Times New Roman"/>
              </a:rPr>
              <a:t>Use TB6612 to drive DC motors with direction &amp; speed (PWM)</a:t>
            </a:r>
            <a:endParaRPr sz="190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sz="1900" b="0" i="0" u="none">
                <a:solidFill>
                  <a:schemeClr val="bg1"/>
                </a:solidFill>
                <a:ea typeface="Times New Roman"/>
                <a:cs typeface="Times New Roman"/>
              </a:rPr>
              <a:t>Interface Sensors: Ultrasonic (distance), IR (pit/line)</a:t>
            </a:r>
            <a:endParaRPr sz="190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sz="1900" b="0" i="0" u="none">
                <a:solidFill>
                  <a:schemeClr val="bg1"/>
                </a:solidFill>
                <a:ea typeface="Times New Roman"/>
                <a:cs typeface="Times New Roman"/>
              </a:rPr>
              <a:t>Servo-based Scanning for obstacle direction (Ultrasonic)</a:t>
            </a:r>
            <a:endParaRPr sz="190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sz="1900" b="0" i="0" u="none">
                <a:solidFill>
                  <a:schemeClr val="bg1"/>
                </a:solidFill>
                <a:ea typeface="Times New Roman"/>
                <a:cs typeface="Times New Roman"/>
              </a:rPr>
              <a:t>Write Navigation Logic: forward, stop, turn, avoid edges/pits</a:t>
            </a:r>
            <a:endParaRPr sz="190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sz="1900" b="0" i="0" u="none">
                <a:solidFill>
                  <a:schemeClr val="bg1"/>
                </a:solidFill>
                <a:ea typeface="Times New Roman"/>
                <a:cs typeface="Times New Roman"/>
              </a:rPr>
              <a:t>Display Data on OLED using I2C communication</a:t>
            </a:r>
            <a:endParaRPr sz="190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sz="1900" b="0" i="0" u="none">
                <a:solidFill>
                  <a:schemeClr val="bg1"/>
                </a:solidFill>
                <a:ea typeface="Times New Roman"/>
                <a:cs typeface="Times New Roman"/>
              </a:rPr>
              <a:t>Debug via Serial Monitor &amp; sensor feedback</a:t>
            </a:r>
            <a:endParaRPr sz="190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sz="1900" b="0" i="0" u="none">
                <a:solidFill>
                  <a:schemeClr val="bg1"/>
                </a:solidFill>
                <a:ea typeface="Times New Roman"/>
                <a:cs typeface="Times New Roman"/>
              </a:rPr>
              <a:t>Integrate Hardware &amp; Code (motors, sensors, logic flow)</a:t>
            </a:r>
            <a:endParaRPr sz="1900">
              <a:solidFill>
                <a:schemeClr val="bg1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sz="1900" b="0" i="0" u="none">
                <a:solidFill>
                  <a:schemeClr val="bg1"/>
                </a:solidFill>
                <a:ea typeface="Times New Roman"/>
                <a:cs typeface="Times New Roman"/>
              </a:rPr>
              <a:t>Foundation for Reactive Robots &amp; Path Decision Making</a:t>
            </a:r>
            <a:endParaRPr sz="3000"/>
          </a:p>
        </p:txBody>
      </p:sp>
      <p:pic>
        <p:nvPicPr>
          <p:cNvPr id="259882132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166065695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51338" y="1433200"/>
            <a:ext cx="4841884" cy="45132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940672" name="Title 1"/>
          <p:cNvSpPr>
            <a:spLocks noGrp="1"/>
          </p:cNvSpPr>
          <p:nvPr>
            <p:ph type="title"/>
          </p:nvPr>
        </p:nvSpPr>
        <p:spPr bwMode="auto">
          <a:xfrm>
            <a:off x="0" y="18307"/>
            <a:ext cx="10515600" cy="978099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Car-1 (Sensors)</a:t>
            </a:r>
            <a:endParaRPr/>
          </a:p>
        </p:txBody>
      </p:sp>
      <p:sp>
        <p:nvSpPr>
          <p:cNvPr id="1346917911" name="Content Placeholder 2"/>
          <p:cNvSpPr>
            <a:spLocks noGrp="1"/>
          </p:cNvSpPr>
          <p:nvPr>
            <p:ph idx="1"/>
          </p:nvPr>
        </p:nvSpPr>
        <p:spPr bwMode="auto">
          <a:xfrm>
            <a:off x="660161" y="1269302"/>
            <a:ext cx="3971767" cy="46771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2500" lnSpcReduction="10000"/>
          </a:bodyPr>
          <a:lstStyle/>
          <a:p>
            <a:pPr marL="0" indent="0">
              <a:buNone/>
              <a:defRPr/>
            </a:pPr>
            <a:r>
              <a:rPr lang="en-GB" sz="2900">
                <a:solidFill>
                  <a:schemeClr val="accent5"/>
                </a:solidFill>
              </a:rPr>
              <a:t>Modes/Algorithms</a:t>
            </a:r>
            <a:endParaRPr sz="2900">
              <a:solidFill>
                <a:schemeClr val="accent5"/>
              </a:solidFill>
            </a:endParaRPr>
          </a:p>
          <a:p>
            <a:pPr>
              <a:defRPr/>
            </a:pPr>
            <a:r>
              <a:rPr sz="2000" b="0" i="0" u="none">
                <a:solidFill>
                  <a:schemeClr val="bg1"/>
                </a:solidFill>
                <a:ea typeface="Aptos Display"/>
                <a:cs typeface="Aptos Display"/>
              </a:rPr>
              <a:t>Hands-on Training for Car-1</a:t>
            </a:r>
            <a:br>
              <a:rPr sz="2000" b="0" i="0" u="none">
                <a:solidFill>
                  <a:schemeClr val="bg1"/>
                </a:solidFill>
                <a:ea typeface="Aptos Display"/>
                <a:cs typeface="Aptos Display"/>
              </a:rPr>
            </a:br>
            <a:r>
              <a:rPr sz="2000" b="0" i="0" u="none">
                <a:solidFill>
                  <a:schemeClr val="bg1"/>
                </a:solidFill>
                <a:ea typeface="Aptos Display"/>
                <a:cs typeface="Aptos Display"/>
              </a:rPr>
              <a:t> Modes: </a:t>
            </a:r>
            <a:endParaRPr sz="2000" b="0" i="0" u="none">
              <a:solidFill>
                <a:schemeClr val="bg1"/>
              </a:solidFill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ea typeface="Aptos Display"/>
                <a:cs typeface="Aptos Display"/>
              </a:rPr>
              <a:t>Infrared Obstacle Avoidance </a:t>
            </a:r>
            <a:endParaRPr/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bg1"/>
                </a:solidFill>
                <a:ea typeface="Aptos Display"/>
                <a:cs typeface="Aptos Display"/>
              </a:rPr>
              <a:t>Ultrasound Obstacle Avoidance</a:t>
            </a:r>
            <a:endParaRPr lang="en-GB" sz="2000" b="0" i="0" u="none">
              <a:solidFill>
                <a:schemeClr val="bg1"/>
              </a:solidFill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ea typeface="Aptos Display"/>
                <a:cs typeface="Aptos Display"/>
              </a:rPr>
              <a:t>Line Following</a:t>
            </a:r>
            <a:endParaRPr sz="2000" b="0" i="0" u="none">
              <a:solidFill>
                <a:schemeClr val="bg1"/>
              </a:solidFill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ea typeface="Aptos Display"/>
                <a:cs typeface="Aptos Display"/>
              </a:rPr>
              <a:t>Pit Avoidance</a:t>
            </a:r>
            <a:endParaRPr/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ea typeface="Aptos Display"/>
                <a:cs typeface="Aptos Display"/>
              </a:rPr>
              <a:t>Wall Following</a:t>
            </a:r>
            <a:endParaRPr sz="2000" b="0" i="0" u="none">
              <a:solidFill>
                <a:schemeClr val="bg1"/>
              </a:solidFill>
              <a:cs typeface="Aptos Display"/>
            </a:endParaRPr>
          </a:p>
          <a:p>
            <a:pPr lvl="2">
              <a:defRPr/>
            </a:pPr>
            <a:r>
              <a:rPr lang="en-US" b="0" i="0" u="none" strike="noStrike" cap="none" spc="0">
                <a:solidFill>
                  <a:schemeClr val="bg1"/>
                </a:solidFill>
                <a:ea typeface="Aptos Display"/>
                <a:cs typeface="Aptos Display"/>
              </a:rPr>
              <a:t>External Wall Following - Left,</a:t>
            </a:r>
            <a:endParaRPr b="0" i="0" u="none" strike="noStrike" cap="none" spc="0">
              <a:solidFill>
                <a:schemeClr val="bg1"/>
              </a:solidFill>
              <a:cs typeface="Aptos Display"/>
            </a:endParaRPr>
          </a:p>
          <a:p>
            <a:pPr lvl="2">
              <a:defRPr/>
            </a:pPr>
            <a:r>
              <a:rPr lang="en-US" b="0" i="0" u="none" strike="noStrike" cap="none" spc="0">
                <a:solidFill>
                  <a:schemeClr val="bg1"/>
                </a:solidFill>
                <a:ea typeface="Aptos Display"/>
                <a:cs typeface="Aptos Display"/>
              </a:rPr>
              <a:t>External Wall Following - Right,</a:t>
            </a:r>
            <a:endParaRPr b="0" i="0" u="none" strike="noStrike" cap="none" spc="0">
              <a:solidFill>
                <a:schemeClr val="bg1"/>
              </a:solidFill>
              <a:cs typeface="Aptos Display"/>
            </a:endParaRPr>
          </a:p>
          <a:p>
            <a:pPr lvl="2">
              <a:defRPr/>
            </a:pPr>
            <a:r>
              <a:rPr lang="en-US" b="0" i="0" u="none" strike="noStrike" cap="none" spc="0">
                <a:solidFill>
                  <a:schemeClr val="bg1"/>
                </a:solidFill>
                <a:ea typeface="Aptos Display"/>
                <a:cs typeface="Aptos Display"/>
              </a:rPr>
              <a:t>Internal Wall Following - Right,</a:t>
            </a:r>
            <a:endParaRPr b="0" i="0" u="none" strike="noStrike" cap="none" spc="0">
              <a:solidFill>
                <a:schemeClr val="bg1"/>
              </a:solidFill>
              <a:ea typeface="Aptos Display"/>
              <a:cs typeface="Aptos Display"/>
            </a:endParaRPr>
          </a:p>
          <a:p>
            <a:pPr lvl="2">
              <a:defRPr/>
            </a:pPr>
            <a:r>
              <a:rPr lang="en-US" b="0" i="0" u="none" strike="noStrike" cap="none" spc="0">
                <a:solidFill>
                  <a:schemeClr val="bg1"/>
                </a:solidFill>
                <a:ea typeface="Aptos Display"/>
                <a:cs typeface="Aptos Display"/>
              </a:rPr>
              <a:t>Internal Wall Following - Left</a:t>
            </a:r>
            <a:endParaRPr/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ea typeface="Aptos Display"/>
                <a:cs typeface="Aptos Display"/>
              </a:rPr>
              <a:t>IR Remote.</a:t>
            </a:r>
            <a:endParaRPr lang="en-GB" sz="2000" b="0" i="0" u="none">
              <a:solidFill>
                <a:schemeClr val="bg1"/>
              </a:solidFill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GB" sz="2000">
                <a:solidFill>
                  <a:schemeClr val="bg1"/>
                </a:solidFill>
              </a:rPr>
              <a:t>Bluetooth.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679853314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812257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89156" y="1172376"/>
            <a:ext cx="4841883" cy="48986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403000" name="Title 1"/>
          <p:cNvSpPr>
            <a:spLocks noGrp="1"/>
          </p:cNvSpPr>
          <p:nvPr>
            <p:ph type="title"/>
          </p:nvPr>
        </p:nvSpPr>
        <p:spPr bwMode="auto">
          <a:xfrm>
            <a:off x="0" y="2766217"/>
            <a:ext cx="12192001" cy="1325562"/>
          </a:xfrm>
        </p:spPr>
        <p:txBody>
          <a:bodyPr/>
          <a:lstStyle/>
          <a:p>
            <a:pPr algn="ctr">
              <a:defRPr/>
            </a:pPr>
            <a:r>
              <a:rPr lang="en-GB">
                <a:solidFill>
                  <a:schemeClr val="bg1"/>
                </a:solidFill>
              </a:rPr>
              <a:t>Health &amp; Safety</a:t>
            </a:r>
            <a:endParaRPr/>
          </a:p>
        </p:txBody>
      </p:sp>
      <p:pic>
        <p:nvPicPr>
          <p:cNvPr id="1458316023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524180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1" cy="132556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Health &amp; Safety</a:t>
            </a:r>
            <a:endParaRPr/>
          </a:p>
        </p:txBody>
      </p:sp>
      <p:sp>
        <p:nvSpPr>
          <p:cNvPr id="270387889" name="TextBox 2"/>
          <p:cNvSpPr txBox="1"/>
          <p:nvPr/>
        </p:nvSpPr>
        <p:spPr bwMode="auto">
          <a:xfrm>
            <a:off x="207380" y="966334"/>
            <a:ext cx="1100490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Double-check all power connections.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Ensure correct </a:t>
            </a:r>
            <a:r>
              <a:rPr lang="en-US" sz="18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GND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and </a:t>
            </a:r>
            <a:r>
              <a:rPr lang="en-US" sz="18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VCC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wiring for the power supply, OLED, motor drivers, GPS, sensors, and other modules.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Use the correct input voltage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Battery input should be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between 5V and 12V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only.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sz="18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Work on a safe surface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Use the kit on an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insulated table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(e.g., wood) and ensure the surface is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dry and clean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sz="18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Avoid leaving the kit unattended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Do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not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keep the system powered on without supervision.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GB" sz="18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Build and Test Incrementally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Turn on the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microcontroller first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, then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build and test the circuit step-by-step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.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Avoid wiring the entire system at once and powering it without intermediate testing.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GB" sz="18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Don’t leave Batteries charging unattended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Robotic car is for in-door use only</a:t>
            </a: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</p:txBody>
      </p:sp>
      <p:pic>
        <p:nvPicPr>
          <p:cNvPr id="154355601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966709508" name="Flowchart: Punched Tape 4"/>
          <p:cNvSpPr/>
          <p:nvPr/>
        </p:nvSpPr>
        <p:spPr bwMode="auto">
          <a:xfrm>
            <a:off x="8724502" y="4659086"/>
            <a:ext cx="3183918" cy="2046514"/>
          </a:xfrm>
          <a:prstGeom prst="flowChartPunchedTap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0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Always follow 4-eyes principle when it comes to checking</a:t>
            </a: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</a:t>
            </a:r>
            <a:r>
              <a:rPr lang="en-GB" sz="2400" b="1" i="0" u="sng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VCC &amp; GND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012302" name="Title 1"/>
          <p:cNvSpPr>
            <a:spLocks noGrp="1"/>
          </p:cNvSpPr>
          <p:nvPr>
            <p:ph type="title"/>
          </p:nvPr>
        </p:nvSpPr>
        <p:spPr bwMode="auto">
          <a:xfrm>
            <a:off x="0" y="2766218"/>
            <a:ext cx="12192001" cy="1325563"/>
          </a:xfrm>
        </p:spPr>
        <p:txBody>
          <a:bodyPr/>
          <a:lstStyle/>
          <a:p>
            <a:pPr algn="ctr">
              <a:defRPr/>
            </a:pPr>
            <a:r>
              <a:rPr lang="en-GB">
                <a:solidFill>
                  <a:schemeClr val="bg1"/>
                </a:solidFill>
              </a:rPr>
              <a:t>Motor Driver</a:t>
            </a:r>
            <a:endParaRPr/>
          </a:p>
        </p:txBody>
      </p:sp>
      <p:pic>
        <p:nvPicPr>
          <p:cNvPr id="768072217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620162" name="Title 1"/>
          <p:cNvSpPr>
            <a:spLocks noGrp="1"/>
          </p:cNvSpPr>
          <p:nvPr>
            <p:ph type="title"/>
          </p:nvPr>
        </p:nvSpPr>
        <p:spPr bwMode="auto">
          <a:xfrm>
            <a:off x="10884" y="-4988"/>
            <a:ext cx="10515600" cy="117827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Car-1 (Sensors)</a:t>
            </a:r>
            <a:endParaRPr/>
          </a:p>
        </p:txBody>
      </p:sp>
      <p:sp>
        <p:nvSpPr>
          <p:cNvPr id="1702438555" name="TextBox 5"/>
          <p:cNvSpPr txBox="1"/>
          <p:nvPr/>
        </p:nvSpPr>
        <p:spPr bwMode="auto">
          <a:xfrm>
            <a:off x="1580502" y="1936870"/>
            <a:ext cx="2137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Series: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TT DC</a:t>
            </a:r>
            <a:endParaRPr/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Speed: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130 RPM </a:t>
            </a:r>
            <a:endParaRPr/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Voltage: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6V</a:t>
            </a:r>
            <a:endParaRPr/>
          </a:p>
        </p:txBody>
      </p:sp>
      <p:pic>
        <p:nvPicPr>
          <p:cNvPr id="470597223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927496024" name="Picture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930575" y="3638125"/>
            <a:ext cx="1729890" cy="1767993"/>
          </a:xfrm>
          <a:prstGeom prst="rect">
            <a:avLst/>
          </a:prstGeom>
        </p:spPr>
      </p:pic>
      <p:sp>
        <p:nvSpPr>
          <p:cNvPr id="470025617" name="TextBox 10"/>
          <p:cNvSpPr txBox="1"/>
          <p:nvPr/>
        </p:nvSpPr>
        <p:spPr bwMode="auto">
          <a:xfrm>
            <a:off x="7672552" y="1555738"/>
            <a:ext cx="3054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8ECAE6"/>
                </a:solidFill>
                <a:latin typeface="Aptos"/>
                <a:ea typeface="+mn-ea"/>
                <a:cs typeface="+mn-cs"/>
              </a:rPr>
              <a:t>TB 6612 Motor Driver</a:t>
            </a:r>
            <a:endParaRPr/>
          </a:p>
        </p:txBody>
      </p:sp>
      <p:sp>
        <p:nvSpPr>
          <p:cNvPr id="225172678" name="TextBox 11"/>
          <p:cNvSpPr txBox="1"/>
          <p:nvPr/>
        </p:nvSpPr>
        <p:spPr bwMode="auto">
          <a:xfrm>
            <a:off x="1743719" y="1439805"/>
            <a:ext cx="2296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8ECAE6"/>
                </a:solidFill>
                <a:latin typeface="Aptos"/>
                <a:ea typeface="+mn-ea"/>
                <a:cs typeface="+mn-cs"/>
              </a:rPr>
              <a:t>TT Motor Driver</a:t>
            </a:r>
            <a:endParaRPr/>
          </a:p>
        </p:txBody>
      </p:sp>
      <p:pic>
        <p:nvPicPr>
          <p:cNvPr id="1574858720" name="Picture 7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79088" y="3429000"/>
            <a:ext cx="3025402" cy="2255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482971" name="Title 1"/>
          <p:cNvSpPr>
            <a:spLocks noGrp="1"/>
          </p:cNvSpPr>
          <p:nvPr>
            <p:ph type="title"/>
          </p:nvPr>
        </p:nvSpPr>
        <p:spPr bwMode="auto">
          <a:xfrm>
            <a:off x="10884" y="-4988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Car-3</a:t>
            </a:r>
            <a:endParaRPr/>
          </a:p>
        </p:txBody>
      </p:sp>
      <p:sp>
        <p:nvSpPr>
          <p:cNvPr id="1337480189" name="TextBox 5"/>
          <p:cNvSpPr txBox="1"/>
          <p:nvPr/>
        </p:nvSpPr>
        <p:spPr bwMode="auto">
          <a:xfrm>
            <a:off x="2218913" y="1376183"/>
            <a:ext cx="7754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8ECAE6"/>
                </a:solidFill>
                <a:latin typeface="Aptos"/>
                <a:ea typeface="+mn-ea"/>
                <a:cs typeface="+mn-cs"/>
              </a:rPr>
              <a:t>PIN Details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 - TB6612 Motor Driver</a:t>
            </a:r>
            <a:r>
              <a:rPr lang="en-GB" sz="24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and 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TT Motor</a:t>
            </a:r>
            <a:endParaRPr lang="en-GB" sz="2400" b="1" i="0" u="none" strike="noStrike" cap="none" spc="0">
              <a:ln>
                <a:noFill/>
              </a:ln>
              <a:solidFill>
                <a:srgbClr val="219EBC"/>
              </a:solidFill>
              <a:latin typeface="Aptos"/>
              <a:ea typeface="+mn-ea"/>
              <a:cs typeface="+mn-cs"/>
            </a:endParaRPr>
          </a:p>
        </p:txBody>
      </p:sp>
      <p:pic>
        <p:nvPicPr>
          <p:cNvPr id="198098234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60141" y="2118076"/>
            <a:ext cx="3043008" cy="2015237"/>
          </a:xfrm>
          <a:prstGeom prst="rect">
            <a:avLst/>
          </a:prstGeom>
        </p:spPr>
      </p:pic>
      <p:pic>
        <p:nvPicPr>
          <p:cNvPr id="109111978" name="Picture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929089" y="2241697"/>
            <a:ext cx="1729890" cy="1767993"/>
          </a:xfrm>
          <a:prstGeom prst="rect">
            <a:avLst/>
          </a:prstGeom>
        </p:spPr>
      </p:pic>
      <p:sp>
        <p:nvSpPr>
          <p:cNvPr id="502895855" name="TextBox 10"/>
          <p:cNvSpPr txBox="1"/>
          <p:nvPr/>
        </p:nvSpPr>
        <p:spPr bwMode="auto">
          <a:xfrm>
            <a:off x="3120569" y="4789301"/>
            <a:ext cx="25729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1" i="0" u="sng" strike="noStrike" cap="none" spc="0">
                <a:ln>
                  <a:noFill/>
                </a:ln>
                <a:solidFill>
                  <a:srgbClr val="219EBC"/>
                </a:solidFill>
                <a:latin typeface="Aptos"/>
                <a:ea typeface="+mn-ea"/>
                <a:cs typeface="+mn-cs"/>
              </a:rPr>
              <a:t>Left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A-IN1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3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A-IN2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4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PWMA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5</a:t>
            </a: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</p:txBody>
      </p:sp>
      <p:sp>
        <p:nvSpPr>
          <p:cNvPr id="1209093243" name="TextBox 11"/>
          <p:cNvSpPr txBox="1"/>
          <p:nvPr/>
        </p:nvSpPr>
        <p:spPr bwMode="auto">
          <a:xfrm>
            <a:off x="6954755" y="4789301"/>
            <a:ext cx="26226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1" i="0" u="sng" strike="noStrike" cap="none" spc="0">
                <a:ln>
                  <a:noFill/>
                </a:ln>
                <a:solidFill>
                  <a:srgbClr val="219EBC"/>
                </a:solidFill>
                <a:latin typeface="Aptos"/>
                <a:ea typeface="+mn-ea"/>
                <a:cs typeface="+mn-cs"/>
              </a:rPr>
              <a:t>Right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B-IN1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8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B-IN2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7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PWMB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6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</a:t>
            </a:r>
            <a:endParaRPr/>
          </a:p>
        </p:txBody>
      </p:sp>
      <p:pic>
        <p:nvPicPr>
          <p:cNvPr id="1124392797" name="Picture 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147415" name="Title 1"/>
          <p:cNvSpPr>
            <a:spLocks noGrp="1"/>
          </p:cNvSpPr>
          <p:nvPr>
            <p:ph type="title"/>
          </p:nvPr>
        </p:nvSpPr>
        <p:spPr bwMode="auto">
          <a:xfrm>
            <a:off x="0" y="2766218"/>
            <a:ext cx="12192001" cy="1325563"/>
          </a:xfrm>
        </p:spPr>
        <p:txBody>
          <a:bodyPr/>
          <a:lstStyle/>
          <a:p>
            <a:pPr algn="ctr">
              <a:defRPr/>
            </a:pPr>
            <a:r>
              <a:rPr lang="en-GB">
                <a:solidFill>
                  <a:schemeClr val="bg1"/>
                </a:solidFill>
              </a:rPr>
              <a:t>Test Basic Movement</a:t>
            </a:r>
            <a:endParaRPr/>
          </a:p>
        </p:txBody>
      </p:sp>
      <p:pic>
        <p:nvPicPr>
          <p:cNvPr id="419011603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7177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1" cy="132556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Initial Setup - Test Basic Movements</a:t>
            </a:r>
            <a:endParaRPr/>
          </a:p>
        </p:txBody>
      </p:sp>
      <p:sp>
        <p:nvSpPr>
          <p:cNvPr id="2027147786" name="TextBox 2"/>
          <p:cNvSpPr txBox="1"/>
          <p:nvPr/>
        </p:nvSpPr>
        <p:spPr bwMode="auto">
          <a:xfrm>
            <a:off x="386372" y="1116130"/>
            <a:ext cx="115715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The purpose of this exercise is to test basic movements of the robot car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Also to ensure, your program is using the correct allocated PINs for Motor Inputs (IN1/IN2)</a:t>
            </a:r>
            <a:endParaRPr/>
          </a:p>
        </p:txBody>
      </p:sp>
      <p:sp>
        <p:nvSpPr>
          <p:cNvPr id="1984153938" name="TextBox 3"/>
          <p:cNvSpPr txBox="1"/>
          <p:nvPr/>
        </p:nvSpPr>
        <p:spPr bwMode="auto">
          <a:xfrm>
            <a:off x="2763247" y="2826753"/>
            <a:ext cx="6020559" cy="313932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1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The Program has the following 3 major functional blocks</a:t>
            </a:r>
            <a:endParaRPr lang="en-GB" sz="1800" b="0" i="0" u="none" strike="noStrike" cap="none" spc="0">
              <a:ln>
                <a:noFill/>
              </a:ln>
              <a:solidFill>
                <a:srgbClr val="FF715B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Pins declaration</a:t>
            </a:r>
            <a:endParaRPr/>
          </a:p>
          <a:p>
            <a:pPr marL="457200" marR="0" lvl="1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Ensure correct pins are defined (see sample program)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B. Setup: 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	input/outputs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C. Loop: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	In the loop the car drives forward/left/right</a:t>
            </a:r>
            <a:endParaRPr/>
          </a:p>
        </p:txBody>
      </p:sp>
      <p:pic>
        <p:nvPicPr>
          <p:cNvPr id="1934696680" name="Picture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206442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1" cy="132556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Initial Setup - Test Basic Movements</a:t>
            </a:r>
            <a:endParaRPr/>
          </a:p>
        </p:txBody>
      </p:sp>
      <p:sp>
        <p:nvSpPr>
          <p:cNvPr id="1467460504" name="TextBox 3"/>
          <p:cNvSpPr txBox="1"/>
          <p:nvPr/>
        </p:nvSpPr>
        <p:spPr bwMode="auto">
          <a:xfrm>
            <a:off x="422818" y="1774094"/>
            <a:ext cx="4884671" cy="23083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// ============== Pin 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Definitions</a:t>
            </a: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==========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// Left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srgbClr val="219EBC"/>
                </a:solidFill>
                <a:latin typeface="Aptos"/>
                <a:ea typeface="+mn-ea"/>
                <a:cs typeface="+mn-cs"/>
              </a:rPr>
              <a:t>#define IN2_L 3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srgbClr val="219EBC"/>
                </a:solidFill>
                <a:latin typeface="Aptos"/>
                <a:ea typeface="+mn-ea"/>
                <a:cs typeface="+mn-cs"/>
              </a:rPr>
              <a:t>#define IN1_L 4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it-IT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// </a:t>
            </a: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Right</a:t>
            </a: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#define IN2_R 7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#define IN1_R 8</a:t>
            </a:r>
            <a:endParaRPr lang="en-GB" sz="1800" b="0" i="0" u="none" strike="noStrike" cap="none" spc="0">
              <a:ln>
                <a:noFill/>
              </a:ln>
              <a:solidFill>
                <a:srgbClr val="FF715B"/>
              </a:solidFill>
              <a:latin typeface="Aptos"/>
              <a:ea typeface="+mn-ea"/>
              <a:cs typeface="+mn-cs"/>
            </a:endParaRPr>
          </a:p>
        </p:txBody>
      </p:sp>
      <p:sp>
        <p:nvSpPr>
          <p:cNvPr id="1477010180" name="TextBox 4"/>
          <p:cNvSpPr txBox="1"/>
          <p:nvPr/>
        </p:nvSpPr>
        <p:spPr bwMode="auto">
          <a:xfrm>
            <a:off x="5965371" y="1774094"/>
            <a:ext cx="59544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3600" b="1" i="0" u="none" strike="noStrike" cap="none" spc="0">
                <a:ln>
                  <a:noFill/>
                </a:ln>
                <a:solidFill>
                  <a:srgbClr val="8ECAE6"/>
                </a:solidFill>
                <a:latin typeface="Aptos"/>
                <a:ea typeface="+mn-ea"/>
                <a:cs typeface="+mn-cs"/>
              </a:rPr>
              <a:t>Please test each direction in </a:t>
            </a:r>
            <a:r>
              <a:rPr lang="en-GB" sz="36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isolation</a:t>
            </a:r>
            <a:endParaRPr lang="en-GB" sz="1800" b="0" i="0" u="none" strike="noStrike" cap="none" spc="0">
              <a:ln>
                <a:noFill/>
              </a:ln>
              <a:solidFill>
                <a:srgbClr val="FF715B"/>
              </a:solidFill>
              <a:latin typeface="Aptos"/>
              <a:ea typeface="+mn-ea"/>
              <a:cs typeface="+mn-cs"/>
            </a:endParaRPr>
          </a:p>
          <a:p>
            <a:pPr marL="742950" marR="0" lvl="1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Forward</a:t>
            </a:r>
            <a:endParaRPr/>
          </a:p>
          <a:p>
            <a:pPr marL="742950" marR="0" lvl="1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Backward</a:t>
            </a:r>
            <a:endParaRPr/>
          </a:p>
          <a:p>
            <a:pPr marL="742950" marR="0" lvl="1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Left</a:t>
            </a:r>
            <a:endParaRPr/>
          </a:p>
          <a:p>
            <a:pPr marL="742950" marR="0" lvl="1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Right</a:t>
            </a:r>
            <a:endParaRPr/>
          </a:p>
        </p:txBody>
      </p:sp>
      <p:pic>
        <p:nvPicPr>
          <p:cNvPr id="223090054" name="Picture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99222827" name="TextBox 9"/>
          <p:cNvSpPr txBox="1"/>
          <p:nvPr/>
        </p:nvSpPr>
        <p:spPr bwMode="auto">
          <a:xfrm>
            <a:off x="832542" y="4617562"/>
            <a:ext cx="10265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If incorrect direction,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 then swap IN1/IN2 pins of the corresponding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Expected Output: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 The car moves in the desired direction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525157" name="Title 1"/>
          <p:cNvSpPr>
            <a:spLocks noGrp="1"/>
          </p:cNvSpPr>
          <p:nvPr>
            <p:ph type="title"/>
          </p:nvPr>
        </p:nvSpPr>
        <p:spPr bwMode="auto">
          <a:xfrm>
            <a:off x="660161" y="35754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Navigational Robot Car-1</a:t>
            </a:r>
            <a:endParaRPr/>
          </a:p>
        </p:txBody>
      </p:sp>
      <p:sp>
        <p:nvSpPr>
          <p:cNvPr id="647624949" name="Content Placeholder 2"/>
          <p:cNvSpPr>
            <a:spLocks noGrp="1"/>
          </p:cNvSpPr>
          <p:nvPr>
            <p:ph idx="1"/>
          </p:nvPr>
        </p:nvSpPr>
        <p:spPr bwMode="auto">
          <a:xfrm>
            <a:off x="660161" y="1032616"/>
            <a:ext cx="10515600" cy="55725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graphicFrame>
        <p:nvGraphicFramePr>
          <p:cNvPr id="238332744" name="Table 716623741"/>
          <p:cNvGraphicFramePr>
            <a:graphicFrameLocks xmlns:a="http://schemas.openxmlformats.org/drawingml/2006/main"/>
          </p:cNvGraphicFramePr>
          <p:nvPr/>
        </p:nvGraphicFramePr>
        <p:xfrm>
          <a:off x="1967701" y="1646176"/>
          <a:ext cx="6664223" cy="468305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3321680"/>
                <a:gridCol w="3342543"/>
              </a:tblGrid>
              <a:tr h="320768">
                <a:tc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Basic Movement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400"/>
                    </a:p>
                  </a:txBody>
                  <a:tcPr/>
                </a:tc>
              </a:tr>
              <a:tr h="4362284">
                <a:tc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// Define Motor Pins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Left1 = Digital Pin </a:t>
                      </a:r>
                      <a:r>
                        <a:rPr lang="en-GB" sz="1400"/>
                        <a:t>3</a:t>
                      </a: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Left2 = Digital Pin </a:t>
                      </a:r>
                      <a:r>
                        <a:rPr lang="en-GB" sz="1400"/>
                        <a:t>4</a:t>
                      </a: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Left_Speed</a:t>
                      </a:r>
                      <a:r>
                        <a:rPr sz="1400"/>
                        <a:t> = PWM Pin </a:t>
                      </a:r>
                      <a:r>
                        <a:rPr lang="en-GB" sz="1400"/>
                        <a:t>5</a:t>
                      </a:r>
                      <a:endParaRPr sz="1400"/>
                    </a:p>
                    <a:p>
                      <a:pPr>
                        <a:defRPr/>
                      </a:pP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Right1 = Digital Pin </a:t>
                      </a:r>
                      <a:r>
                        <a:rPr lang="en-GB" sz="1400"/>
                        <a:t>7</a:t>
                      </a: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Right2 = Digital Pin </a:t>
                      </a:r>
                      <a:r>
                        <a:rPr lang="en-GB" sz="1400"/>
                        <a:t>8</a:t>
                      </a: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Right_Speed</a:t>
                      </a:r>
                      <a:r>
                        <a:rPr sz="1400"/>
                        <a:t> = PWM Pin </a:t>
                      </a:r>
                      <a:r>
                        <a:rPr lang="en-GB" sz="1400"/>
                        <a:t>6</a:t>
                      </a:r>
                      <a:endParaRPr sz="1400"/>
                    </a:p>
                    <a:p>
                      <a:pPr>
                        <a:defRPr/>
                      </a:pP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setup():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Set all motor control pins as OUTPUT</a:t>
                      </a:r>
                      <a:endParaRPr/>
                    </a:p>
                    <a:p>
                      <a:pPr>
                        <a:defRPr/>
                      </a:pP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loop():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</a:t>
                      </a:r>
                      <a:r>
                        <a:rPr lang="en-US" sz="1400" b="1" i="0" u="none" strike="noStrike" cap="none" spc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Set motor speed to medium (127)</a:t>
                      </a: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  forward()      // 2 sec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backward()     // 2 sec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</a:t>
                      </a:r>
                      <a:r>
                        <a:rPr sz="1400"/>
                        <a:t>turnRight</a:t>
                      </a:r>
                      <a:r>
                        <a:rPr sz="1400"/>
                        <a:t>()    // 0.5 sec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</a:t>
                      </a:r>
                      <a:r>
                        <a:rPr sz="1400"/>
                        <a:t>turnLeft</a:t>
                      </a:r>
                      <a:r>
                        <a:rPr sz="1400"/>
                        <a:t>()     // 0.5 sec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Stop()         // 1.5 sec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forward():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Left1=HIGH, Left2=LOW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Right1=HIGH, Right2=LOW</a:t>
                      </a:r>
                      <a:endParaRPr/>
                    </a:p>
                    <a:p>
                      <a:pPr>
                        <a:defRPr/>
                      </a:pP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backward():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Left1=LOW, Left2=HIGH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Right1=LOW, Right2=HIGH</a:t>
                      </a:r>
                      <a:endParaRPr/>
                    </a:p>
                    <a:p>
                      <a:pPr>
                        <a:defRPr/>
                      </a:pP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turnRight</a:t>
                      </a:r>
                      <a:r>
                        <a:rPr sz="1400"/>
                        <a:t>():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Left1=HIGH, Left2=LOW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Right1=LOW, Right2=HIGH</a:t>
                      </a:r>
                      <a:endParaRPr/>
                    </a:p>
                    <a:p>
                      <a:pPr>
                        <a:defRPr/>
                      </a:pP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turnLeft</a:t>
                      </a:r>
                      <a:r>
                        <a:rPr sz="1400"/>
                        <a:t>():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Left1=LOW, Left2=HIGH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Right1=HIGH, Right2=LOW</a:t>
                      </a:r>
                      <a:endParaRPr/>
                    </a:p>
                    <a:p>
                      <a:pPr>
                        <a:defRPr/>
                      </a:pPr>
                      <a:endParaRPr sz="1400"/>
                    </a:p>
                    <a:p>
                      <a:pPr>
                        <a:defRPr/>
                      </a:pPr>
                      <a:r>
                        <a:rPr sz="1400"/>
                        <a:t>Stop():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sz="1400"/>
                        <a:t>  All pins LOW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73976664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222842" name="Title 1"/>
          <p:cNvSpPr>
            <a:spLocks noGrp="1"/>
          </p:cNvSpPr>
          <p:nvPr>
            <p:ph type="title"/>
          </p:nvPr>
        </p:nvSpPr>
        <p:spPr bwMode="auto">
          <a:xfrm>
            <a:off x="0" y="2766217"/>
            <a:ext cx="12192001" cy="1325562"/>
          </a:xfrm>
        </p:spPr>
        <p:txBody>
          <a:bodyPr/>
          <a:lstStyle/>
          <a:p>
            <a:pPr algn="ctr"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IR Sensor Calibration</a:t>
            </a:r>
            <a:endParaRPr/>
          </a:p>
        </p:txBody>
      </p:sp>
      <p:pic>
        <p:nvPicPr>
          <p:cNvPr id="1239826724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058758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0515600" cy="1023257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Car-1 (Sensors)</a:t>
            </a:r>
            <a:endParaRPr/>
          </a:p>
        </p:txBody>
      </p:sp>
      <p:sp>
        <p:nvSpPr>
          <p:cNvPr id="906587541" name="Content Placeholder 2"/>
          <p:cNvSpPr>
            <a:spLocks noGrp="1"/>
          </p:cNvSpPr>
          <p:nvPr>
            <p:ph idx="1"/>
          </p:nvPr>
        </p:nvSpPr>
        <p:spPr bwMode="auto">
          <a:xfrm>
            <a:off x="660161" y="1269302"/>
            <a:ext cx="10515600" cy="46771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None/>
              <a:defRPr/>
            </a:pPr>
            <a:r>
              <a:rPr lang="en-GB" sz="2800" b="0" i="0" u="none" strike="noStrike" cap="none" spc="0">
                <a:solidFill>
                  <a:schemeClr val="accent5"/>
                </a:solidFill>
                <a:latin typeface="Aptos Display"/>
                <a:ea typeface="Arial"/>
                <a:cs typeface="Arial"/>
              </a:rPr>
              <a:t>IR Sensor Calibration</a:t>
            </a:r>
            <a:endParaRPr/>
          </a:p>
          <a:p>
            <a:pPr marL="0" indent="0">
              <a:buNone/>
              <a:defRPr/>
            </a:pPr>
            <a:endParaRPr lang="en-GB"/>
          </a:p>
          <a:p>
            <a:pPr>
              <a:defRPr/>
            </a:pPr>
            <a:r>
              <a:rPr lang="en-GB" sz="2400">
                <a:solidFill>
                  <a:schemeClr val="bg1"/>
                </a:solidFill>
              </a:rPr>
              <a:t>Physical demo &amp; practice session</a:t>
            </a:r>
            <a:endParaRPr sz="2400">
              <a:solidFill>
                <a:schemeClr val="bg1"/>
              </a:solidFill>
            </a:endParaRPr>
          </a:p>
        </p:txBody>
      </p:sp>
      <p:pic>
        <p:nvPicPr>
          <p:cNvPr id="926275769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497474" name="Title 1"/>
          <p:cNvSpPr>
            <a:spLocks noGrp="1"/>
          </p:cNvSpPr>
          <p:nvPr>
            <p:ph type="title"/>
          </p:nvPr>
        </p:nvSpPr>
        <p:spPr bwMode="auto">
          <a:xfrm>
            <a:off x="0" y="2766217"/>
            <a:ext cx="12192001" cy="1325562"/>
          </a:xfrm>
        </p:spPr>
        <p:txBody>
          <a:bodyPr/>
          <a:lstStyle/>
          <a:p>
            <a:pPr algn="ctr"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IR Obstacle Mode</a:t>
            </a:r>
            <a:endParaRPr/>
          </a:p>
        </p:txBody>
      </p:sp>
      <p:pic>
        <p:nvPicPr>
          <p:cNvPr id="1506589984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891443" name="Title 1"/>
          <p:cNvSpPr>
            <a:spLocks noGrp="1"/>
          </p:cNvSpPr>
          <p:nvPr>
            <p:ph type="title"/>
          </p:nvPr>
        </p:nvSpPr>
        <p:spPr bwMode="auto">
          <a:xfrm>
            <a:off x="0" y="1"/>
            <a:ext cx="10515600" cy="98536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Car-1 (Sensors)</a:t>
            </a:r>
            <a:endParaRPr/>
          </a:p>
        </p:txBody>
      </p:sp>
      <p:sp>
        <p:nvSpPr>
          <p:cNvPr id="1977818073" name="Content Placeholder 2"/>
          <p:cNvSpPr>
            <a:spLocks noGrp="1"/>
          </p:cNvSpPr>
          <p:nvPr>
            <p:ph idx="1"/>
          </p:nvPr>
        </p:nvSpPr>
        <p:spPr bwMode="auto">
          <a:xfrm>
            <a:off x="660161" y="1269302"/>
            <a:ext cx="10515600" cy="46771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456360328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1076202697" name="TextBox 3"/>
          <p:cNvSpPr txBox="1"/>
          <p:nvPr/>
        </p:nvSpPr>
        <p:spPr bwMode="auto">
          <a:xfrm>
            <a:off x="660161" y="1020634"/>
            <a:ext cx="99969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prstClr val="white"/>
                </a:solidFill>
              </a:rPr>
              <a:t>The purpose of this exercise is to test IR sensor calibration for Obstacle Avoidance or Edge Following</a:t>
            </a:r>
            <a:endParaRPr/>
          </a:p>
          <a:p>
            <a:pPr lvl="0">
              <a:defRPr/>
            </a:pPr>
            <a:endParaRPr lang="en-GB" sz="2400">
              <a:solidFill>
                <a:prstClr val="white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prstClr val="white"/>
                </a:solidFill>
              </a:rPr>
              <a:t>Also to get familiarity with the usage of the test zig (boundary wall fence)</a:t>
            </a:r>
            <a:endParaRPr/>
          </a:p>
        </p:txBody>
      </p:sp>
      <p:pic>
        <p:nvPicPr>
          <p:cNvPr id="805404085" name="Picture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714500" y="2696617"/>
            <a:ext cx="8763000" cy="3953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50861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1" cy="132556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Edge Following or IR Obstruction</a:t>
            </a:r>
            <a:endParaRPr/>
          </a:p>
        </p:txBody>
      </p:sp>
      <p:sp>
        <p:nvSpPr>
          <p:cNvPr id="1744608668" name="TextBox 2"/>
          <p:cNvSpPr txBox="1"/>
          <p:nvPr/>
        </p:nvSpPr>
        <p:spPr bwMode="auto">
          <a:xfrm>
            <a:off x="386372" y="1116130"/>
            <a:ext cx="115715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prstClr val="white"/>
                </a:solidFill>
              </a:rPr>
              <a:t>The purpose of this exercise is to test IR sensor calibration for Obstacle Avoidance or Edge Following</a:t>
            </a:r>
            <a:endParaRPr/>
          </a:p>
          <a:p>
            <a:pPr lvl="0">
              <a:defRPr/>
            </a:pPr>
            <a:endParaRPr lang="en-GB" sz="2400">
              <a:solidFill>
                <a:prstClr val="white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prstClr val="white"/>
                </a:solidFill>
              </a:rPr>
              <a:t>Also to get familiarity with the test zig (boundary wall fence)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endParaRPr lang="en-GB" sz="24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</p:txBody>
      </p:sp>
      <p:pic>
        <p:nvPicPr>
          <p:cNvPr id="1108645543" name="Picture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1987834876" name="TextBox 5"/>
          <p:cNvSpPr txBox="1"/>
          <p:nvPr/>
        </p:nvSpPr>
        <p:spPr bwMode="auto">
          <a:xfrm>
            <a:off x="7569293" y="2963555"/>
            <a:ext cx="4611823" cy="286232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1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Expected Output</a:t>
            </a:r>
            <a:endParaRPr lang="en-GB" sz="1800" b="0" i="0" u="none" strike="noStrike" cap="none" spc="0">
              <a:ln>
                <a:noFill/>
              </a:ln>
              <a:solidFill>
                <a:srgbClr val="FF715B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Just using the IR sensor in the front, the robot car should be able to avoid the obstructions or following an edge.</a:t>
            </a:r>
            <a:endParaRPr/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During this hands-on exercise one will realise the sensor sensitiveness to the direct/indirect infrared light from the Sun.</a:t>
            </a:r>
            <a:endParaRPr/>
          </a:p>
        </p:txBody>
      </p:sp>
      <p:sp>
        <p:nvSpPr>
          <p:cNvPr id="1485423380" name="Flowchart: Punched Tape 8"/>
          <p:cNvSpPr/>
          <p:nvPr/>
        </p:nvSpPr>
        <p:spPr bwMode="auto">
          <a:xfrm>
            <a:off x="1384499" y="3284873"/>
            <a:ext cx="3851530" cy="2588251"/>
          </a:xfrm>
          <a:prstGeom prst="flowChartPunchedTap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IR Sensor is Very Sensitive to Infrared Light from the Sun so Avoid Direct/Indirect Sun Light if Possible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40378" name="Title 1"/>
          <p:cNvSpPr>
            <a:spLocks noGrp="1"/>
          </p:cNvSpPr>
          <p:nvPr>
            <p:ph type="title"/>
          </p:nvPr>
        </p:nvSpPr>
        <p:spPr bwMode="auto">
          <a:xfrm>
            <a:off x="10884" y="0"/>
            <a:ext cx="12192001" cy="1325562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Q&amp;A</a:t>
            </a:r>
            <a:endParaRPr/>
          </a:p>
        </p:txBody>
      </p:sp>
      <p:pic>
        <p:nvPicPr>
          <p:cNvPr id="1501719022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28</cp:revision>
  <dcterms:created xsi:type="dcterms:W3CDTF">2025-11-15T20:03:39Z</dcterms:created>
  <dcterms:modified xsi:type="dcterms:W3CDTF">2025-11-28T11:15:14Z</dcterms:modified>
</cp:coreProperties>
</file>