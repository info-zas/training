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75" r:id="rId4"/>
    <p:sldId id="276" r:id="rId5"/>
    <p:sldId id="289" r:id="rId6"/>
    <p:sldId id="284" r:id="rId7"/>
    <p:sldId id="285" r:id="rId8"/>
    <p:sldId id="286" r:id="rId9"/>
    <p:sldId id="277" r:id="rId10"/>
    <p:sldId id="279" r:id="rId11"/>
    <p:sldId id="278" r:id="rId12"/>
    <p:sldId id="280" r:id="rId13"/>
    <p:sldId id="290" r:id="rId14"/>
    <p:sldId id="281" r:id="rId15"/>
    <p:sldId id="292" r:id="rId16"/>
    <p:sldId id="291" r:id="rId17"/>
    <p:sldId id="293" r:id="rId18"/>
    <p:sldId id="282" r:id="rId19"/>
    <p:sldId id="288" r:id="rId20"/>
    <p:sldId id="283" r:id="rId21"/>
    <p:sldId id="2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9" autoAdjust="0"/>
    <p:restoredTop sz="94660"/>
  </p:normalViewPr>
  <p:slideViewPr>
    <p:cSldViewPr snapToGrid="0">
      <p:cViewPr>
        <p:scale>
          <a:sx n="66" d="100"/>
          <a:sy n="66" d="100"/>
        </p:scale>
        <p:origin x="116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22:28:49.6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1 805 24575,'11'1'0,"-1"0"0,1 1 0,0 1 0,-1 0 0,12 5 0,2 0 0,-11-4 0,1 1 0,-2 0 0,1 1 0,0 0 0,-1 1 0,0 1 0,-1 0 0,16 14 0,29 18 0,-43-31 0,1 0 0,-1 1 0,-1 0 0,15 16 0,-24-23 0,0 1 0,0 0 0,0-1 0,1 0 0,0 0 0,0 0 0,0 0 0,0 0 0,0-1 0,0 0 0,1 0 0,-1 0 0,1 0 0,4 0 0,-5-1 0,1-1 0,-1 0 0,1 0 0,-1-1 0,0 1 0,1-1 0,-1 0 0,0 0 0,0-1 0,0 1 0,0-1 0,0 0 0,0 0 0,0 0 0,5-5 0,38-28 0,-1-3 0,66-72 0,-20 19 0,56-44 0,96-92 0,-175 156 0,82-107 0,-48 38-1365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60EA-5BF4-B667-BEF4-C878D0B2A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A7711-7890-11ED-D4AC-0DAD52A07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77A4A-BADE-E9A6-F9D8-7B9822D54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ACF72-EAE1-709D-EE5E-7071FA972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98F6D-7BEC-85B3-7578-43E47656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17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8CF6-F24F-3C98-1E48-D56ACEDC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7B797-C22F-7852-00B5-E0CF72528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61E2-AA9C-92DB-8280-1B5CF3FE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52D07-9EB6-D90D-C17B-1701043C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BCF2D-CE56-1090-251F-55B5F06F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06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E024-08C8-1715-FC03-F3A4BE17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28F73-D198-1BC2-3138-AE28C2E11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A711E-FEB8-FE50-F31D-9F6CE831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82A6-DA33-B664-CDD1-03C84A53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84E33-57EC-16E0-E8A7-9DE7D3E0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5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F0459-C3A4-B66C-F81F-9D6EC0CE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5DD84-5CFA-FB6E-8C4F-DA6F6B66B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17E30-4EA4-858F-16E6-EE30A9703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D151A-6F65-5ECD-2D89-2AEFE7AD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3815B-85FE-88BA-5373-B7DFB623D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02154-5B6F-601E-BE06-00C97B84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26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268D-A6C9-44F8-1FDB-F7C731498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0E7C3-EF77-364B-A5B0-A0B827402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548C9-548F-A070-1E66-AA028817B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84F47F-1B21-A18D-4789-88A0492F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18D0E-A086-8E31-7B6F-3D5BA0D3D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1948D0-9774-62FD-327E-62A0E087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E447C-2174-3871-E2A8-3EF2BA44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774369-6616-FADF-48F4-0AC0D6AD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49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012A-0B14-EAFB-8C1B-2F9DA4CD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A1DAC-CC57-E522-AD8B-BADA2645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DD44B-F219-2151-6E10-261B114F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38EC5-D3B9-7226-5B1E-8950CBBF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00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775E1-92D2-BB6C-6A66-657A2417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5AF04-DA71-2482-BB3C-E545A016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F8038-B397-C298-D55F-17CF5657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62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F1D6-0E83-9C28-D901-024FE459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7E159-09A5-87C2-B1C9-9D45680A5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9CF03-A25A-D921-2F06-7CA1226C7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80D06-06EA-E6E9-04E0-F82657E5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D2F05-7E81-E768-4B9E-BF53C90D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EA219-1B6C-159C-02F7-AEAA8555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27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66F7C-9E97-8E92-581A-37361BA4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504DEB-836F-9F94-31F1-ABC47B737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E3566-9AA7-0959-C136-AA0A777B4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BB96B-65DF-12A7-FC21-C2291BAC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7679C-687D-9FA4-7C2E-40B44656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ED966-048C-DCFC-F16A-242569A0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4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10C4-F1DB-9E64-C86A-1BA39362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13B86-8770-9DF0-42F6-6E252467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29E89-A1EC-493D-7E0F-5031C726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3676D-BA80-04B0-5388-D9E0B30D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DC621-29C8-5925-75AF-63761524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64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6D2EB5-3E20-5EAA-5A90-CF20FEC8F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17716-680D-9774-B18E-F18957CBD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D5549-6A48-2E0D-5538-394D0F63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15150-1660-2B7C-3296-6E69F3BB2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43B02-0164-198B-E551-5094D275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75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323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90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512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381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59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870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7232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1589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788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428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8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4DCA11-95C8-A9F5-BFE4-0AD190904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7B0C2-CBF9-08C2-3758-69C2CABB6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41E7C-0E42-E304-58A2-37191A1FE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ACC6D-5362-4CDB-BB23-7EDDCA6FC617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9CA2E-5B7B-5394-A2D5-C2923DCBF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DCC28-75F4-704A-7BF5-3F8D1C46F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E3050-C356-44F2-B996-7D3FEFC74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2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1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car-3-encoders-imu-gps/blob/main/04_BasicFunctionalTests/00_UnitTests/02_GPS_TX_RX_OLED.in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Robot Car-3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AI &amp; Robotics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Centre of Excellence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89705"/>
          </a:xfrm>
        </p:spPr>
        <p:txBody>
          <a:bodyPr>
            <a:normAutofit lnSpcReduction="1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GPREC &amp; ZAS Robotics Collaboration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Training Schedule</a:t>
            </a:r>
          </a:p>
        </p:txBody>
      </p:sp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FD04A-6AE2-1C7A-8B20-9697E653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BFCA-59AF-2C1C-495B-6A13ACA3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CF12A-3D73-F375-4F60-DD4414E671EA}"/>
              </a:ext>
            </a:extLst>
          </p:cNvPr>
          <p:cNvSpPr txBox="1"/>
          <p:nvPr/>
        </p:nvSpPr>
        <p:spPr>
          <a:xfrm>
            <a:off x="142875" y="1000535"/>
            <a:ext cx="119062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715B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 the Contents in the Box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 &amp; Discuss the Motor Controller Board, Assembly, Power Supply etc.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Discuss the Health &amp; Safety Precautions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Practice the Following Lab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Basic Movements; how to correct directions (by swapping the pins)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Constant Speed via PID Controller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Read &amp; Display – GPS (Discuss the importance of removing GPS module while uploading)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9CB4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Read &amp; Display – Digital Compass Bearing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9CB4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3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C17E0-BF77-1895-CB44-3B73C93D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28289-CF52-8418-90C2-89F18BF2E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AF78B-C66D-F27F-3C67-717977417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168" y="794703"/>
            <a:ext cx="4106162" cy="5808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8339C8-58E3-2313-C872-46DE8A7D9ECF}"/>
              </a:ext>
            </a:extLst>
          </p:cNvPr>
          <p:cNvSpPr txBox="1"/>
          <p:nvPr/>
        </p:nvSpPr>
        <p:spPr>
          <a:xfrm>
            <a:off x="648182" y="1956122"/>
            <a:ext cx="438729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Arduino Nao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JGA25-370 6V 130 RPM Encoder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TB6612 Motor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NEO-6M GPS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MPU6050 – Accelerometer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QMC5883 – Digital Compass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Rotary Encoder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Battery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Batteries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Battery Charger</a:t>
            </a:r>
          </a:p>
        </p:txBody>
      </p:sp>
    </p:spTree>
    <p:extLst>
      <p:ext uri="{BB962C8B-B14F-4D97-AF65-F5344CB8AC3E}">
        <p14:creationId xmlns:p14="http://schemas.microsoft.com/office/powerpoint/2010/main" val="2578976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D9EBC-09DD-E3FE-0416-AA2312CD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E562-82E2-E4D2-EC94-F8A6CA1D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137E4-6D13-B01D-8E77-AE8703348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168" y="794703"/>
            <a:ext cx="4106162" cy="5808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F4077A-2C21-5673-5732-E169C515AFAA}"/>
              </a:ext>
            </a:extLst>
          </p:cNvPr>
          <p:cNvSpPr txBox="1"/>
          <p:nvPr/>
        </p:nvSpPr>
        <p:spPr>
          <a:xfrm>
            <a:off x="648182" y="1956122"/>
            <a:ext cx="6136103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Opportunities to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Encoder Motors Familiarity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Close Loop Control Systems (PID)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IMU Calibration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Sensor Fusion (Filters: Complementary/Kalman/EKF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Robot Motion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Odometry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Path Planning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195162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5C03B-3F02-7FAD-C4EA-8175D3411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7E92-BB2E-7A99-F348-C32D4D625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1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Health &amp; Safety</a:t>
            </a:r>
          </a:p>
        </p:txBody>
      </p:sp>
    </p:spTree>
    <p:extLst>
      <p:ext uri="{BB962C8B-B14F-4D97-AF65-F5344CB8AC3E}">
        <p14:creationId xmlns:p14="http://schemas.microsoft.com/office/powerpoint/2010/main" val="3435570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79E4E-FA60-333C-3D1A-8CAD053BE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D373-9E99-904D-D16E-B665224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1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Health &amp; Safety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E38AA-00CF-E36F-ED63-4C49F0C3D033}"/>
              </a:ext>
            </a:extLst>
          </p:cNvPr>
          <p:cNvSpPr txBox="1"/>
          <p:nvPr/>
        </p:nvSpPr>
        <p:spPr>
          <a:xfrm>
            <a:off x="740780" y="2013995"/>
            <a:ext cx="11004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Batteries charging</a:t>
            </a:r>
          </a:p>
          <a:p>
            <a:r>
              <a:rPr lang="en-GB" dirty="0">
                <a:solidFill>
                  <a:schemeClr val="bg1"/>
                </a:solidFill>
              </a:rPr>
              <a:t>GPS – disconnect whole uploading program to Nano</a:t>
            </a:r>
          </a:p>
          <a:p>
            <a:r>
              <a:rPr lang="en-GB" dirty="0">
                <a:solidFill>
                  <a:schemeClr val="bg1"/>
                </a:solidFill>
              </a:rPr>
              <a:t>If the encoder motors behaviour is random, please check your battery status and may need charging</a:t>
            </a:r>
          </a:p>
          <a:p>
            <a:r>
              <a:rPr lang="en-GB" dirty="0">
                <a:solidFill>
                  <a:schemeClr val="bg1"/>
                </a:solidFill>
              </a:rPr>
              <a:t>Beware of encoder motors 6 pin cable as there are 2 version:</a:t>
            </a:r>
          </a:p>
          <a:p>
            <a:r>
              <a:rPr lang="en-GB" dirty="0">
                <a:solidFill>
                  <a:schemeClr val="bg1"/>
                </a:solidFill>
              </a:rPr>
              <a:t>	Same Side</a:t>
            </a:r>
          </a:p>
          <a:p>
            <a:r>
              <a:rPr lang="en-GB" dirty="0">
                <a:solidFill>
                  <a:schemeClr val="bg1"/>
                </a:solidFill>
              </a:rPr>
              <a:t>	Opposite Side</a:t>
            </a:r>
          </a:p>
          <a:p>
            <a:r>
              <a:rPr lang="en-GB" dirty="0">
                <a:solidFill>
                  <a:schemeClr val="bg1"/>
                </a:solidFill>
              </a:rPr>
              <a:t>If you have connected 6 pin cable, and the LED indicators are not ON, then you are likely using an incorrect 6-pin cable</a:t>
            </a:r>
          </a:p>
        </p:txBody>
      </p:sp>
    </p:spTree>
    <p:extLst>
      <p:ext uri="{BB962C8B-B14F-4D97-AF65-F5344CB8AC3E}">
        <p14:creationId xmlns:p14="http://schemas.microsoft.com/office/powerpoint/2010/main" val="309632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A33AE-D51B-2F96-4676-908F7AD7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8152-04F7-357B-E8A9-58F6480A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1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Motor Driver</a:t>
            </a:r>
          </a:p>
        </p:txBody>
      </p:sp>
    </p:spTree>
    <p:extLst>
      <p:ext uri="{BB962C8B-B14F-4D97-AF65-F5344CB8AC3E}">
        <p14:creationId xmlns:p14="http://schemas.microsoft.com/office/powerpoint/2010/main" val="2198378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E1734-BA8D-A728-86A6-4C409AB6E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8B68-F928-CFA4-F85F-C2BE9053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7B936C-7D2C-B080-89A3-F55F02541529}"/>
              </a:ext>
            </a:extLst>
          </p:cNvPr>
          <p:cNvSpPr txBox="1"/>
          <p:nvPr/>
        </p:nvSpPr>
        <p:spPr>
          <a:xfrm>
            <a:off x="562512" y="1463405"/>
            <a:ext cx="54072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JGA25-370 6V 130 RPM Encoder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Cable Type – JST PH 2.0 – 6 PIN (Same Side)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When Powered the LEDs on Encoder must light 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8E213B-21CA-0F29-76C9-1444AB93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568" y="885841"/>
            <a:ext cx="4693920" cy="2536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427106-D4C6-339D-5E77-E3C63EF4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568" y="3607332"/>
            <a:ext cx="4693920" cy="26912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019EC-3E5B-9943-AA50-4978C4CC76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394"/>
          <a:stretch>
            <a:fillRect/>
          </a:stretch>
        </p:blipFill>
        <p:spPr bwMode="auto">
          <a:xfrm>
            <a:off x="1091879" y="2714232"/>
            <a:ext cx="4267200" cy="39065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9AC9770-7C84-ADC3-EB8F-374CD92A163E}"/>
                  </a:ext>
                </a:extLst>
              </p14:cNvPr>
              <p14:cNvContentPartPr/>
              <p14:nvPr/>
            </p14:nvContentPartPr>
            <p14:xfrm>
              <a:off x="4814631" y="3668806"/>
              <a:ext cx="543240" cy="377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9AC9770-7C84-ADC3-EB8F-374CD92A16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78991" y="3633166"/>
                <a:ext cx="614880" cy="44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7163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08351-2C24-15DA-34F4-4B5FFCEA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C8B6-63B7-DD79-27AE-68FE6E975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CEA33-BBE0-DCA3-5D04-E9F1E3B12102}"/>
              </a:ext>
            </a:extLst>
          </p:cNvPr>
          <p:cNvSpPr txBox="1"/>
          <p:nvPr/>
        </p:nvSpPr>
        <p:spPr>
          <a:xfrm>
            <a:off x="562512" y="1402124"/>
            <a:ext cx="5447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4"/>
                </a:solidFill>
              </a:rPr>
              <a:t>TB6612 Motor Driver</a:t>
            </a:r>
            <a:r>
              <a:rPr lang="en-GB" dirty="0">
                <a:solidFill>
                  <a:schemeClr val="bg1"/>
                </a:solidFill>
              </a:rPr>
              <a:t> and </a:t>
            </a:r>
            <a:r>
              <a:rPr lang="en-GB" dirty="0">
                <a:solidFill>
                  <a:schemeClr val="accent5"/>
                </a:solidFill>
              </a:rPr>
              <a:t>DC370 Motor </a:t>
            </a:r>
            <a:r>
              <a:rPr lang="en-GB" dirty="0">
                <a:solidFill>
                  <a:schemeClr val="bg1"/>
                </a:solidFill>
              </a:rPr>
              <a:t>Connections with </a:t>
            </a:r>
            <a:r>
              <a:rPr lang="en-GB" dirty="0">
                <a:solidFill>
                  <a:schemeClr val="accent1"/>
                </a:solidFill>
              </a:rPr>
              <a:t>Arduino Nano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A394B5-3237-5536-0146-0DD8927B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568" y="885841"/>
            <a:ext cx="4693920" cy="2536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3C713F-8549-EC89-079B-746AC0D3D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12" y="2415047"/>
            <a:ext cx="3043008" cy="2015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11A9EF-F364-AD8E-72B4-D55D598A2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460" y="2538668"/>
            <a:ext cx="1729890" cy="17679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98A215-02D3-998C-1585-1B53E7EB4A6C}"/>
              </a:ext>
            </a:extLst>
          </p:cNvPr>
          <p:cNvSpPr txBox="1"/>
          <p:nvPr/>
        </p:nvSpPr>
        <p:spPr>
          <a:xfrm>
            <a:off x="787078" y="4930815"/>
            <a:ext cx="32993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>
                <a:solidFill>
                  <a:schemeClr val="accent4"/>
                </a:solidFill>
              </a:rPr>
              <a:t>Left Motor</a:t>
            </a:r>
          </a:p>
          <a:p>
            <a:r>
              <a:rPr lang="en-GB" dirty="0">
                <a:solidFill>
                  <a:schemeClr val="bg1"/>
                </a:solidFill>
              </a:rPr>
              <a:t>A-IN1 – Arduino Nano D8</a:t>
            </a:r>
          </a:p>
          <a:p>
            <a:r>
              <a:rPr lang="en-GB" dirty="0">
                <a:solidFill>
                  <a:schemeClr val="bg1"/>
                </a:solidFill>
              </a:rPr>
              <a:t>A-IN2 – Arduino Nano D7</a:t>
            </a:r>
          </a:p>
          <a:p>
            <a:r>
              <a:rPr lang="en-GB" dirty="0">
                <a:solidFill>
                  <a:schemeClr val="bg1"/>
                </a:solidFill>
              </a:rPr>
              <a:t>PWMA – Arduino Nano D6</a:t>
            </a:r>
          </a:p>
          <a:p>
            <a:r>
              <a:rPr lang="en-GB" dirty="0">
                <a:solidFill>
                  <a:schemeClr val="bg1"/>
                </a:solidFill>
              </a:rPr>
              <a:t>L-Encoder-A - Arduino Nano D2</a:t>
            </a:r>
          </a:p>
          <a:p>
            <a:r>
              <a:rPr lang="en-GB" dirty="0">
                <a:solidFill>
                  <a:schemeClr val="bg1"/>
                </a:solidFill>
              </a:rPr>
              <a:t>L-Encoder-B - Arduino Nano D4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737E37-CC46-2FB4-F668-372703C5733B}"/>
              </a:ext>
            </a:extLst>
          </p:cNvPr>
          <p:cNvSpPr txBox="1"/>
          <p:nvPr/>
        </p:nvSpPr>
        <p:spPr>
          <a:xfrm>
            <a:off x="4644507" y="4930815"/>
            <a:ext cx="33025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>
                <a:solidFill>
                  <a:schemeClr val="accent4"/>
                </a:solidFill>
              </a:rPr>
              <a:t>Right Motor</a:t>
            </a:r>
          </a:p>
          <a:p>
            <a:r>
              <a:rPr lang="en-GB" dirty="0">
                <a:solidFill>
                  <a:schemeClr val="bg1"/>
                </a:solidFill>
              </a:rPr>
              <a:t>B-IN1 – Arduino Nano D12</a:t>
            </a:r>
          </a:p>
          <a:p>
            <a:r>
              <a:rPr lang="en-GB" dirty="0">
                <a:solidFill>
                  <a:schemeClr val="bg1"/>
                </a:solidFill>
              </a:rPr>
              <a:t>B-IN2 – Arduino Nano D10</a:t>
            </a:r>
          </a:p>
          <a:p>
            <a:r>
              <a:rPr lang="en-GB" dirty="0">
                <a:solidFill>
                  <a:schemeClr val="bg1"/>
                </a:solidFill>
              </a:rPr>
              <a:t>PWMB – Arduino Nano D11</a:t>
            </a:r>
          </a:p>
          <a:p>
            <a:r>
              <a:rPr lang="en-GB" dirty="0">
                <a:solidFill>
                  <a:schemeClr val="bg1"/>
                </a:solidFill>
              </a:rPr>
              <a:t>R-Encoder-A - Arduino Nano D3</a:t>
            </a:r>
          </a:p>
          <a:p>
            <a:r>
              <a:rPr lang="en-GB" dirty="0">
                <a:solidFill>
                  <a:schemeClr val="bg1"/>
                </a:solidFill>
              </a:rPr>
              <a:t>R-Encoder-B - Arduino Nano D5</a:t>
            </a:r>
          </a:p>
          <a:p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84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E764B-DAF5-ECEF-858E-DC61B1A5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8B52-4211-F5F6-E69B-CA8306853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A76E3-F663-DEB0-11A4-365C1C9DC567}"/>
              </a:ext>
            </a:extLst>
          </p:cNvPr>
          <p:cNvSpPr txBox="1"/>
          <p:nvPr/>
        </p:nvSpPr>
        <p:spPr>
          <a:xfrm>
            <a:off x="648182" y="1956122"/>
            <a:ext cx="1636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Gear Ratios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FAA6A7-966F-C440-9768-31EC9FBB9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71" y="3607945"/>
            <a:ext cx="5731510" cy="2720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F8A698-189B-C6EE-33E7-E6D84C55AAD1}"/>
              </a:ext>
            </a:extLst>
          </p:cNvPr>
          <p:cNvSpPr txBox="1"/>
          <p:nvPr/>
        </p:nvSpPr>
        <p:spPr>
          <a:xfrm>
            <a:off x="562512" y="3238000"/>
            <a:ext cx="1798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Ger Ratio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2908C-577E-496B-2729-BB9A5CC7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022" y="959390"/>
            <a:ext cx="573151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50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8D9DF-DDD1-5D9B-D9EA-29DC99C1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EA69-1B63-169D-5551-C0757319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1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Test Basic Movement</a:t>
            </a:r>
          </a:p>
        </p:txBody>
      </p:sp>
    </p:spTree>
    <p:extLst>
      <p:ext uri="{BB962C8B-B14F-4D97-AF65-F5344CB8AC3E}">
        <p14:creationId xmlns:p14="http://schemas.microsoft.com/office/powerpoint/2010/main" val="4125124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A899C-B0C9-CE54-D592-D8471244B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7FC0-3493-B8EA-E476-399A202C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1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Test Basic Movements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DDA9A-0AC9-1526-558A-7AD41F6E1F97}"/>
              </a:ext>
            </a:extLst>
          </p:cNvPr>
          <p:cNvSpPr txBox="1"/>
          <p:nvPr/>
        </p:nvSpPr>
        <p:spPr>
          <a:xfrm>
            <a:off x="386373" y="1116130"/>
            <a:ext cx="115715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 purpose of this program is to test basic movements of the robot car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Also to ensure, your program is using the correct allocated PINs for Motor Inputs (IN1/IN2)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327D0-AA16-C616-4B40-2421B883E9D6}"/>
              </a:ext>
            </a:extLst>
          </p:cNvPr>
          <p:cNvSpPr txBox="1"/>
          <p:nvPr/>
        </p:nvSpPr>
        <p:spPr>
          <a:xfrm>
            <a:off x="553447" y="2859410"/>
            <a:ext cx="6020559" cy="313932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  <a:p>
            <a:r>
              <a:rPr lang="en-GB" b="1" dirty="0">
                <a:solidFill>
                  <a:schemeClr val="accent4"/>
                </a:solidFill>
              </a:rPr>
              <a:t>The Program has the following 3 major functional blocks</a:t>
            </a:r>
            <a:endParaRPr lang="en-GB" dirty="0">
              <a:solidFill>
                <a:schemeClr val="accent4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AutoNum type="alphaUcPeriod"/>
            </a:pPr>
            <a:r>
              <a:rPr lang="en-GB" dirty="0">
                <a:solidFill>
                  <a:schemeClr val="accent5"/>
                </a:solidFill>
              </a:rPr>
              <a:t>Pins declaration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Ensure correct pins are defined (see sample program)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accent5"/>
                </a:solidFill>
              </a:rPr>
              <a:t>B. Setup: </a:t>
            </a:r>
          </a:p>
          <a:p>
            <a:r>
              <a:rPr lang="en-GB" dirty="0">
                <a:solidFill>
                  <a:schemeClr val="bg1"/>
                </a:solidFill>
              </a:rPr>
              <a:t>	input/outputs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accent5"/>
                </a:solidFill>
              </a:rPr>
              <a:t>C. Loop:</a:t>
            </a:r>
          </a:p>
          <a:p>
            <a:r>
              <a:rPr lang="en-GB" dirty="0">
                <a:solidFill>
                  <a:schemeClr val="bg1"/>
                </a:solidFill>
              </a:rPr>
              <a:t>	In the loop the car drives forward/left/right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2FD85-AC52-70E8-3DF3-2CC4DEFAACFF}"/>
              </a:ext>
            </a:extLst>
          </p:cNvPr>
          <p:cNvSpPr txBox="1"/>
          <p:nvPr/>
        </p:nvSpPr>
        <p:spPr>
          <a:xfrm>
            <a:off x="7048982" y="2859410"/>
            <a:ext cx="49089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3600" b="1" dirty="0">
                <a:solidFill>
                  <a:schemeClr val="bg2"/>
                </a:solidFill>
              </a:rPr>
              <a:t>Note: Please test each direction in isolation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Forward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Left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Right</a:t>
            </a:r>
          </a:p>
          <a:p>
            <a:r>
              <a:rPr lang="en-GB" b="1" dirty="0">
                <a:solidFill>
                  <a:schemeClr val="accent5"/>
                </a:solidFill>
              </a:rPr>
              <a:t>If incorrect direction, then swap IN1/IN2 pins of the corresponding motor</a:t>
            </a:r>
          </a:p>
        </p:txBody>
      </p:sp>
    </p:spTree>
    <p:extLst>
      <p:ext uri="{BB962C8B-B14F-4D97-AF65-F5344CB8AC3E}">
        <p14:creationId xmlns:p14="http://schemas.microsoft.com/office/powerpoint/2010/main" val="932890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29B0F-F23E-CB35-A6ED-A781BA8D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DE0C8-65D9-5A6F-D14C-CF83D5B1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1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Basic Encoder Motors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25632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B001D-A04B-0086-B55A-FB1BFABB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AC35-36B5-0F6F-D059-A3C006F7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1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Basic Encoder Motors Functionality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74555-D63D-8348-AD1A-CE7E1B64966F}"/>
              </a:ext>
            </a:extLst>
          </p:cNvPr>
          <p:cNvSpPr txBox="1"/>
          <p:nvPr/>
        </p:nvSpPr>
        <p:spPr>
          <a:xfrm>
            <a:off x="386373" y="1116130"/>
            <a:ext cx="11571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 purpose of this program is to test basic encoder motor functionality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Also to ensure, your program is using the correct allocated PWM and Encoder PINs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DDB86-E1B5-BB2F-FED7-30FAF871FC34}"/>
              </a:ext>
            </a:extLst>
          </p:cNvPr>
          <p:cNvSpPr txBox="1"/>
          <p:nvPr/>
        </p:nvSpPr>
        <p:spPr>
          <a:xfrm>
            <a:off x="507148" y="2441693"/>
            <a:ext cx="6379789" cy="424731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  <a:p>
            <a:r>
              <a:rPr lang="en-GB" b="1" dirty="0">
                <a:solidFill>
                  <a:schemeClr val="accent4"/>
                </a:solidFill>
              </a:rPr>
              <a:t>The Program has the following 3 major functional blocks</a:t>
            </a:r>
            <a:endParaRPr lang="en-GB" dirty="0">
              <a:solidFill>
                <a:schemeClr val="accent4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AutoNum type="alphaUcPeriod"/>
            </a:pPr>
            <a:r>
              <a:rPr lang="en-GB" dirty="0">
                <a:solidFill>
                  <a:schemeClr val="accent5"/>
                </a:solidFill>
              </a:rPr>
              <a:t>Pins declaration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Ensure correct pins are defined (see sample program)</a:t>
            </a:r>
          </a:p>
          <a:p>
            <a:r>
              <a:rPr lang="en-GB" dirty="0">
                <a:solidFill>
                  <a:schemeClr val="bg1"/>
                </a:solidFill>
              </a:rPr>
              <a:t>          OLED Initialisation for the feedback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accent5"/>
                </a:solidFill>
              </a:rPr>
              <a:t>B. Setup: </a:t>
            </a:r>
          </a:p>
          <a:p>
            <a:r>
              <a:rPr lang="en-GB" dirty="0">
                <a:solidFill>
                  <a:schemeClr val="bg1"/>
                </a:solidFill>
              </a:rPr>
              <a:t>	definition of interrupt routines to capture the encoder ticks</a:t>
            </a:r>
          </a:p>
          <a:p>
            <a:endParaRPr lang="en-GB" dirty="0">
              <a:solidFill>
                <a:schemeClr val="accent5"/>
              </a:solidFill>
            </a:endParaRPr>
          </a:p>
          <a:p>
            <a:r>
              <a:rPr lang="en-GB" dirty="0">
                <a:solidFill>
                  <a:schemeClr val="accent5"/>
                </a:solidFill>
              </a:rPr>
              <a:t>C. Loop:</a:t>
            </a:r>
          </a:p>
          <a:p>
            <a:r>
              <a:rPr lang="en-GB" dirty="0">
                <a:solidFill>
                  <a:schemeClr val="bg1"/>
                </a:solidFill>
              </a:rPr>
              <a:t>	In the loop, as you rotate the left/right motor, you will see the encoder tick counts going up/down depending on the direction of rotation</a:t>
            </a:r>
          </a:p>
        </p:txBody>
      </p:sp>
    </p:spTree>
    <p:extLst>
      <p:ext uri="{BB962C8B-B14F-4D97-AF65-F5344CB8AC3E}">
        <p14:creationId xmlns:p14="http://schemas.microsoft.com/office/powerpoint/2010/main" val="4065983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30F51-F4D7-524E-0DBC-F0942D10D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7727-3407-B32F-95CD-34AB060B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1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Simple PID Controller</a:t>
            </a:r>
          </a:p>
        </p:txBody>
      </p:sp>
    </p:spTree>
    <p:extLst>
      <p:ext uri="{BB962C8B-B14F-4D97-AF65-F5344CB8AC3E}">
        <p14:creationId xmlns:p14="http://schemas.microsoft.com/office/powerpoint/2010/main" val="801287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030BC-5BD8-1DDA-C83B-49F35837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55DC-78F4-5214-47E4-30B73378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1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Simple PID Controller for Straight Line Movement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E1D3F-C65E-7477-9AB0-FD085A486341}"/>
              </a:ext>
            </a:extLst>
          </p:cNvPr>
          <p:cNvSpPr txBox="1"/>
          <p:nvPr/>
        </p:nvSpPr>
        <p:spPr>
          <a:xfrm>
            <a:off x="386373" y="1116130"/>
            <a:ext cx="11571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 purpose of this program is to test basic encoder motor functionality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Also to ensure, your program is using the correct allocated PWM and Encoder PINs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12769-2531-A984-EECB-D498092304F4}"/>
              </a:ext>
            </a:extLst>
          </p:cNvPr>
          <p:cNvSpPr txBox="1"/>
          <p:nvPr/>
        </p:nvSpPr>
        <p:spPr>
          <a:xfrm>
            <a:off x="507148" y="2441693"/>
            <a:ext cx="6379789" cy="424731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en-GB" b="1" dirty="0">
              <a:solidFill>
                <a:schemeClr val="bg1"/>
              </a:solidFill>
            </a:endParaRPr>
          </a:p>
          <a:p>
            <a:r>
              <a:rPr lang="en-GB" b="1" dirty="0">
                <a:solidFill>
                  <a:schemeClr val="accent4"/>
                </a:solidFill>
              </a:rPr>
              <a:t>The Program has the following 3 major functional blocks</a:t>
            </a:r>
            <a:endParaRPr lang="en-GB" dirty="0">
              <a:solidFill>
                <a:schemeClr val="accent4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AutoNum type="alphaUcPeriod"/>
            </a:pPr>
            <a:r>
              <a:rPr lang="en-GB" dirty="0">
                <a:solidFill>
                  <a:schemeClr val="accent5"/>
                </a:solidFill>
              </a:rPr>
              <a:t>Pins declaration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Ensure correct pins are defined (see sample program)</a:t>
            </a:r>
          </a:p>
          <a:p>
            <a:r>
              <a:rPr lang="en-GB" dirty="0">
                <a:solidFill>
                  <a:schemeClr val="bg1"/>
                </a:solidFill>
              </a:rPr>
              <a:t>          OLED Initialisation for the feedback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accent5"/>
                </a:solidFill>
              </a:rPr>
              <a:t>B. Setup: </a:t>
            </a:r>
          </a:p>
          <a:p>
            <a:r>
              <a:rPr lang="en-GB" dirty="0">
                <a:solidFill>
                  <a:schemeClr val="bg1"/>
                </a:solidFill>
              </a:rPr>
              <a:t>	definition of interrupt routines to capture the encoder ticks</a:t>
            </a:r>
          </a:p>
          <a:p>
            <a:endParaRPr lang="en-GB" dirty="0">
              <a:solidFill>
                <a:schemeClr val="accent5"/>
              </a:solidFill>
            </a:endParaRPr>
          </a:p>
          <a:p>
            <a:r>
              <a:rPr lang="en-GB" dirty="0">
                <a:solidFill>
                  <a:schemeClr val="accent5"/>
                </a:solidFill>
              </a:rPr>
              <a:t>C. Loop:</a:t>
            </a:r>
          </a:p>
          <a:p>
            <a:r>
              <a:rPr lang="en-GB" dirty="0">
                <a:solidFill>
                  <a:schemeClr val="bg1"/>
                </a:solidFill>
              </a:rPr>
              <a:t>	In the loop, as you rotate the left/right motor, you will see the encoder tick counts going up/down depending on the direction of rotation</a:t>
            </a:r>
          </a:p>
        </p:txBody>
      </p:sp>
    </p:spTree>
    <p:extLst>
      <p:ext uri="{BB962C8B-B14F-4D97-AF65-F5344CB8AC3E}">
        <p14:creationId xmlns:p14="http://schemas.microsoft.com/office/powerpoint/2010/main" val="3822669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5DF00-B395-7DD8-1960-1F5EBB6F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0AE3-671A-D781-A431-9C7D76D1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1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Test GPS</a:t>
            </a:r>
          </a:p>
        </p:txBody>
      </p:sp>
    </p:spTree>
    <p:extLst>
      <p:ext uri="{BB962C8B-B14F-4D97-AF65-F5344CB8AC3E}">
        <p14:creationId xmlns:p14="http://schemas.microsoft.com/office/powerpoint/2010/main" val="2333769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651F2-9EC6-7277-388C-9ABA7CA2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9681-B651-20E3-CA46-C827F382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1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GPS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3060F5-4145-4B67-84E1-E9361EF84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120" y="456144"/>
            <a:ext cx="4106162" cy="580865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71E52F-85F7-46F9-C2DC-6B1CC7A183EE}"/>
              </a:ext>
            </a:extLst>
          </p:cNvPr>
          <p:cNvSpPr/>
          <p:nvPr/>
        </p:nvSpPr>
        <p:spPr>
          <a:xfrm>
            <a:off x="9248172" y="5463251"/>
            <a:ext cx="1203767" cy="844952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F017F-DEE7-17D8-48FA-A3F787984C0F}"/>
              </a:ext>
            </a:extLst>
          </p:cNvPr>
          <p:cNvSpPr txBox="1"/>
          <p:nvPr/>
        </p:nvSpPr>
        <p:spPr>
          <a:xfrm>
            <a:off x="362627" y="3001883"/>
            <a:ext cx="6221392" cy="1449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#include &lt;</a:t>
            </a:r>
            <a:r>
              <a:rPr lang="en-GB" sz="900" dirty="0" err="1">
                <a:solidFill>
                  <a:schemeClr val="bg1"/>
                </a:solidFill>
              </a:rPr>
              <a:t>TinyGPS</a:t>
            </a:r>
            <a:r>
              <a:rPr lang="en-GB" sz="900" dirty="0">
                <a:solidFill>
                  <a:schemeClr val="bg1"/>
                </a:solidFill>
              </a:rPr>
              <a:t>++.h&gt;</a:t>
            </a:r>
          </a:p>
          <a:p>
            <a:r>
              <a:rPr lang="en-GB" sz="900" dirty="0">
                <a:solidFill>
                  <a:schemeClr val="bg1"/>
                </a:solidFill>
              </a:rPr>
              <a:t>#include &lt;</a:t>
            </a:r>
            <a:r>
              <a:rPr lang="en-GB" sz="900" dirty="0" err="1">
                <a:solidFill>
                  <a:schemeClr val="bg1"/>
                </a:solidFill>
              </a:rPr>
              <a:t>Wire.h</a:t>
            </a:r>
            <a:r>
              <a:rPr lang="en-GB" sz="900" dirty="0">
                <a:solidFill>
                  <a:schemeClr val="bg1"/>
                </a:solidFill>
              </a:rPr>
              <a:t>&gt;</a:t>
            </a:r>
          </a:p>
          <a:p>
            <a:r>
              <a:rPr lang="en-GB" sz="900" dirty="0">
                <a:solidFill>
                  <a:schemeClr val="bg1"/>
                </a:solidFill>
              </a:rPr>
              <a:t>#include &lt;</a:t>
            </a:r>
            <a:r>
              <a:rPr lang="en-GB" sz="900" dirty="0" err="1">
                <a:solidFill>
                  <a:schemeClr val="bg1"/>
                </a:solidFill>
              </a:rPr>
              <a:t>Adafruit_GFX.h</a:t>
            </a:r>
            <a:r>
              <a:rPr lang="en-GB" sz="900" dirty="0">
                <a:solidFill>
                  <a:schemeClr val="bg1"/>
                </a:solidFill>
              </a:rPr>
              <a:t>&gt;</a:t>
            </a:r>
          </a:p>
          <a:p>
            <a:r>
              <a:rPr lang="en-GB" sz="900" dirty="0">
                <a:solidFill>
                  <a:schemeClr val="bg1"/>
                </a:solidFill>
              </a:rPr>
              <a:t>#include &lt;Adafruit_SSD1306.h&gt;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// ------------------- OLED SETTINGS -------------------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#define SCREEN_WIDTH 128</a:t>
            </a:r>
          </a:p>
          <a:p>
            <a:r>
              <a:rPr lang="en-GB" sz="900" dirty="0">
                <a:solidFill>
                  <a:schemeClr val="bg1"/>
                </a:solidFill>
              </a:rPr>
              <a:t>#define SCREEN_HEIGHT 64</a:t>
            </a:r>
          </a:p>
          <a:p>
            <a:r>
              <a:rPr lang="en-GB" sz="900" dirty="0">
                <a:solidFill>
                  <a:schemeClr val="bg1"/>
                </a:solidFill>
              </a:rPr>
              <a:t>#define OLED_RESET -1    // Reset pin (not used)</a:t>
            </a:r>
          </a:p>
          <a:p>
            <a:r>
              <a:rPr lang="en-GB" sz="900" dirty="0">
                <a:solidFill>
                  <a:schemeClr val="bg1"/>
                </a:solidFill>
              </a:rPr>
              <a:t>Adafruit_SSD1306 display(SCREEN_WIDTH, SCREEN_HEIGHT, &amp;Wire, OLED_RESET);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// ------------------- GPS SETTINGS -------------------</a:t>
            </a:r>
          </a:p>
          <a:p>
            <a:r>
              <a:rPr lang="en-GB" sz="900" dirty="0" err="1">
                <a:solidFill>
                  <a:schemeClr val="bg1"/>
                </a:solidFill>
              </a:rPr>
              <a:t>TinyGPSPlus</a:t>
            </a:r>
            <a:r>
              <a:rPr lang="en-GB" sz="900" dirty="0">
                <a:solidFill>
                  <a:schemeClr val="bg1"/>
                </a:solidFill>
              </a:rPr>
              <a:t> </a:t>
            </a:r>
            <a:r>
              <a:rPr lang="en-GB" sz="900" dirty="0" err="1">
                <a:solidFill>
                  <a:schemeClr val="bg1"/>
                </a:solidFill>
              </a:rPr>
              <a:t>gps</a:t>
            </a:r>
            <a:r>
              <a:rPr lang="en-GB" sz="900" dirty="0">
                <a:solidFill>
                  <a:schemeClr val="bg1"/>
                </a:solidFill>
              </a:rPr>
              <a:t>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void setup()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Serial.begin</a:t>
            </a:r>
            <a:r>
              <a:rPr lang="en-GB" sz="900" dirty="0">
                <a:solidFill>
                  <a:schemeClr val="bg1"/>
                </a:solidFill>
              </a:rPr>
              <a:t>(9600);   // GPS connected to Arduino RX (D0) and TX (D1)</a:t>
            </a:r>
          </a:p>
          <a:p>
            <a:r>
              <a:rPr lang="en-GB" sz="900" dirty="0">
                <a:solidFill>
                  <a:schemeClr val="bg1"/>
                </a:solidFill>
              </a:rPr>
              <a:t>  delay(1000);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Initialize OLED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if (!</a:t>
            </a:r>
            <a:r>
              <a:rPr lang="en-GB" sz="900" dirty="0" err="1">
                <a:solidFill>
                  <a:schemeClr val="bg1"/>
                </a:solidFill>
              </a:rPr>
              <a:t>display.begin</a:t>
            </a:r>
            <a:r>
              <a:rPr lang="en-GB" sz="900" dirty="0">
                <a:solidFill>
                  <a:schemeClr val="bg1"/>
                </a:solidFill>
              </a:rPr>
              <a:t>(SSD1306_SWITCHCAPVCC, 0x3C)) { // Common I2C address: 0x3C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</a:t>
            </a:r>
            <a:r>
              <a:rPr lang="en-GB" sz="900" dirty="0" err="1">
                <a:solidFill>
                  <a:schemeClr val="bg1"/>
                </a:solidFill>
              </a:rPr>
              <a:t>Serial.println</a:t>
            </a:r>
            <a:r>
              <a:rPr lang="en-GB" sz="900" dirty="0">
                <a:solidFill>
                  <a:schemeClr val="bg1"/>
                </a:solidFill>
              </a:rPr>
              <a:t>(F("SSD1306 allocation failed"));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for (;;); // Don't continue</a:t>
            </a:r>
          </a:p>
          <a:p>
            <a:r>
              <a:rPr lang="en-GB" sz="900" dirty="0">
                <a:solidFill>
                  <a:schemeClr val="bg1"/>
                </a:solidFill>
              </a:rPr>
              <a:t>  }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display.clearDisplay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display.setTextSize</a:t>
            </a:r>
            <a:r>
              <a:rPr lang="en-GB" sz="900" dirty="0">
                <a:solidFill>
                  <a:schemeClr val="bg1"/>
                </a:solidFill>
              </a:rPr>
              <a:t>(1);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display.setTextColor</a:t>
            </a:r>
            <a:r>
              <a:rPr lang="en-GB" sz="900" dirty="0">
                <a:solidFill>
                  <a:schemeClr val="bg1"/>
                </a:solidFill>
              </a:rPr>
              <a:t>(SSD1306_WHITE);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display.setCursor</a:t>
            </a:r>
            <a:r>
              <a:rPr lang="en-GB" sz="900" dirty="0">
                <a:solidFill>
                  <a:schemeClr val="bg1"/>
                </a:solidFill>
              </a:rPr>
              <a:t>(0, 0);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(F("GPS Module Test"));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display.display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delay(1500);</a:t>
            </a:r>
          </a:p>
          <a:p>
            <a:r>
              <a:rPr lang="en-GB" sz="900" dirty="0">
                <a:solidFill>
                  <a:schemeClr val="bg1"/>
                </a:solidFill>
              </a:rPr>
              <a:t>}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void loop()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// Read GPS data from Serial</a:t>
            </a:r>
          </a:p>
          <a:p>
            <a:r>
              <a:rPr lang="en-GB" sz="900" dirty="0">
                <a:solidFill>
                  <a:schemeClr val="bg1"/>
                </a:solidFill>
              </a:rPr>
              <a:t>  while (</a:t>
            </a:r>
            <a:r>
              <a:rPr lang="en-GB" sz="900" dirty="0" err="1">
                <a:solidFill>
                  <a:schemeClr val="bg1"/>
                </a:solidFill>
              </a:rPr>
              <a:t>Serial.available</a:t>
            </a:r>
            <a:r>
              <a:rPr lang="en-GB" sz="900" dirty="0">
                <a:solidFill>
                  <a:schemeClr val="bg1"/>
                </a:solidFill>
              </a:rPr>
              <a:t>() &gt; 0)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</a:t>
            </a:r>
            <a:r>
              <a:rPr lang="en-GB" sz="900" dirty="0" err="1">
                <a:solidFill>
                  <a:schemeClr val="bg1"/>
                </a:solidFill>
              </a:rPr>
              <a:t>gps.encode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Serial.read</a:t>
            </a:r>
            <a:r>
              <a:rPr lang="en-GB" sz="900" dirty="0">
                <a:solidFill>
                  <a:schemeClr val="bg1"/>
                </a:solidFill>
              </a:rPr>
              <a:t>());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  if (</a:t>
            </a:r>
            <a:r>
              <a:rPr lang="en-GB" sz="900" dirty="0" err="1">
                <a:solidFill>
                  <a:schemeClr val="bg1"/>
                </a:solidFill>
              </a:rPr>
              <a:t>gps.location.isUpdated</a:t>
            </a:r>
            <a:r>
              <a:rPr lang="en-GB" sz="900" dirty="0">
                <a:solidFill>
                  <a:schemeClr val="bg1"/>
                </a:solidFill>
              </a:rPr>
              <a:t>())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display.clearDisplay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display.setTextSize</a:t>
            </a:r>
            <a:r>
              <a:rPr lang="en-GB" sz="900" dirty="0">
                <a:solidFill>
                  <a:schemeClr val="bg1"/>
                </a:solidFill>
              </a:rPr>
              <a:t>(1);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display.setTextColor</a:t>
            </a:r>
            <a:r>
              <a:rPr lang="en-GB" sz="900" dirty="0">
                <a:solidFill>
                  <a:schemeClr val="bg1"/>
                </a:solidFill>
              </a:rPr>
              <a:t>(SSD1306_WHITE);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display.setCursor</a:t>
            </a:r>
            <a:r>
              <a:rPr lang="en-GB" sz="900" dirty="0">
                <a:solidFill>
                  <a:schemeClr val="bg1"/>
                </a:solidFill>
              </a:rPr>
              <a:t>(0, 0);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    // Latitude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(F("Lat: 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if (</a:t>
            </a:r>
            <a:r>
              <a:rPr lang="en-GB" sz="900" dirty="0" err="1">
                <a:solidFill>
                  <a:schemeClr val="bg1"/>
                </a:solidFill>
              </a:rPr>
              <a:t>gps.location.isValid</a:t>
            </a:r>
            <a:r>
              <a:rPr lang="en-GB" sz="900" dirty="0">
                <a:solidFill>
                  <a:schemeClr val="bg1"/>
                </a:solidFill>
              </a:rPr>
              <a:t>())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gps.location.lat</a:t>
            </a:r>
            <a:r>
              <a:rPr lang="en-GB" sz="900" dirty="0">
                <a:solidFill>
                  <a:schemeClr val="bg1"/>
                </a:solidFill>
              </a:rPr>
              <a:t>(), 6);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else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(F("Invalid"));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    // Longitude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(F("Lon: 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if (</a:t>
            </a:r>
            <a:r>
              <a:rPr lang="en-GB" sz="900" dirty="0" err="1">
                <a:solidFill>
                  <a:schemeClr val="bg1"/>
                </a:solidFill>
              </a:rPr>
              <a:t>gps.location.isValid</a:t>
            </a:r>
            <a:r>
              <a:rPr lang="en-GB" sz="900" dirty="0">
                <a:solidFill>
                  <a:schemeClr val="bg1"/>
                </a:solidFill>
              </a:rPr>
              <a:t>())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gps.location.lng</a:t>
            </a:r>
            <a:r>
              <a:rPr lang="en-GB" sz="900" dirty="0">
                <a:solidFill>
                  <a:schemeClr val="bg1"/>
                </a:solidFill>
              </a:rPr>
              <a:t>(), 6);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else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(F("Invalid"));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    // Date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(F("Date: 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if (</a:t>
            </a:r>
            <a:r>
              <a:rPr lang="en-GB" sz="900" dirty="0" err="1">
                <a:solidFill>
                  <a:schemeClr val="bg1"/>
                </a:solidFill>
              </a:rPr>
              <a:t>gps.date.isValid</a:t>
            </a:r>
            <a:r>
              <a:rPr lang="en-GB" sz="900" dirty="0">
                <a:solidFill>
                  <a:schemeClr val="bg1"/>
                </a:solidFill>
              </a:rPr>
              <a:t>())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gps.date.day</a:t>
            </a:r>
            <a:r>
              <a:rPr lang="en-GB" sz="900" dirty="0">
                <a:solidFill>
                  <a:schemeClr val="bg1"/>
                </a:solidFill>
              </a:rPr>
              <a:t>());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("/");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gps.date.month</a:t>
            </a:r>
            <a:r>
              <a:rPr lang="en-GB" sz="900" dirty="0">
                <a:solidFill>
                  <a:schemeClr val="bg1"/>
                </a:solidFill>
              </a:rPr>
              <a:t>());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("/");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gps.date.year</a:t>
            </a:r>
            <a:r>
              <a:rPr lang="en-GB" sz="900" dirty="0">
                <a:solidFill>
                  <a:schemeClr val="bg1"/>
                </a:solidFill>
              </a:rPr>
              <a:t>());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} else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(F("Invalid"));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}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    // Time (UTC)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(F("Time: 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if (</a:t>
            </a:r>
            <a:r>
              <a:rPr lang="en-GB" sz="900" dirty="0" err="1">
                <a:solidFill>
                  <a:schemeClr val="bg1"/>
                </a:solidFill>
              </a:rPr>
              <a:t>gps.time.isValid</a:t>
            </a:r>
            <a:r>
              <a:rPr lang="en-GB" sz="900" dirty="0">
                <a:solidFill>
                  <a:schemeClr val="bg1"/>
                </a:solidFill>
              </a:rPr>
              <a:t>())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if (</a:t>
            </a:r>
            <a:r>
              <a:rPr lang="en-GB" sz="900" dirty="0" err="1">
                <a:solidFill>
                  <a:schemeClr val="bg1"/>
                </a:solidFill>
              </a:rPr>
              <a:t>gps.time.hour</a:t>
            </a:r>
            <a:r>
              <a:rPr lang="en-GB" sz="900" dirty="0">
                <a:solidFill>
                  <a:schemeClr val="bg1"/>
                </a:solidFill>
              </a:rPr>
              <a:t>() &lt; 10)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("0");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gps.time.hour</a:t>
            </a:r>
            <a:r>
              <a:rPr lang="en-GB" sz="900" dirty="0">
                <a:solidFill>
                  <a:schemeClr val="bg1"/>
                </a:solidFill>
              </a:rPr>
              <a:t>());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(":");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if (</a:t>
            </a:r>
            <a:r>
              <a:rPr lang="en-GB" sz="900" dirty="0" err="1">
                <a:solidFill>
                  <a:schemeClr val="bg1"/>
                </a:solidFill>
              </a:rPr>
              <a:t>gps.time.minute</a:t>
            </a:r>
            <a:r>
              <a:rPr lang="en-GB" sz="900" dirty="0">
                <a:solidFill>
                  <a:schemeClr val="bg1"/>
                </a:solidFill>
              </a:rPr>
              <a:t>() &lt; 10)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("0");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gps.time.minute</a:t>
            </a:r>
            <a:r>
              <a:rPr lang="en-GB" sz="900" dirty="0">
                <a:solidFill>
                  <a:schemeClr val="bg1"/>
                </a:solidFill>
              </a:rPr>
              <a:t>());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(":");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if (</a:t>
            </a:r>
            <a:r>
              <a:rPr lang="en-GB" sz="900" dirty="0" err="1">
                <a:solidFill>
                  <a:schemeClr val="bg1"/>
                </a:solidFill>
              </a:rPr>
              <a:t>gps.time.second</a:t>
            </a:r>
            <a:r>
              <a:rPr lang="en-GB" sz="900" dirty="0">
                <a:solidFill>
                  <a:schemeClr val="bg1"/>
                </a:solidFill>
              </a:rPr>
              <a:t>() &lt; 10)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("0");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gps.time.second</a:t>
            </a:r>
            <a:r>
              <a:rPr lang="en-GB" sz="900" dirty="0">
                <a:solidFill>
                  <a:schemeClr val="bg1"/>
                </a:solidFill>
              </a:rPr>
              <a:t>());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} else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(F("Invalid"));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}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display.display</a:t>
            </a:r>
            <a:r>
              <a:rPr lang="en-GB" sz="900" dirty="0">
                <a:solidFill>
                  <a:schemeClr val="bg1"/>
                </a:solidFill>
              </a:rPr>
              <a:t>(); // Show all text on OLED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    // Optional: Print to Serial as well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("Lat: ");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gps.location.lat</a:t>
            </a:r>
            <a:r>
              <a:rPr lang="en-GB" sz="900" dirty="0">
                <a:solidFill>
                  <a:schemeClr val="bg1"/>
                </a:solidFill>
              </a:rPr>
              <a:t>(), 6);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(", Lon: ");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gps.location.lng</a:t>
            </a:r>
            <a:r>
              <a:rPr lang="en-GB" sz="900" dirty="0">
                <a:solidFill>
                  <a:schemeClr val="bg1"/>
                </a:solidFill>
              </a:rPr>
              <a:t>(), 6);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(", Date: 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if (</a:t>
            </a:r>
            <a:r>
              <a:rPr lang="en-GB" sz="900" dirty="0" err="1">
                <a:solidFill>
                  <a:schemeClr val="bg1"/>
                </a:solidFill>
              </a:rPr>
              <a:t>gps.date.isValid</a:t>
            </a:r>
            <a:r>
              <a:rPr lang="en-GB" sz="900" dirty="0">
                <a:solidFill>
                  <a:schemeClr val="bg1"/>
                </a:solidFill>
              </a:rPr>
              <a:t>())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gps.date.day</a:t>
            </a:r>
            <a:r>
              <a:rPr lang="en-GB" sz="900" dirty="0">
                <a:solidFill>
                  <a:schemeClr val="bg1"/>
                </a:solidFill>
              </a:rPr>
              <a:t>());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("/");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gps.date.month</a:t>
            </a:r>
            <a:r>
              <a:rPr lang="en-GB" sz="900" dirty="0">
                <a:solidFill>
                  <a:schemeClr val="bg1"/>
                </a:solidFill>
              </a:rPr>
              <a:t>());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("/");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gps.date.year</a:t>
            </a:r>
            <a:r>
              <a:rPr lang="en-GB" sz="900" dirty="0">
                <a:solidFill>
                  <a:schemeClr val="bg1"/>
                </a:solidFill>
              </a:rPr>
              <a:t>());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} else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("Invalid");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(", Time: 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if (</a:t>
            </a:r>
            <a:r>
              <a:rPr lang="en-GB" sz="900" dirty="0" err="1">
                <a:solidFill>
                  <a:schemeClr val="bg1"/>
                </a:solidFill>
              </a:rPr>
              <a:t>gps.time.isValid</a:t>
            </a:r>
            <a:r>
              <a:rPr lang="en-GB" sz="900" dirty="0">
                <a:solidFill>
                  <a:schemeClr val="bg1"/>
                </a:solidFill>
              </a:rPr>
              <a:t>())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gps.time.hour</a:t>
            </a:r>
            <a:r>
              <a:rPr lang="en-GB" sz="900" dirty="0">
                <a:solidFill>
                  <a:schemeClr val="bg1"/>
                </a:solidFill>
              </a:rPr>
              <a:t>());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(":");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gps.time.minute</a:t>
            </a:r>
            <a:r>
              <a:rPr lang="en-GB" sz="900" dirty="0">
                <a:solidFill>
                  <a:schemeClr val="bg1"/>
                </a:solidFill>
              </a:rPr>
              <a:t>());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(":");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 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gps.time.second</a:t>
            </a:r>
            <a:r>
              <a:rPr lang="en-GB" sz="900" dirty="0">
                <a:solidFill>
                  <a:schemeClr val="bg1"/>
                </a:solidFill>
              </a:rPr>
              <a:t>());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} else </a:t>
            </a:r>
            <a:r>
              <a:rPr lang="en-GB" sz="900" dirty="0" err="1">
                <a:solidFill>
                  <a:schemeClr val="bg1"/>
                </a:solidFill>
              </a:rPr>
              <a:t>Serial.print</a:t>
            </a:r>
            <a:r>
              <a:rPr lang="en-GB" sz="900" dirty="0">
                <a:solidFill>
                  <a:schemeClr val="bg1"/>
                </a:solidFill>
              </a:rPr>
              <a:t>("Invalid");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  </a:t>
            </a:r>
            <a:r>
              <a:rPr lang="en-GB" sz="900" dirty="0" err="1">
                <a:solidFill>
                  <a:schemeClr val="bg1"/>
                </a:solidFill>
              </a:rPr>
              <a:t>Serial.println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}</a:t>
            </a:r>
          </a:p>
          <a:p>
            <a:r>
              <a:rPr lang="en-GB" sz="900" dirty="0">
                <a:solidFill>
                  <a:schemeClr val="bg1"/>
                </a:solidFill>
              </a:rPr>
              <a:t>  }</a:t>
            </a:r>
          </a:p>
          <a:p>
            <a:r>
              <a:rPr lang="en-GB" sz="9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F7C3A3-ED15-5036-B49B-E46A02AB282A}"/>
              </a:ext>
            </a:extLst>
          </p:cNvPr>
          <p:cNvSpPr txBox="1"/>
          <p:nvPr/>
        </p:nvSpPr>
        <p:spPr>
          <a:xfrm>
            <a:off x="362627" y="913152"/>
            <a:ext cx="69988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Get GPS Coordinates from GPS Module</a:t>
            </a:r>
          </a:p>
          <a:p>
            <a:endParaRPr lang="en-GB" dirty="0">
              <a:solidFill>
                <a:schemeClr val="accent4"/>
              </a:solidFill>
            </a:endParaRPr>
          </a:p>
          <a:p>
            <a:r>
              <a:rPr lang="en-GB" dirty="0">
                <a:solidFill>
                  <a:schemeClr val="accent5"/>
                </a:solidFill>
              </a:rPr>
              <a:t>Note: The GPS module </a:t>
            </a:r>
            <a:r>
              <a:rPr lang="en-GB" sz="2400" b="1" u="sng" dirty="0">
                <a:solidFill>
                  <a:schemeClr val="accent5"/>
                </a:solidFill>
              </a:rPr>
              <a:t>MUST</a:t>
            </a:r>
            <a:r>
              <a:rPr lang="en-GB" dirty="0">
                <a:solidFill>
                  <a:schemeClr val="accent5"/>
                </a:solidFill>
              </a:rPr>
              <a:t> be disconnected from the controller board otherwise the program upload fails</a:t>
            </a:r>
          </a:p>
          <a:p>
            <a:endParaRPr lang="en-GB" dirty="0">
              <a:solidFill>
                <a:schemeClr val="accent5"/>
              </a:solidFill>
            </a:endParaRPr>
          </a:p>
          <a:p>
            <a:r>
              <a:rPr lang="en-GB" dirty="0">
                <a:solidFill>
                  <a:schemeClr val="accent5"/>
                </a:solidFill>
              </a:rPr>
              <a:t>Code Link: </a:t>
            </a:r>
            <a:r>
              <a:rPr lang="en-GB" sz="1400" dirty="0">
                <a:solidFill>
                  <a:schemeClr val="accent5"/>
                </a:solidFill>
                <a:hlinkClick r:id="rId3"/>
              </a:rPr>
              <a:t>https://github.com/info-zas/zas-robotics-car-3-encoders-imu-gps/blob/main/04_BasicFunctionalTests/00_UnitTests/02_GPS_TX_RX_OLED.ino</a:t>
            </a:r>
            <a:endParaRPr lang="en-GB" sz="1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067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F1CB8-2191-090B-AF00-ABEDC541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BEC0-75B6-11DB-3090-4CC6CFB7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1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Digital Compass</a:t>
            </a:r>
          </a:p>
        </p:txBody>
      </p:sp>
    </p:spTree>
    <p:extLst>
      <p:ext uri="{BB962C8B-B14F-4D97-AF65-F5344CB8AC3E}">
        <p14:creationId xmlns:p14="http://schemas.microsoft.com/office/powerpoint/2010/main" val="2529338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F55AE-6FEC-7863-61FB-09DBC836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A132-3146-1C3D-CFC9-FB572FD0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1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Digital Compass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625C17-3E0B-D082-E236-DDB2233C2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120" y="456144"/>
            <a:ext cx="4106162" cy="580865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F250CA-DC00-3EB1-63C6-D5535CB51EE4}"/>
              </a:ext>
            </a:extLst>
          </p:cNvPr>
          <p:cNvSpPr/>
          <p:nvPr/>
        </p:nvSpPr>
        <p:spPr>
          <a:xfrm>
            <a:off x="9248172" y="5463251"/>
            <a:ext cx="1203767" cy="844952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DFBFC-1764-4637-17C3-15D6D5863F0B}"/>
              </a:ext>
            </a:extLst>
          </p:cNvPr>
          <p:cNvSpPr txBox="1"/>
          <p:nvPr/>
        </p:nvSpPr>
        <p:spPr>
          <a:xfrm>
            <a:off x="362627" y="2495113"/>
            <a:ext cx="6221392" cy="12972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#include &lt;</a:t>
            </a:r>
            <a:r>
              <a:rPr lang="en-GB" sz="900" dirty="0" err="1">
                <a:solidFill>
                  <a:schemeClr val="bg1"/>
                </a:solidFill>
              </a:rPr>
              <a:t>Wire.h</a:t>
            </a:r>
            <a:r>
              <a:rPr lang="en-GB" sz="900" dirty="0">
                <a:solidFill>
                  <a:schemeClr val="bg1"/>
                </a:solidFill>
              </a:rPr>
              <a:t>&gt;</a:t>
            </a:r>
          </a:p>
          <a:p>
            <a:r>
              <a:rPr lang="en-GB" sz="900" dirty="0">
                <a:solidFill>
                  <a:schemeClr val="bg1"/>
                </a:solidFill>
              </a:rPr>
              <a:t>#include &lt;QMC5883LCompass.h&gt;</a:t>
            </a:r>
          </a:p>
          <a:p>
            <a:r>
              <a:rPr lang="en-GB" sz="900" dirty="0">
                <a:solidFill>
                  <a:schemeClr val="bg1"/>
                </a:solidFill>
              </a:rPr>
              <a:t>#include &lt;</a:t>
            </a:r>
            <a:r>
              <a:rPr lang="en-GB" sz="900" dirty="0" err="1">
                <a:solidFill>
                  <a:schemeClr val="bg1"/>
                </a:solidFill>
              </a:rPr>
              <a:t>Adafruit_GFX.h</a:t>
            </a:r>
            <a:r>
              <a:rPr lang="en-GB" sz="900" dirty="0">
                <a:solidFill>
                  <a:schemeClr val="bg1"/>
                </a:solidFill>
              </a:rPr>
              <a:t>&gt;</a:t>
            </a:r>
          </a:p>
          <a:p>
            <a:r>
              <a:rPr lang="en-GB" sz="900" dirty="0">
                <a:solidFill>
                  <a:schemeClr val="bg1"/>
                </a:solidFill>
              </a:rPr>
              <a:t>#include &lt;Adafruit_SSD1306.h&gt;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// --- OLED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#define SCREEN_WIDTH 128</a:t>
            </a:r>
          </a:p>
          <a:p>
            <a:r>
              <a:rPr lang="en-GB" sz="900" dirty="0">
                <a:solidFill>
                  <a:schemeClr val="bg1"/>
                </a:solidFill>
              </a:rPr>
              <a:t>#define SCREEN_HEIGHT 64</a:t>
            </a:r>
          </a:p>
          <a:p>
            <a:r>
              <a:rPr lang="en-GB" sz="900" dirty="0">
                <a:solidFill>
                  <a:schemeClr val="bg1"/>
                </a:solidFill>
              </a:rPr>
              <a:t>#define OLED_RESET -1</a:t>
            </a:r>
          </a:p>
          <a:p>
            <a:r>
              <a:rPr lang="en-GB" sz="900" dirty="0">
                <a:solidFill>
                  <a:schemeClr val="bg1"/>
                </a:solidFill>
              </a:rPr>
              <a:t>Adafruit_SSD1306 display(SCREEN_WIDTH, SCREEN_HEIGHT, &amp;Wire, OLED_RESET);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// --- Magnetometer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QMC5883LCompass compass;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// --- Calibration (runtime min/max)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int16_t </a:t>
            </a:r>
            <a:r>
              <a:rPr lang="en-GB" sz="900" dirty="0" err="1">
                <a:solidFill>
                  <a:schemeClr val="bg1"/>
                </a:solidFill>
              </a:rPr>
              <a:t>xMin</a:t>
            </a:r>
            <a:r>
              <a:rPr lang="en-GB" sz="900" dirty="0">
                <a:solidFill>
                  <a:schemeClr val="bg1"/>
                </a:solidFill>
              </a:rPr>
              <a:t> = 32767, </a:t>
            </a:r>
            <a:r>
              <a:rPr lang="en-GB" sz="900" dirty="0" err="1">
                <a:solidFill>
                  <a:schemeClr val="bg1"/>
                </a:solidFill>
              </a:rPr>
              <a:t>xMax</a:t>
            </a:r>
            <a:r>
              <a:rPr lang="en-GB" sz="900" dirty="0">
                <a:solidFill>
                  <a:schemeClr val="bg1"/>
                </a:solidFill>
              </a:rPr>
              <a:t> = -32768;</a:t>
            </a:r>
          </a:p>
          <a:p>
            <a:r>
              <a:rPr lang="en-GB" sz="900" dirty="0">
                <a:solidFill>
                  <a:schemeClr val="bg1"/>
                </a:solidFill>
              </a:rPr>
              <a:t>int16_t </a:t>
            </a:r>
            <a:r>
              <a:rPr lang="en-GB" sz="900" dirty="0" err="1">
                <a:solidFill>
                  <a:schemeClr val="bg1"/>
                </a:solidFill>
              </a:rPr>
              <a:t>yMin</a:t>
            </a:r>
            <a:r>
              <a:rPr lang="en-GB" sz="900" dirty="0">
                <a:solidFill>
                  <a:schemeClr val="bg1"/>
                </a:solidFill>
              </a:rPr>
              <a:t> = 32767, </a:t>
            </a:r>
            <a:r>
              <a:rPr lang="en-GB" sz="900" dirty="0" err="1">
                <a:solidFill>
                  <a:schemeClr val="bg1"/>
                </a:solidFill>
              </a:rPr>
              <a:t>yMax</a:t>
            </a:r>
            <a:r>
              <a:rPr lang="en-GB" sz="900" dirty="0">
                <a:solidFill>
                  <a:schemeClr val="bg1"/>
                </a:solidFill>
              </a:rPr>
              <a:t> = -32768;</a:t>
            </a:r>
          </a:p>
          <a:p>
            <a:r>
              <a:rPr lang="en-GB" sz="900" dirty="0">
                <a:solidFill>
                  <a:schemeClr val="bg1"/>
                </a:solidFill>
              </a:rPr>
              <a:t>int16_t </a:t>
            </a:r>
            <a:r>
              <a:rPr lang="en-GB" sz="900" dirty="0" err="1">
                <a:solidFill>
                  <a:schemeClr val="bg1"/>
                </a:solidFill>
              </a:rPr>
              <a:t>zMin</a:t>
            </a:r>
            <a:r>
              <a:rPr lang="en-GB" sz="900" dirty="0">
                <a:solidFill>
                  <a:schemeClr val="bg1"/>
                </a:solidFill>
              </a:rPr>
              <a:t> = 32767, </a:t>
            </a:r>
            <a:r>
              <a:rPr lang="en-GB" sz="900" dirty="0" err="1">
                <a:solidFill>
                  <a:schemeClr val="bg1"/>
                </a:solidFill>
              </a:rPr>
              <a:t>zMax</a:t>
            </a:r>
            <a:r>
              <a:rPr lang="en-GB" sz="900" dirty="0">
                <a:solidFill>
                  <a:schemeClr val="bg1"/>
                </a:solidFill>
              </a:rPr>
              <a:t> = -32768;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void setup()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Serial.begin</a:t>
            </a:r>
            <a:r>
              <a:rPr lang="en-GB" sz="900" dirty="0">
                <a:solidFill>
                  <a:schemeClr val="bg1"/>
                </a:solidFill>
              </a:rPr>
              <a:t>(9600);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Wire.begin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if (!</a:t>
            </a:r>
            <a:r>
              <a:rPr lang="en-GB" sz="900" dirty="0" err="1">
                <a:solidFill>
                  <a:schemeClr val="bg1"/>
                </a:solidFill>
              </a:rPr>
              <a:t>display.begin</a:t>
            </a:r>
            <a:r>
              <a:rPr lang="en-GB" sz="900" dirty="0">
                <a:solidFill>
                  <a:schemeClr val="bg1"/>
                </a:solidFill>
              </a:rPr>
              <a:t>(SSD1306_SWITCHCAPVCC, 0x3C))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// If this fails, reduce what you print or switch to U8g2 low-memory mode</a:t>
            </a:r>
          </a:p>
          <a:p>
            <a:r>
              <a:rPr lang="en-GB" sz="900" dirty="0">
                <a:solidFill>
                  <a:schemeClr val="bg1"/>
                </a:solidFill>
              </a:rPr>
              <a:t>    while (1);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}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display.clearDisplay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display.setTextSize</a:t>
            </a:r>
            <a:r>
              <a:rPr lang="en-GB" sz="900" dirty="0">
                <a:solidFill>
                  <a:schemeClr val="bg1"/>
                </a:solidFill>
              </a:rPr>
              <a:t>(1);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display.setTextColor</a:t>
            </a:r>
            <a:r>
              <a:rPr lang="en-GB" sz="900" dirty="0">
                <a:solidFill>
                  <a:schemeClr val="bg1"/>
                </a:solidFill>
              </a:rPr>
              <a:t>(SSD1306_WHITE);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display.setCursor</a:t>
            </a:r>
            <a:r>
              <a:rPr lang="en-GB" sz="900" dirty="0">
                <a:solidFill>
                  <a:schemeClr val="bg1"/>
                </a:solidFill>
              </a:rPr>
              <a:t>(0,0);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(F("QMC5883L Calib"));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(F("Rotate in all axes"));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display.display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compass.init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delay(800);</a:t>
            </a:r>
          </a:p>
          <a:p>
            <a:r>
              <a:rPr lang="en-GB" sz="900" dirty="0">
                <a:solidFill>
                  <a:schemeClr val="bg1"/>
                </a:solidFill>
              </a:rPr>
              <a:t>}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void loop() {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compass.read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int x = </a:t>
            </a:r>
            <a:r>
              <a:rPr lang="en-GB" sz="900" dirty="0" err="1">
                <a:solidFill>
                  <a:schemeClr val="bg1"/>
                </a:solidFill>
              </a:rPr>
              <a:t>compass.getX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int y = </a:t>
            </a:r>
            <a:r>
              <a:rPr lang="en-GB" sz="900" dirty="0" err="1">
                <a:solidFill>
                  <a:schemeClr val="bg1"/>
                </a:solidFill>
              </a:rPr>
              <a:t>compass.getY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int z = </a:t>
            </a:r>
            <a:r>
              <a:rPr lang="en-GB" sz="900" dirty="0" err="1">
                <a:solidFill>
                  <a:schemeClr val="bg1"/>
                </a:solidFill>
              </a:rPr>
              <a:t>compass.getZ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--- Update min/max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if (x &lt; </a:t>
            </a:r>
            <a:r>
              <a:rPr lang="en-GB" sz="900" dirty="0" err="1">
                <a:solidFill>
                  <a:schemeClr val="bg1"/>
                </a:solidFill>
              </a:rPr>
              <a:t>xMin</a:t>
            </a:r>
            <a:r>
              <a:rPr lang="en-GB" sz="900" dirty="0">
                <a:solidFill>
                  <a:schemeClr val="bg1"/>
                </a:solidFill>
              </a:rPr>
              <a:t>) </a:t>
            </a:r>
            <a:r>
              <a:rPr lang="en-GB" sz="900" dirty="0" err="1">
                <a:solidFill>
                  <a:schemeClr val="bg1"/>
                </a:solidFill>
              </a:rPr>
              <a:t>xMin</a:t>
            </a:r>
            <a:r>
              <a:rPr lang="en-GB" sz="900" dirty="0">
                <a:solidFill>
                  <a:schemeClr val="bg1"/>
                </a:solidFill>
              </a:rPr>
              <a:t> = x; if (x &gt; </a:t>
            </a:r>
            <a:r>
              <a:rPr lang="en-GB" sz="900" dirty="0" err="1">
                <a:solidFill>
                  <a:schemeClr val="bg1"/>
                </a:solidFill>
              </a:rPr>
              <a:t>xMax</a:t>
            </a:r>
            <a:r>
              <a:rPr lang="en-GB" sz="900" dirty="0">
                <a:solidFill>
                  <a:schemeClr val="bg1"/>
                </a:solidFill>
              </a:rPr>
              <a:t>) </a:t>
            </a:r>
            <a:r>
              <a:rPr lang="en-GB" sz="900" dirty="0" err="1">
                <a:solidFill>
                  <a:schemeClr val="bg1"/>
                </a:solidFill>
              </a:rPr>
              <a:t>xMax</a:t>
            </a:r>
            <a:r>
              <a:rPr lang="en-GB" sz="900" dirty="0">
                <a:solidFill>
                  <a:schemeClr val="bg1"/>
                </a:solidFill>
              </a:rPr>
              <a:t> = x;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if (y &lt; </a:t>
            </a:r>
            <a:r>
              <a:rPr lang="en-GB" sz="900" dirty="0" err="1">
                <a:solidFill>
                  <a:schemeClr val="bg1"/>
                </a:solidFill>
              </a:rPr>
              <a:t>yMin</a:t>
            </a:r>
            <a:r>
              <a:rPr lang="en-GB" sz="900" dirty="0">
                <a:solidFill>
                  <a:schemeClr val="bg1"/>
                </a:solidFill>
              </a:rPr>
              <a:t>) </a:t>
            </a:r>
            <a:r>
              <a:rPr lang="en-GB" sz="900" dirty="0" err="1">
                <a:solidFill>
                  <a:schemeClr val="bg1"/>
                </a:solidFill>
              </a:rPr>
              <a:t>yMin</a:t>
            </a:r>
            <a:r>
              <a:rPr lang="en-GB" sz="900" dirty="0">
                <a:solidFill>
                  <a:schemeClr val="bg1"/>
                </a:solidFill>
              </a:rPr>
              <a:t> = y; if (y &gt; </a:t>
            </a:r>
            <a:r>
              <a:rPr lang="en-GB" sz="900" dirty="0" err="1">
                <a:solidFill>
                  <a:schemeClr val="bg1"/>
                </a:solidFill>
              </a:rPr>
              <a:t>yMax</a:t>
            </a:r>
            <a:r>
              <a:rPr lang="en-GB" sz="900" dirty="0">
                <a:solidFill>
                  <a:schemeClr val="bg1"/>
                </a:solidFill>
              </a:rPr>
              <a:t>) </a:t>
            </a:r>
            <a:r>
              <a:rPr lang="en-GB" sz="900" dirty="0" err="1">
                <a:solidFill>
                  <a:schemeClr val="bg1"/>
                </a:solidFill>
              </a:rPr>
              <a:t>yMax</a:t>
            </a:r>
            <a:r>
              <a:rPr lang="en-GB" sz="900" dirty="0">
                <a:solidFill>
                  <a:schemeClr val="bg1"/>
                </a:solidFill>
              </a:rPr>
              <a:t> = y;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if (z &lt; </a:t>
            </a:r>
            <a:r>
              <a:rPr lang="en-GB" sz="900" dirty="0" err="1">
                <a:solidFill>
                  <a:schemeClr val="bg1"/>
                </a:solidFill>
              </a:rPr>
              <a:t>zMin</a:t>
            </a:r>
            <a:r>
              <a:rPr lang="en-GB" sz="900" dirty="0">
                <a:solidFill>
                  <a:schemeClr val="bg1"/>
                </a:solidFill>
              </a:rPr>
              <a:t>) </a:t>
            </a:r>
            <a:r>
              <a:rPr lang="en-GB" sz="900" dirty="0" err="1">
                <a:solidFill>
                  <a:schemeClr val="bg1"/>
                </a:solidFill>
              </a:rPr>
              <a:t>zMin</a:t>
            </a:r>
            <a:r>
              <a:rPr lang="en-GB" sz="900" dirty="0">
                <a:solidFill>
                  <a:schemeClr val="bg1"/>
                </a:solidFill>
              </a:rPr>
              <a:t> = z; if (z &gt; </a:t>
            </a:r>
            <a:r>
              <a:rPr lang="en-GB" sz="900" dirty="0" err="1">
                <a:solidFill>
                  <a:schemeClr val="bg1"/>
                </a:solidFill>
              </a:rPr>
              <a:t>zMax</a:t>
            </a:r>
            <a:r>
              <a:rPr lang="en-GB" sz="900" dirty="0">
                <a:solidFill>
                  <a:schemeClr val="bg1"/>
                </a:solidFill>
              </a:rPr>
              <a:t>) </a:t>
            </a:r>
            <a:r>
              <a:rPr lang="en-GB" sz="900" dirty="0" err="1">
                <a:solidFill>
                  <a:schemeClr val="bg1"/>
                </a:solidFill>
              </a:rPr>
              <a:t>zMax</a:t>
            </a:r>
            <a:r>
              <a:rPr lang="en-GB" sz="900" dirty="0">
                <a:solidFill>
                  <a:schemeClr val="bg1"/>
                </a:solidFill>
              </a:rPr>
              <a:t> = z;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--- Offsets (hard-iron)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xOff</a:t>
            </a:r>
            <a:r>
              <a:rPr lang="en-GB" sz="900" dirty="0">
                <a:solidFill>
                  <a:schemeClr val="bg1"/>
                </a:solidFill>
              </a:rPr>
              <a:t> = (</a:t>
            </a:r>
            <a:r>
              <a:rPr lang="en-GB" sz="900" dirty="0" err="1">
                <a:solidFill>
                  <a:schemeClr val="bg1"/>
                </a:solidFill>
              </a:rPr>
              <a:t>xMax</a:t>
            </a:r>
            <a:r>
              <a:rPr lang="en-GB" sz="900" dirty="0">
                <a:solidFill>
                  <a:schemeClr val="bg1"/>
                </a:solidFill>
              </a:rPr>
              <a:t> + </a:t>
            </a:r>
            <a:r>
              <a:rPr lang="en-GB" sz="900" dirty="0" err="1">
                <a:solidFill>
                  <a:schemeClr val="bg1"/>
                </a:solidFill>
              </a:rPr>
              <a:t>xMin</a:t>
            </a:r>
            <a:r>
              <a:rPr lang="en-GB" sz="900" dirty="0">
                <a:solidFill>
                  <a:schemeClr val="bg1"/>
                </a:solidFill>
              </a:rPr>
              <a:t>) * 0.5f;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yOff</a:t>
            </a:r>
            <a:r>
              <a:rPr lang="en-GB" sz="900" dirty="0">
                <a:solidFill>
                  <a:schemeClr val="bg1"/>
                </a:solidFill>
              </a:rPr>
              <a:t> = (</a:t>
            </a:r>
            <a:r>
              <a:rPr lang="en-GB" sz="900" dirty="0" err="1">
                <a:solidFill>
                  <a:schemeClr val="bg1"/>
                </a:solidFill>
              </a:rPr>
              <a:t>yMax</a:t>
            </a:r>
            <a:r>
              <a:rPr lang="en-GB" sz="900" dirty="0">
                <a:solidFill>
                  <a:schemeClr val="bg1"/>
                </a:solidFill>
              </a:rPr>
              <a:t> + </a:t>
            </a:r>
            <a:r>
              <a:rPr lang="en-GB" sz="900" dirty="0" err="1">
                <a:solidFill>
                  <a:schemeClr val="bg1"/>
                </a:solidFill>
              </a:rPr>
              <a:t>yMin</a:t>
            </a:r>
            <a:r>
              <a:rPr lang="en-GB" sz="900" dirty="0">
                <a:solidFill>
                  <a:schemeClr val="bg1"/>
                </a:solidFill>
              </a:rPr>
              <a:t>) * 0.5f;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zOff</a:t>
            </a:r>
            <a:r>
              <a:rPr lang="en-GB" sz="900" dirty="0">
                <a:solidFill>
                  <a:schemeClr val="bg1"/>
                </a:solidFill>
              </a:rPr>
              <a:t> = (</a:t>
            </a:r>
            <a:r>
              <a:rPr lang="en-GB" sz="900" dirty="0" err="1">
                <a:solidFill>
                  <a:schemeClr val="bg1"/>
                </a:solidFill>
              </a:rPr>
              <a:t>zMax</a:t>
            </a:r>
            <a:r>
              <a:rPr lang="en-GB" sz="900" dirty="0">
                <a:solidFill>
                  <a:schemeClr val="bg1"/>
                </a:solidFill>
              </a:rPr>
              <a:t> + </a:t>
            </a:r>
            <a:r>
              <a:rPr lang="en-GB" sz="900" dirty="0" err="1">
                <a:solidFill>
                  <a:schemeClr val="bg1"/>
                </a:solidFill>
              </a:rPr>
              <a:t>zMin</a:t>
            </a:r>
            <a:r>
              <a:rPr lang="en-GB" sz="900" dirty="0">
                <a:solidFill>
                  <a:schemeClr val="bg1"/>
                </a:solidFill>
              </a:rPr>
              <a:t>) * 0.5f;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--- Scales (soft-iron)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xScale</a:t>
            </a:r>
            <a:r>
              <a:rPr lang="en-GB" sz="900" dirty="0">
                <a:solidFill>
                  <a:schemeClr val="bg1"/>
                </a:solidFill>
              </a:rPr>
              <a:t> = (</a:t>
            </a:r>
            <a:r>
              <a:rPr lang="en-GB" sz="900" dirty="0" err="1">
                <a:solidFill>
                  <a:schemeClr val="bg1"/>
                </a:solidFill>
              </a:rPr>
              <a:t>xMax</a:t>
            </a:r>
            <a:r>
              <a:rPr lang="en-GB" sz="900" dirty="0">
                <a:solidFill>
                  <a:schemeClr val="bg1"/>
                </a:solidFill>
              </a:rPr>
              <a:t> - </a:t>
            </a:r>
            <a:r>
              <a:rPr lang="en-GB" sz="900" dirty="0" err="1">
                <a:solidFill>
                  <a:schemeClr val="bg1"/>
                </a:solidFill>
              </a:rPr>
              <a:t>xMin</a:t>
            </a:r>
            <a:r>
              <a:rPr lang="en-GB" sz="900" dirty="0">
                <a:solidFill>
                  <a:schemeClr val="bg1"/>
                </a:solidFill>
              </a:rPr>
              <a:t>) * 0.5f;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yScale</a:t>
            </a:r>
            <a:r>
              <a:rPr lang="en-GB" sz="900" dirty="0">
                <a:solidFill>
                  <a:schemeClr val="bg1"/>
                </a:solidFill>
              </a:rPr>
              <a:t> = (</a:t>
            </a:r>
            <a:r>
              <a:rPr lang="en-GB" sz="900" dirty="0" err="1">
                <a:solidFill>
                  <a:schemeClr val="bg1"/>
                </a:solidFill>
              </a:rPr>
              <a:t>yMax</a:t>
            </a:r>
            <a:r>
              <a:rPr lang="en-GB" sz="900" dirty="0">
                <a:solidFill>
                  <a:schemeClr val="bg1"/>
                </a:solidFill>
              </a:rPr>
              <a:t> - </a:t>
            </a:r>
            <a:r>
              <a:rPr lang="en-GB" sz="900" dirty="0" err="1">
                <a:solidFill>
                  <a:schemeClr val="bg1"/>
                </a:solidFill>
              </a:rPr>
              <a:t>yMin</a:t>
            </a:r>
            <a:r>
              <a:rPr lang="en-GB" sz="900" dirty="0">
                <a:solidFill>
                  <a:schemeClr val="bg1"/>
                </a:solidFill>
              </a:rPr>
              <a:t>) * 0.5f;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zScale</a:t>
            </a:r>
            <a:r>
              <a:rPr lang="en-GB" sz="900" dirty="0">
                <a:solidFill>
                  <a:schemeClr val="bg1"/>
                </a:solidFill>
              </a:rPr>
              <a:t> = (</a:t>
            </a:r>
            <a:r>
              <a:rPr lang="en-GB" sz="900" dirty="0" err="1">
                <a:solidFill>
                  <a:schemeClr val="bg1"/>
                </a:solidFill>
              </a:rPr>
              <a:t>zMax</a:t>
            </a:r>
            <a:r>
              <a:rPr lang="en-GB" sz="900" dirty="0">
                <a:solidFill>
                  <a:schemeClr val="bg1"/>
                </a:solidFill>
              </a:rPr>
              <a:t> - </a:t>
            </a:r>
            <a:r>
              <a:rPr lang="en-GB" sz="900" dirty="0" err="1">
                <a:solidFill>
                  <a:schemeClr val="bg1"/>
                </a:solidFill>
              </a:rPr>
              <a:t>zMin</a:t>
            </a:r>
            <a:r>
              <a:rPr lang="en-GB" sz="900" dirty="0">
                <a:solidFill>
                  <a:schemeClr val="bg1"/>
                </a:solidFill>
              </a:rPr>
              <a:t>) * 0.5f;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Use averaged scale to keep math light on Uno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avgScale</a:t>
            </a:r>
            <a:r>
              <a:rPr lang="en-GB" sz="900" dirty="0">
                <a:solidFill>
                  <a:schemeClr val="bg1"/>
                </a:solidFill>
              </a:rPr>
              <a:t> = (</a:t>
            </a:r>
            <a:r>
              <a:rPr lang="en-GB" sz="900" dirty="0" err="1">
                <a:solidFill>
                  <a:schemeClr val="bg1"/>
                </a:solidFill>
              </a:rPr>
              <a:t>xScale</a:t>
            </a:r>
            <a:r>
              <a:rPr lang="en-GB" sz="900" dirty="0">
                <a:solidFill>
                  <a:schemeClr val="bg1"/>
                </a:solidFill>
              </a:rPr>
              <a:t> + </a:t>
            </a:r>
            <a:r>
              <a:rPr lang="en-GB" sz="900" dirty="0" err="1">
                <a:solidFill>
                  <a:schemeClr val="bg1"/>
                </a:solidFill>
              </a:rPr>
              <a:t>yScale</a:t>
            </a:r>
            <a:r>
              <a:rPr lang="en-GB" sz="900" dirty="0">
                <a:solidFill>
                  <a:schemeClr val="bg1"/>
                </a:solidFill>
              </a:rPr>
              <a:t> + </a:t>
            </a:r>
            <a:r>
              <a:rPr lang="en-GB" sz="900" dirty="0" err="1">
                <a:solidFill>
                  <a:schemeClr val="bg1"/>
                </a:solidFill>
              </a:rPr>
              <a:t>zScale</a:t>
            </a:r>
            <a:r>
              <a:rPr lang="en-GB" sz="900" dirty="0">
                <a:solidFill>
                  <a:schemeClr val="bg1"/>
                </a:solidFill>
              </a:rPr>
              <a:t>) / 3.0f;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if (</a:t>
            </a:r>
            <a:r>
              <a:rPr lang="en-GB" sz="900" dirty="0" err="1">
                <a:solidFill>
                  <a:schemeClr val="bg1"/>
                </a:solidFill>
              </a:rPr>
              <a:t>avgScale</a:t>
            </a:r>
            <a:r>
              <a:rPr lang="en-GB" sz="900" dirty="0">
                <a:solidFill>
                  <a:schemeClr val="bg1"/>
                </a:solidFill>
              </a:rPr>
              <a:t> &lt; 1.0f) </a:t>
            </a:r>
            <a:r>
              <a:rPr lang="en-GB" sz="900" dirty="0" err="1">
                <a:solidFill>
                  <a:schemeClr val="bg1"/>
                </a:solidFill>
              </a:rPr>
              <a:t>avgScale</a:t>
            </a:r>
            <a:r>
              <a:rPr lang="en-GB" sz="900" dirty="0">
                <a:solidFill>
                  <a:schemeClr val="bg1"/>
                </a:solidFill>
              </a:rPr>
              <a:t> = 1.0f;  // safety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--- Calibrated &amp; normalized readings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xCal</a:t>
            </a:r>
            <a:r>
              <a:rPr lang="en-GB" sz="900" dirty="0">
                <a:solidFill>
                  <a:schemeClr val="bg1"/>
                </a:solidFill>
              </a:rPr>
              <a:t> = (x - </a:t>
            </a:r>
            <a:r>
              <a:rPr lang="en-GB" sz="900" dirty="0" err="1">
                <a:solidFill>
                  <a:schemeClr val="bg1"/>
                </a:solidFill>
              </a:rPr>
              <a:t>xOff</a:t>
            </a:r>
            <a:r>
              <a:rPr lang="en-GB" sz="900" dirty="0">
                <a:solidFill>
                  <a:schemeClr val="bg1"/>
                </a:solidFill>
              </a:rPr>
              <a:t>) / </a:t>
            </a:r>
            <a:r>
              <a:rPr lang="en-GB" sz="900" dirty="0" err="1">
                <a:solidFill>
                  <a:schemeClr val="bg1"/>
                </a:solidFill>
              </a:rPr>
              <a:t>avgScale</a:t>
            </a:r>
            <a:r>
              <a:rPr lang="en-GB" sz="900" dirty="0">
                <a:solidFill>
                  <a:schemeClr val="bg1"/>
                </a:solidFill>
              </a:rPr>
              <a:t>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</a:t>
            </a:r>
            <a:r>
              <a:rPr lang="en-GB" sz="900" dirty="0" err="1">
                <a:solidFill>
                  <a:schemeClr val="bg1"/>
                </a:solidFill>
              </a:rPr>
              <a:t>yCal</a:t>
            </a:r>
            <a:r>
              <a:rPr lang="en-GB" sz="900" dirty="0">
                <a:solidFill>
                  <a:schemeClr val="bg1"/>
                </a:solidFill>
              </a:rPr>
              <a:t> = (y - </a:t>
            </a:r>
            <a:r>
              <a:rPr lang="en-GB" sz="900" dirty="0" err="1">
                <a:solidFill>
                  <a:schemeClr val="bg1"/>
                </a:solidFill>
              </a:rPr>
              <a:t>yOff</a:t>
            </a:r>
            <a:r>
              <a:rPr lang="en-GB" sz="900" dirty="0">
                <a:solidFill>
                  <a:schemeClr val="bg1"/>
                </a:solidFill>
              </a:rPr>
              <a:t>) / </a:t>
            </a:r>
            <a:r>
              <a:rPr lang="en-GB" sz="900" dirty="0" err="1">
                <a:solidFill>
                  <a:schemeClr val="bg1"/>
                </a:solidFill>
              </a:rPr>
              <a:t>avgScale</a:t>
            </a:r>
            <a:r>
              <a:rPr lang="en-GB" sz="900" dirty="0">
                <a:solidFill>
                  <a:schemeClr val="bg1"/>
                </a:solidFill>
              </a:rPr>
              <a:t>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// </a:t>
            </a:r>
            <a:r>
              <a:rPr lang="en-GB" sz="900" dirty="0" err="1">
                <a:solidFill>
                  <a:schemeClr val="bg1"/>
                </a:solidFill>
              </a:rPr>
              <a:t>zCal</a:t>
            </a:r>
            <a:r>
              <a:rPr lang="en-GB" sz="900" dirty="0">
                <a:solidFill>
                  <a:schemeClr val="bg1"/>
                </a:solidFill>
              </a:rPr>
              <a:t> not needed for 2D heading on a level surface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--- Bearing from calibrated X/Y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  float bearing = atan2f(</a:t>
            </a:r>
            <a:r>
              <a:rPr lang="en-GB" sz="900" dirty="0" err="1">
                <a:solidFill>
                  <a:schemeClr val="bg1"/>
                </a:solidFill>
              </a:rPr>
              <a:t>yCal</a:t>
            </a:r>
            <a:r>
              <a:rPr lang="en-GB" sz="900" dirty="0">
                <a:solidFill>
                  <a:schemeClr val="bg1"/>
                </a:solidFill>
              </a:rPr>
              <a:t>, </a:t>
            </a:r>
            <a:r>
              <a:rPr lang="en-GB" sz="900" dirty="0" err="1">
                <a:solidFill>
                  <a:schemeClr val="bg1"/>
                </a:solidFill>
              </a:rPr>
              <a:t>xCal</a:t>
            </a:r>
            <a:r>
              <a:rPr lang="en-GB" sz="900" dirty="0">
                <a:solidFill>
                  <a:schemeClr val="bg1"/>
                </a:solidFill>
              </a:rPr>
              <a:t>) * 180.0f / PI;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if (bearing &lt; 0) bearing += 360.0f;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--- OLED output (compact) ---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display.clearDisplay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display.setCursor</a:t>
            </a:r>
            <a:r>
              <a:rPr lang="en-GB" sz="900" dirty="0">
                <a:solidFill>
                  <a:schemeClr val="bg1"/>
                </a:solidFill>
              </a:rPr>
              <a:t>(0,0);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(F("Bear: "));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(bearing, 1);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(F(" </a:t>
            </a:r>
            <a:r>
              <a:rPr lang="en-GB" sz="900" dirty="0" err="1">
                <a:solidFill>
                  <a:schemeClr val="bg1"/>
                </a:solidFill>
              </a:rPr>
              <a:t>deg</a:t>
            </a:r>
            <a:r>
              <a:rPr lang="en-GB" sz="900" dirty="0">
                <a:solidFill>
                  <a:schemeClr val="bg1"/>
                </a:solidFill>
              </a:rPr>
              <a:t>"));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// Show calibrated values briefly (helps verify offsets)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</a:t>
            </a:r>
            <a:r>
              <a:rPr lang="en-GB" sz="900" dirty="0" err="1">
                <a:solidFill>
                  <a:schemeClr val="bg1"/>
                </a:solidFill>
              </a:rPr>
              <a:t>Xc</a:t>
            </a:r>
            <a:r>
              <a:rPr lang="en-GB" sz="900" dirty="0">
                <a:solidFill>
                  <a:schemeClr val="bg1"/>
                </a:solidFill>
              </a:rPr>
              <a:t>:"));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xCal</a:t>
            </a:r>
            <a:r>
              <a:rPr lang="en-GB" sz="900" dirty="0">
                <a:solidFill>
                  <a:schemeClr val="bg1"/>
                </a:solidFill>
              </a:rPr>
              <a:t>, 2);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 </a:t>
            </a:r>
            <a:r>
              <a:rPr lang="en-GB" sz="900" dirty="0" err="1">
                <a:solidFill>
                  <a:schemeClr val="bg1"/>
                </a:solidFill>
              </a:rPr>
              <a:t>Yc</a:t>
            </a:r>
            <a:r>
              <a:rPr lang="en-GB" sz="900" dirty="0">
                <a:solidFill>
                  <a:schemeClr val="bg1"/>
                </a:solidFill>
              </a:rPr>
              <a:t>:"));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yCal</a:t>
            </a:r>
            <a:r>
              <a:rPr lang="en-GB" sz="900" dirty="0">
                <a:solidFill>
                  <a:schemeClr val="bg1"/>
                </a:solidFill>
              </a:rPr>
              <a:t>, 2);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</a:t>
            </a:r>
            <a:r>
              <a:rPr lang="en-GB" sz="900" dirty="0" err="1">
                <a:solidFill>
                  <a:schemeClr val="bg1"/>
                </a:solidFill>
              </a:rPr>
              <a:t>Xmn</a:t>
            </a:r>
            <a:r>
              <a:rPr lang="en-GB" sz="900" dirty="0">
                <a:solidFill>
                  <a:schemeClr val="bg1"/>
                </a:solidFill>
              </a:rPr>
              <a:t>:"));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xMin</a:t>
            </a:r>
            <a:r>
              <a:rPr lang="en-GB" sz="900" dirty="0">
                <a:solidFill>
                  <a:schemeClr val="bg1"/>
                </a:solidFill>
              </a:rPr>
              <a:t>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 </a:t>
            </a:r>
            <a:r>
              <a:rPr lang="en-GB" sz="900" dirty="0" err="1">
                <a:solidFill>
                  <a:schemeClr val="bg1"/>
                </a:solidFill>
              </a:rPr>
              <a:t>Xmx</a:t>
            </a:r>
            <a:r>
              <a:rPr lang="en-GB" sz="900" dirty="0">
                <a:solidFill>
                  <a:schemeClr val="bg1"/>
                </a:solidFill>
              </a:rPr>
              <a:t>:"));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xMax</a:t>
            </a:r>
            <a:r>
              <a:rPr lang="en-GB" sz="900" dirty="0">
                <a:solidFill>
                  <a:schemeClr val="bg1"/>
                </a:solidFill>
              </a:rPr>
              <a:t>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</a:t>
            </a:r>
            <a:r>
              <a:rPr lang="en-GB" sz="900" dirty="0" err="1">
                <a:solidFill>
                  <a:schemeClr val="bg1"/>
                </a:solidFill>
              </a:rPr>
              <a:t>Ymn</a:t>
            </a:r>
            <a:r>
              <a:rPr lang="en-GB" sz="900" dirty="0">
                <a:solidFill>
                  <a:schemeClr val="bg1"/>
                </a:solidFill>
              </a:rPr>
              <a:t>:"));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yMin</a:t>
            </a:r>
            <a:r>
              <a:rPr lang="en-GB" sz="900" dirty="0">
                <a:solidFill>
                  <a:schemeClr val="bg1"/>
                </a:solidFill>
              </a:rPr>
              <a:t>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 </a:t>
            </a:r>
            <a:r>
              <a:rPr lang="en-GB" sz="900" dirty="0" err="1">
                <a:solidFill>
                  <a:schemeClr val="bg1"/>
                </a:solidFill>
              </a:rPr>
              <a:t>Ymx</a:t>
            </a:r>
            <a:r>
              <a:rPr lang="en-GB" sz="900" dirty="0">
                <a:solidFill>
                  <a:schemeClr val="bg1"/>
                </a:solidFill>
              </a:rPr>
              <a:t>:"));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yMax</a:t>
            </a:r>
            <a:r>
              <a:rPr lang="en-GB" sz="900" dirty="0">
                <a:solidFill>
                  <a:schemeClr val="bg1"/>
                </a:solidFill>
              </a:rPr>
              <a:t>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</a:t>
            </a:r>
            <a:r>
              <a:rPr lang="en-GB" sz="900" dirty="0" err="1">
                <a:solidFill>
                  <a:schemeClr val="bg1"/>
                </a:solidFill>
              </a:rPr>
              <a:t>Zmn</a:t>
            </a:r>
            <a:r>
              <a:rPr lang="en-GB" sz="900" dirty="0">
                <a:solidFill>
                  <a:schemeClr val="bg1"/>
                </a:solidFill>
              </a:rPr>
              <a:t>:"));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zMin</a:t>
            </a:r>
            <a:r>
              <a:rPr lang="en-GB" sz="900" dirty="0">
                <a:solidFill>
                  <a:schemeClr val="bg1"/>
                </a:solidFill>
              </a:rPr>
              <a:t>);</a:t>
            </a: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display.print</a:t>
            </a:r>
            <a:r>
              <a:rPr lang="en-GB" sz="900" dirty="0">
                <a:solidFill>
                  <a:schemeClr val="bg1"/>
                </a:solidFill>
              </a:rPr>
              <a:t>(F(" </a:t>
            </a:r>
            <a:r>
              <a:rPr lang="en-GB" sz="900" dirty="0" err="1">
                <a:solidFill>
                  <a:schemeClr val="bg1"/>
                </a:solidFill>
              </a:rPr>
              <a:t>Zmx</a:t>
            </a:r>
            <a:r>
              <a:rPr lang="en-GB" sz="900" dirty="0">
                <a:solidFill>
                  <a:schemeClr val="bg1"/>
                </a:solidFill>
              </a:rPr>
              <a:t>:")); </a:t>
            </a:r>
            <a:r>
              <a:rPr lang="en-GB" sz="900" dirty="0" err="1">
                <a:solidFill>
                  <a:schemeClr val="bg1"/>
                </a:solidFill>
              </a:rPr>
              <a:t>display.println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  <a:r>
              <a:rPr lang="en-GB" sz="900" dirty="0" err="1">
                <a:solidFill>
                  <a:schemeClr val="bg1"/>
                </a:solidFill>
              </a:rPr>
              <a:t>zMax</a:t>
            </a:r>
            <a:r>
              <a:rPr lang="en-GB" sz="900" dirty="0">
                <a:solidFill>
                  <a:schemeClr val="bg1"/>
                </a:solidFill>
              </a:rPr>
              <a:t>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</a:t>
            </a:r>
            <a:r>
              <a:rPr lang="en-GB" sz="900" dirty="0" err="1">
                <a:solidFill>
                  <a:schemeClr val="bg1"/>
                </a:solidFill>
              </a:rPr>
              <a:t>display.display</a:t>
            </a:r>
            <a:r>
              <a:rPr lang="en-GB" sz="900" dirty="0">
                <a:solidFill>
                  <a:schemeClr val="bg1"/>
                </a:solidFill>
              </a:rPr>
              <a:t>();</a:t>
            </a:r>
          </a:p>
          <a:p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  delay(250);</a:t>
            </a:r>
          </a:p>
          <a:p>
            <a:r>
              <a:rPr lang="en-GB" sz="9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C3C00-F76E-EDA8-B31C-DF8309E95F7D}"/>
              </a:ext>
            </a:extLst>
          </p:cNvPr>
          <p:cNvSpPr txBox="1"/>
          <p:nvPr/>
        </p:nvSpPr>
        <p:spPr>
          <a:xfrm>
            <a:off x="362627" y="1140896"/>
            <a:ext cx="684840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A Sample Program to Get the post of the robot with respect to North (Bearing Angle)</a:t>
            </a:r>
          </a:p>
          <a:p>
            <a:r>
              <a:rPr lang="en-GB" dirty="0">
                <a:solidFill>
                  <a:schemeClr val="accent5"/>
                </a:solidFill>
              </a:rPr>
              <a:t>Code Link: </a:t>
            </a:r>
            <a:r>
              <a:rPr lang="en-GB" sz="1400" dirty="0">
                <a:solidFill>
                  <a:schemeClr val="accent1"/>
                </a:solidFill>
              </a:rPr>
              <a:t>https://github.com/info-zas/zas-robotics-car-3-encoders-imu-gps/blob/main/04_BasicFunctionalTests/00_UnitTests/03_DigitalCompass_QMC_BearingAngle.ino</a:t>
            </a:r>
            <a:endParaRPr lang="en-GB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79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2353</Words>
  <Application>Microsoft Office PowerPoint</Application>
  <PresentationFormat>Widescreen</PresentationFormat>
  <Paragraphs>333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1_Office Theme</vt:lpstr>
      <vt:lpstr>Robot Car-3 AI &amp; Robotics  Centre of Excellence</vt:lpstr>
      <vt:lpstr>Navigational Robot Car-3</vt:lpstr>
      <vt:lpstr>Navigational Robot Car-3</vt:lpstr>
      <vt:lpstr>Navigational Robot Car-3</vt:lpstr>
      <vt:lpstr>Health &amp; Safety</vt:lpstr>
      <vt:lpstr>Health &amp; Safety</vt:lpstr>
      <vt:lpstr>Motor Driver</vt:lpstr>
      <vt:lpstr>Navigational Robot Car-3</vt:lpstr>
      <vt:lpstr>Navigational Robot Car-3</vt:lpstr>
      <vt:lpstr>Navigational Robot Car-3</vt:lpstr>
      <vt:lpstr>Test Basic Movement</vt:lpstr>
      <vt:lpstr>Test Basic Movements</vt:lpstr>
      <vt:lpstr>Basic Encoder Motors Functionality</vt:lpstr>
      <vt:lpstr>Basic Encoder Motors Functionality</vt:lpstr>
      <vt:lpstr>Simple PID Controller</vt:lpstr>
      <vt:lpstr>Simple PID Controller for Straight Line Movement</vt:lpstr>
      <vt:lpstr>Test GPS</vt:lpstr>
      <vt:lpstr>GPS Module</vt:lpstr>
      <vt:lpstr>Digital Compass</vt:lpstr>
      <vt:lpstr>Digital Compass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22</cp:revision>
  <dcterms:created xsi:type="dcterms:W3CDTF">2025-11-18T22:03:36Z</dcterms:created>
  <dcterms:modified xsi:type="dcterms:W3CDTF">2025-11-21T16:27:30Z</dcterms:modified>
</cp:coreProperties>
</file>